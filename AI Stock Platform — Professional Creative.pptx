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 id="2147483654"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5143500" cy="9144000"/>
  <p:embeddedFontLst>
    <p:embeddedFont>
      <p:font typeface="Big Shoulders ExtraBold" panose="020B0604020202020204" charset="0"/>
      <p:bold r:id="rId36"/>
    </p:embeddedFont>
    <p:embeddedFont>
      <p:font typeface="Hanken Grotesk" panose="020B0604020202020204" charset="0"/>
      <p:bold r:id="rId37"/>
      <p:boldItalic r:id="rId38"/>
    </p:embeddedFont>
    <p:embeddedFont>
      <p:font typeface="Red Hat Mono" panose="020B0604020202020204" charset="0"/>
      <p:regular r:id="rId39"/>
      <p:bold r:id="rId40"/>
      <p:italic r:id="rId41"/>
      <p:boldItalic r:id="rId42"/>
    </p:embeddedFont>
    <p:embeddedFont>
      <p:font typeface="Red Hat Mono Medium"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8C08A0-D729-4379-9EE9-536BB95A4829}">
  <a:tblStyle styleId="{3B8C08A0-D729-4379-9EE9-536BB95A48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26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Malhotra" userId="4fac305dd4f00631" providerId="LiveId" clId="{5A567335-E2FF-4CBE-B677-D9505E1C739E}"/>
    <pc:docChg chg="modSld">
      <pc:chgData name="Abhishek Malhotra" userId="4fac305dd4f00631" providerId="LiveId" clId="{5A567335-E2FF-4CBE-B677-D9505E1C739E}" dt="2026-10-16T07:07:49.485" v="1" actId="1076"/>
      <pc:docMkLst>
        <pc:docMk/>
      </pc:docMkLst>
      <pc:sldChg chg="modSp mod">
        <pc:chgData name="Abhishek Malhotra" userId="4fac305dd4f00631" providerId="LiveId" clId="{5A567335-E2FF-4CBE-B677-D9505E1C739E}" dt="2026-10-16T07:07:49.485" v="1" actId="1076"/>
        <pc:sldMkLst>
          <pc:docMk/>
          <pc:sldMk cId="0" sldId="272"/>
        </pc:sldMkLst>
        <pc:spChg chg="mod">
          <ac:chgData name="Abhishek Malhotra" userId="4fac305dd4f00631" providerId="LiveId" clId="{5A567335-E2FF-4CBE-B677-D9505E1C739E}" dt="2026-10-16T07:07:49.485" v="1" actId="1076"/>
          <ac:spMkLst>
            <pc:docMk/>
            <pc:sldMk cId="0" sldId="272"/>
            <ac:spMk id="320" creationId="{00000000-0000-0000-0000-000000000000}"/>
          </ac:spMkLst>
        </pc:spChg>
        <pc:spChg chg="mod">
          <ac:chgData name="Abhishek Malhotra" userId="4fac305dd4f00631" providerId="LiveId" clId="{5A567335-E2FF-4CBE-B677-D9505E1C739E}" dt="2026-10-16T07:07:49.485" v="1" actId="1076"/>
          <ac:spMkLst>
            <pc:docMk/>
            <pc:sldMk cId="0" sldId="272"/>
            <ac:spMk id="321" creationId="{00000000-0000-0000-0000-000000000000}"/>
          </ac:spMkLst>
        </pc:spChg>
        <pc:spChg chg="mod">
          <ac:chgData name="Abhishek Malhotra" userId="4fac305dd4f00631" providerId="LiveId" clId="{5A567335-E2FF-4CBE-B677-D9505E1C739E}" dt="2026-10-16T07:07:49.485" v="1" actId="1076"/>
          <ac:spMkLst>
            <pc:docMk/>
            <pc:sldMk cId="0" sldId="272"/>
            <ac:spMk id="322" creationId="{00000000-0000-0000-0000-000000000000}"/>
          </ac:spMkLst>
        </pc:spChg>
        <pc:spChg chg="mod">
          <ac:chgData name="Abhishek Malhotra" userId="4fac305dd4f00631" providerId="LiveId" clId="{5A567335-E2FF-4CBE-B677-D9505E1C739E}" dt="2026-10-16T07:07:49.485" v="1" actId="1076"/>
          <ac:spMkLst>
            <pc:docMk/>
            <pc:sldMk cId="0" sldId="272"/>
            <ac:spMk id="323" creationId="{00000000-0000-0000-0000-000000000000}"/>
          </ac:spMkLst>
        </pc:spChg>
        <pc:spChg chg="mod">
          <ac:chgData name="Abhishek Malhotra" userId="4fac305dd4f00631" providerId="LiveId" clId="{5A567335-E2FF-4CBE-B677-D9505E1C739E}" dt="2026-10-16T07:07:49.485" v="1" actId="1076"/>
          <ac:spMkLst>
            <pc:docMk/>
            <pc:sldMk cId="0" sldId="272"/>
            <ac:spMk id="324" creationId="{00000000-0000-0000-0000-000000000000}"/>
          </ac:spMkLst>
        </pc:spChg>
        <pc:picChg chg="mod">
          <ac:chgData name="Abhishek Malhotra" userId="4fac305dd4f00631" providerId="LiveId" clId="{5A567335-E2FF-4CBE-B677-D9505E1C739E}" dt="2026-10-16T07:07:34.963" v="0" actId="1076"/>
          <ac:picMkLst>
            <pc:docMk/>
            <pc:sldMk cId="0" sldId="272"/>
            <ac:picMk id="31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 name="Google Shape;3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 name="Google Shape;3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h3faedd38fafbb6ed_2_4: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h3faedd38fafbb6ed_2_4: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232" name="Google Shape;232;h3faedd38fafbb6ed_2_4: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11</a:t>
            </a:fld>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h3faedd38fafbb6ed_2_18: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h3faedd38fafbb6ed_2_18: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246" name="Google Shape;246;h3faedd38fafbb6ed_2_18: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12</a:t>
            </a:fld>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h3faedd38fafbb6ed_2_30: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h3faedd38fafbb6ed_2_30: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259" name="Google Shape;259;h3faedd38fafbb6ed_2_30: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13</a:t>
            </a:fld>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h3faedd38fafbb6ed_2_47: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h3faedd38fafbb6ed_2_47: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277" name="Google Shape;277;h3faedd38fafbb6ed_2_47: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14</a:t>
            </a:fld>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h3faedd38fafbb6ed_2_55: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h3faedd38fafbb6ed_2_55: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286" name="Google Shape;286;h3faedd38fafbb6ed_2_55: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15</a:t>
            </a:fld>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h3faedd38fafbb6ed_2_69: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h3faedd38fafbb6ed_2_69: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301" name="Google Shape;301;h3faedd38fafbb6ed_2_69: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16</a:t>
            </a:fld>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h3faedd38fafbb6ed_2_82: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h3faedd38fafbb6ed_2_82: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315" name="Google Shape;315;h3faedd38fafbb6ed_2_82: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17</a:t>
            </a:fld>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h3faedd38fafbb6ed_2_96: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h3faedd38fafbb6ed_2_96: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330" name="Google Shape;330;h3faedd38fafbb6ed_2_96: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18</a:t>
            </a:fld>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h3faedd38fafbb6ed_2_122: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h3faedd38fafbb6ed_2_122: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357" name="Google Shape;357;h3faedd38fafbb6ed_2_122: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19</a:t>
            </a:fld>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h3faedd38fafbb6ed_2_135:notes"/>
          <p:cNvSpPr>
            <a:spLocks noGrp="1" noRot="1" noChangeAspect="1"/>
          </p:cNvSpPr>
          <p:nvPr>
            <p:ph type="sldImg" idx="2"/>
          </p:nvPr>
        </p:nvSpPr>
        <p:spPr>
          <a:xfrm>
            <a:off x="51435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h3faedd38fafbb6ed_2_135: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endParaRPr sz="1100"/>
          </a:p>
        </p:txBody>
      </p:sp>
      <p:sp>
        <p:nvSpPr>
          <p:cNvPr id="371" name="Google Shape;371;h3faedd38fafbb6ed_2_135: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20</a:t>
            </a:fld>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h3faedd38fafbb6ed_5_0: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h3faedd38fafbb6ed_5_0: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This closing section brings the completed research and implementation arc together: data preparation, feature engineering, model comparison, explainability, dashboard development and backtesting. The platform combines predictive models with an accessible decision-support workflow.</a:t>
            </a:r>
            <a:endParaRPr sz="1100"/>
          </a:p>
        </p:txBody>
      </p:sp>
      <p:sp>
        <p:nvSpPr>
          <p:cNvPr id="399" name="Google Shape;399;h3faedd38fafbb6ed_5_0: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21</a:t>
            </a:fld>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h3faedd38fafbb6ed_5_24: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h3faedd38fafbb6ed_5_24: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 conclusion is deliberately two-part. Model performance matters, but it is not the same as practical usability. The project direction is a deployable, explainable dashboard, without overstating investment certainty. Phases 2 to 8 are complete, while Phase 9, Streamlit Cloud deployment, remains in progress.</a:t>
            </a:r>
            <a:endParaRPr sz="1100"/>
          </a:p>
        </p:txBody>
      </p:sp>
      <p:sp>
        <p:nvSpPr>
          <p:cNvPr id="423" name="Google Shape;423;h3faedd38fafbb6ed_5_24: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22</a:t>
            </a:fld>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h3faedd38fafbb6ed_5_38: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h3faedd38fafbb6ed_5_38: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These limitations do not invalidate the work. They define how the work should be read: as an explainable research and decision-support platform, evaluated on a limited historical, technical-analysis dataset, not as a guarantee of live investment performance.</a:t>
            </a:r>
            <a:endParaRPr sz="1100"/>
          </a:p>
        </p:txBody>
      </p:sp>
      <p:sp>
        <p:nvSpPr>
          <p:cNvPr id="438" name="Google Shape;438;h3faedd38fafbb6ed_5_38: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23</a:t>
            </a:fld>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h3faedd38fafbb6ed_5_77: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h3faedd38fafbb6ed_5_77: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 next cycle is practical rather than speculative: finish cloud deployment, enrich the signal set with news sentiment and fundamentals, expand stock coverage, and continue improving both the modelling and the dashboard. Deploying LSTM inference is part of that progression.</a:t>
            </a:r>
            <a:endParaRPr sz="1100"/>
          </a:p>
        </p:txBody>
      </p:sp>
      <p:sp>
        <p:nvSpPr>
          <p:cNvPr id="478" name="Google Shape;478;h3faedd38fafbb6ed_5_77: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24</a:t>
            </a:fld>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h3faedd38fafbb6ed_5_105: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h3faedd38fafbb6ed_5_105: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Close on the actual output area without inventing screenshots that were not present in the source. The core takeaway is an explainable AI-based support platform for Indian retail-market analysis: predictive models are connected to explanations, a dashboard workflow and backtesting, while the stated limitations remain visible.</a:t>
            </a:r>
            <a:endParaRPr sz="1100"/>
          </a:p>
        </p:txBody>
      </p:sp>
      <p:sp>
        <p:nvSpPr>
          <p:cNvPr id="507" name="Google Shape;507;h3faedd38fafbb6ed_5_105: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25</a:t>
            </a:fld>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h3faedd38fafbb6ed_11_6: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h3faedd38fafbb6ed_11_6: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These are the first transformations in the feature-engineering pipeline. Moving averages describe trend, Bollinger Bands describe the changing volatility regime, and daily return converts price history into a comparable change series.</a:t>
            </a:r>
            <a:endParaRPr sz="1100"/>
          </a:p>
        </p:txBody>
      </p:sp>
      <p:sp>
        <p:nvSpPr>
          <p:cNvPr id="525" name="Google Shape;525;h3faedd38fafbb6ed_11_6: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26</a:t>
            </a:fld>
            <a:endParaRPr sz="11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h3faedd38fafbb6ed_11_32: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h3faedd38fafbb6ed_11_32: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RSI and MACD describe momentum from different constructions. Volatility measures the dispersion of recent returns. Alongside volume and return features, these inputs give the comparison models several views of the same price history.</a:t>
            </a:r>
            <a:endParaRPr sz="1100"/>
          </a:p>
        </p:txBody>
      </p:sp>
      <p:sp>
        <p:nvSpPr>
          <p:cNvPr id="551" name="Google Shape;551;h3faedd38fafbb6ed_11_32: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27</a:t>
            </a:fld>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h3faedd38fafbb6ed_11_68: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h3faedd38fafbb6ed_11_68: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These challenges were coupled. Data quality affected indicators, leakage controls affected evaluation, class balance affected interpretation, and model-specific behavior affected the dashboard. The practical responses kept the pipeline usable without claiming more certainty than the results support.</a:t>
            </a:r>
            <a:endParaRPr sz="1100"/>
          </a:p>
        </p:txBody>
      </p:sp>
      <p:sp>
        <p:nvSpPr>
          <p:cNvPr id="588" name="Google Shape;588;h3faedd38fafbb6ed_11_68: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28</a:t>
            </a:fld>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h3faedd38fafbb6ed_11_76: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h3faedd38fafbb6ed_11_76: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The remaining challenges were the model-specific behavior and the dashboard delivery layer. Both were handled with explicit controls so the outputs stayed interpretable.</a:t>
            </a:r>
            <a:endParaRPr sz="1100"/>
          </a:p>
        </p:txBody>
      </p:sp>
      <p:sp>
        <p:nvSpPr>
          <p:cNvPr id="597" name="Google Shape;597;h3faedd38fafbb6ed_11_76: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29</a:t>
            </a:fld>
            <a:endParaRPr sz="11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h3faedd38fafbb6ed_11_84: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h3faedd38fafbb6ed_11_84: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Next steps focus on stronger models, a live data pipeline, rigorous evaluation and a more complete dashboard for users.</a:t>
            </a:r>
            <a:endParaRPr sz="1100"/>
          </a:p>
        </p:txBody>
      </p:sp>
      <p:sp>
        <p:nvSpPr>
          <p:cNvPr id="606" name="Google Shape;606;h3faedd38fafbb6ed_11_84: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30</a:t>
            </a:fld>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h3faedd38fafbb6ed_11_110:notes"/>
          <p:cNvSpPr>
            <a:spLocks noGrp="1" noRot="1" noChangeAspect="1"/>
          </p:cNvSpPr>
          <p:nvPr>
            <p:ph type="sldImg" idx="2"/>
          </p:nvPr>
        </p:nvSpPr>
        <p:spPr>
          <a:xfrm>
            <a:off x="514295" y="857273"/>
            <a:ext cx="4114910" cy="23146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h3faedd38fafbb6ed_11_110:notes"/>
          <p:cNvSpPr txBox="1">
            <a:spLocks noGrp="1"/>
          </p:cNvSpPr>
          <p:nvPr>
            <p:ph type="body" idx="1"/>
          </p:nvPr>
        </p:nvSpPr>
        <p:spPr>
          <a:xfrm>
            <a:off x="514350" y="3300500"/>
            <a:ext cx="4114800" cy="270040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100"/>
              <a:t>Thank the audience and open the floor for questions about the models, the data pipeline and the dashboard.</a:t>
            </a:r>
            <a:endParaRPr sz="1100"/>
          </a:p>
        </p:txBody>
      </p:sp>
      <p:sp>
        <p:nvSpPr>
          <p:cNvPr id="633" name="Google Shape;633;h3faedd38fafbb6ed_11_110:notes"/>
          <p:cNvSpPr txBox="1">
            <a:spLocks noGrp="1"/>
          </p:cNvSpPr>
          <p:nvPr>
            <p:ph type="sldNum" idx="12"/>
          </p:nvPr>
        </p:nvSpPr>
        <p:spPr>
          <a:xfrm>
            <a:off x="2913460" y="6514083"/>
            <a:ext cx="2228850" cy="344099"/>
          </a:xfrm>
          <a:prstGeom prst="rect">
            <a:avLst/>
          </a:prstGeom>
          <a:noFill/>
          <a:ln>
            <a:noFill/>
          </a:ln>
        </p:spPr>
        <p:txBody>
          <a:bodyPr spcFirstLastPara="1" wrap="square" lIns="68575" tIns="34275" rIns="68575" bIns="34275" anchor="b" anchorCtr="0">
            <a:noAutofit/>
          </a:bodyPr>
          <a:lstStyle/>
          <a:p>
            <a:pPr marL="0" lvl="0" indent="0" algn="r" rtl="0">
              <a:spcBef>
                <a:spcPts val="0"/>
              </a:spcBef>
              <a:spcAft>
                <a:spcPts val="0"/>
              </a:spcAft>
              <a:buNone/>
            </a:pPr>
            <a:fld id="{00000000-1234-1234-1234-123412341234}" type="slidenum">
              <a:rPr lang="en-US" sz="1100"/>
              <a:t>31</a:t>
            </a:fld>
            <a:endParaRPr sz="11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h458a5f22825e4bb3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h458a5f22825e4bb3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h458a5f22825e4bb3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FBFAF6"/>
        </a:solidFill>
        <a:effectLst/>
      </p:bgPr>
    </p:bg>
    <p:spTree>
      <p:nvGrpSpPr>
        <p:cNvPr id="1" name="Shape 10"/>
        <p:cNvGrpSpPr/>
        <p:nvPr/>
      </p:nvGrpSpPr>
      <p:grpSpPr>
        <a:xfrm>
          <a:off x="0" y="0"/>
          <a:ext cx="0" cy="0"/>
          <a:chOff x="0" y="0"/>
          <a:chExt cx="0" cy="0"/>
        </a:xfrm>
      </p:grpSpPr>
      <p:pic>
        <p:nvPicPr>
          <p:cNvPr id="11" name="Google Shape;11;p2" descr="preencoded.png">
            <a:hlinkClick r:id="rId2"/>
          </p:cNvPr>
          <p:cNvPicPr preferRelativeResize="0"/>
          <p:nvPr/>
        </p:nvPicPr>
        <p:blipFill rotWithShape="1">
          <a:blip r:embed="rId3">
            <a:alphaModFix/>
          </a:blip>
          <a:srcRect/>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FBFAF6"/>
        </a:solidFill>
        <a:effectLst/>
      </p:bgPr>
    </p:bg>
    <p:spTree>
      <p:nvGrpSpPr>
        <p:cNvPr id="1" name="Shape 14"/>
        <p:cNvGrpSpPr/>
        <p:nvPr/>
      </p:nvGrpSpPr>
      <p:grpSpPr>
        <a:xfrm>
          <a:off x="0" y="0"/>
          <a:ext cx="0" cy="0"/>
          <a:chOff x="0" y="0"/>
          <a:chExt cx="0" cy="0"/>
        </a:xfrm>
      </p:grpSpPr>
      <p:pic>
        <p:nvPicPr>
          <p:cNvPr id="15" name="Google Shape;15;p5" descr="preencoded.png">
            <a:hlinkClick r:id="rId2"/>
          </p:cNvPr>
          <p:cNvPicPr preferRelativeResize="0"/>
          <p:nvPr/>
        </p:nvPicPr>
        <p:blipFill rotWithShape="1">
          <a:blip r:embed="rId3">
            <a:alphaModFix/>
          </a:blip>
          <a:srcRect/>
          <a:stretch/>
        </p:blipFill>
        <p:spPr>
          <a:xfrm>
            <a:off x="8307878" y="4919243"/>
            <a:ext cx="803882" cy="19202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master 2">
  <p:cSld name="Slide master 2">
    <p:bg>
      <p:bgPr>
        <a:solidFill>
          <a:srgbClr val="FBFAF6"/>
        </a:solidFill>
        <a:effectLst/>
      </p:bgPr>
    </p:bg>
    <p:spTree>
      <p:nvGrpSpPr>
        <p:cNvPr id="1" name="Shape 17"/>
        <p:cNvGrpSpPr/>
        <p:nvPr/>
      </p:nvGrpSpPr>
      <p:grpSpPr>
        <a:xfrm>
          <a:off x="0" y="0"/>
          <a:ext cx="0" cy="0"/>
          <a:chOff x="0" y="0"/>
          <a:chExt cx="0" cy="0"/>
        </a:xfrm>
      </p:grpSpPr>
      <p:sp>
        <p:nvSpPr>
          <p:cNvPr id="18" name="Google Shape;18;p7"/>
          <p:cNvSpPr/>
          <p:nvPr/>
        </p:nvSpPr>
        <p:spPr>
          <a:xfrm>
            <a:off x="0" y="0"/>
            <a:ext cx="9144015" cy="51435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9" name="Google Shape;19;p7" descr="preencoded.png">
            <a:hlinkClick r:id="rId2"/>
          </p:cNvPr>
          <p:cNvPicPr preferRelativeResize="0"/>
          <p:nvPr/>
        </p:nvPicPr>
        <p:blipFill rotWithShape="1">
          <a:blip r:embed="rId3">
            <a:alphaModFix/>
          </a:blip>
          <a:srcRect/>
          <a:stretch/>
        </p:blipFill>
        <p:spPr>
          <a:xfrm>
            <a:off x="8307878" y="4919243"/>
            <a:ext cx="803882" cy="1920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8"/>
          <p:cNvSpPr/>
          <p:nvPr/>
        </p:nvSpPr>
        <p:spPr>
          <a:xfrm>
            <a:off x="0" y="0"/>
            <a:ext cx="5791200" cy="5143500"/>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8"/>
          <p:cNvSpPr/>
          <p:nvPr/>
        </p:nvSpPr>
        <p:spPr>
          <a:xfrm>
            <a:off x="495300" y="457200"/>
            <a:ext cx="52959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PROGRESS REPORT · ECSP6007</a:t>
            </a:r>
            <a:endParaRPr sz="950" b="0" i="0" u="none" strike="noStrike" cap="none">
              <a:solidFill>
                <a:schemeClr val="dk1"/>
              </a:solidFill>
              <a:latin typeface="Calibri"/>
              <a:ea typeface="Calibri"/>
              <a:cs typeface="Calibri"/>
              <a:sym typeface="Calibri"/>
            </a:endParaRPr>
          </a:p>
        </p:txBody>
      </p:sp>
      <p:sp>
        <p:nvSpPr>
          <p:cNvPr id="27" name="Google Shape;27;p8"/>
          <p:cNvSpPr/>
          <p:nvPr/>
        </p:nvSpPr>
        <p:spPr>
          <a:xfrm>
            <a:off x="495300" y="882063"/>
            <a:ext cx="4876800" cy="1787500"/>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STOCK MARKET</a:t>
            </a:r>
            <a:endParaRPr sz="5100" b="0" i="0" u="none" strike="noStrike" cap="none">
              <a:solidFill>
                <a:schemeClr val="dk1"/>
              </a:solidFill>
              <a:latin typeface="Calibri"/>
              <a:ea typeface="Calibri"/>
              <a:cs typeface="Calibri"/>
              <a:sym typeface="Calibri"/>
            </a:endParaRPr>
          </a:p>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ANALYSIS &amp;</a:t>
            </a:r>
            <a:endParaRPr sz="5100" b="0" i="0" u="none" strike="noStrike" cap="none">
              <a:solidFill>
                <a:schemeClr val="dk1"/>
              </a:solidFill>
              <a:latin typeface="Calibri"/>
              <a:ea typeface="Calibri"/>
              <a:cs typeface="Calibri"/>
              <a:sym typeface="Calibri"/>
            </a:endParaRPr>
          </a:p>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PREDICTION</a:t>
            </a:r>
            <a:endParaRPr sz="5100" b="0" i="0" u="none" strike="noStrike" cap="none">
              <a:solidFill>
                <a:schemeClr val="dk1"/>
              </a:solidFill>
              <a:latin typeface="Calibri"/>
              <a:ea typeface="Calibri"/>
              <a:cs typeface="Calibri"/>
              <a:sym typeface="Calibri"/>
            </a:endParaRPr>
          </a:p>
        </p:txBody>
      </p:sp>
      <p:sp>
        <p:nvSpPr>
          <p:cNvPr id="28" name="Google Shape;28;p8"/>
          <p:cNvSpPr/>
          <p:nvPr/>
        </p:nvSpPr>
        <p:spPr>
          <a:xfrm>
            <a:off x="495300" y="2763813"/>
            <a:ext cx="4876800" cy="481905"/>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650"/>
              <a:buFont typeface="Hanken Grotesk"/>
              <a:buNone/>
            </a:pPr>
            <a:r>
              <a:rPr lang="en-US" sz="1650" b="1" i="0" u="none" strike="noStrike" cap="none">
                <a:solidFill>
                  <a:srgbClr val="000000"/>
                </a:solidFill>
                <a:latin typeface="Hanken Grotesk"/>
                <a:ea typeface="Hanken Grotesk"/>
                <a:cs typeface="Hanken Grotesk"/>
                <a:sym typeface="Hanken Grotesk"/>
              </a:rPr>
              <a:t>AI-Based Decision Support Platform for the Indian Stock Market</a:t>
            </a:r>
            <a:endParaRPr sz="1650" b="0" i="0" u="none" strike="noStrike" cap="none">
              <a:solidFill>
                <a:schemeClr val="dk1"/>
              </a:solidFill>
              <a:latin typeface="Calibri"/>
              <a:ea typeface="Calibri"/>
              <a:cs typeface="Calibri"/>
              <a:sym typeface="Calibri"/>
            </a:endParaRPr>
          </a:p>
        </p:txBody>
      </p:sp>
      <p:sp>
        <p:nvSpPr>
          <p:cNvPr id="29" name="Google Shape;29;p8"/>
          <p:cNvSpPr/>
          <p:nvPr/>
        </p:nvSpPr>
        <p:spPr>
          <a:xfrm>
            <a:off x="495300" y="4298156"/>
            <a:ext cx="4876800" cy="46434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B.Tech Electronics and Computer Science · Semester VII · 2026–27</a:t>
            </a:r>
            <a:endParaRPr sz="950" b="0" i="0" u="none" strike="noStrike" cap="none">
              <a:solidFill>
                <a:schemeClr val="dk1"/>
              </a:solidFill>
              <a:latin typeface="Calibri"/>
              <a:ea typeface="Calibri"/>
              <a:cs typeface="Calibri"/>
              <a:sym typeface="Calibri"/>
            </a:endParaRPr>
          </a:p>
          <a:p>
            <a:pPr marL="0" marR="0" lvl="0" indent="0" algn="l" rtl="0">
              <a:lnSpc>
                <a:spcPct val="104000"/>
              </a:lnSpc>
              <a:spcBef>
                <a:spcPts val="120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Shri Ramdeobaba College of Engineering and Management, Nagpur</a:t>
            </a:r>
            <a:endParaRPr sz="950" b="0" i="0" u="none" strike="noStrike" cap="none">
              <a:solidFill>
                <a:schemeClr val="dk1"/>
              </a:solidFill>
              <a:latin typeface="Calibri"/>
              <a:ea typeface="Calibri"/>
              <a:cs typeface="Calibri"/>
              <a:sym typeface="Calibri"/>
            </a:endParaRPr>
          </a:p>
        </p:txBody>
      </p:sp>
      <p:graphicFrame>
        <p:nvGraphicFramePr>
          <p:cNvPr id="30" name="Google Shape;30;p8"/>
          <p:cNvGraphicFramePr/>
          <p:nvPr/>
        </p:nvGraphicFramePr>
        <p:xfrm>
          <a:off x="6191250" y="2043559"/>
          <a:ext cx="2552700" cy="2159000"/>
        </p:xfrm>
        <a:graphic>
          <a:graphicData uri="http://schemas.openxmlformats.org/drawingml/2006/table">
            <a:tbl>
              <a:tblPr>
                <a:noFill/>
                <a:tableStyleId>{3B8C08A0-D729-4379-9EE9-536BB95A4829}</a:tableStyleId>
              </a:tblPr>
              <a:tblGrid>
                <a:gridCol w="765800">
                  <a:extLst>
                    <a:ext uri="{9D8B030D-6E8A-4147-A177-3AD203B41FA5}">
                      <a16:colId xmlns:a16="http://schemas.microsoft.com/office/drawing/2014/main" val="20000"/>
                    </a:ext>
                  </a:extLst>
                </a:gridCol>
                <a:gridCol w="1786900">
                  <a:extLst>
                    <a:ext uri="{9D8B030D-6E8A-4147-A177-3AD203B41FA5}">
                      <a16:colId xmlns:a16="http://schemas.microsoft.com/office/drawing/2014/main" val="20001"/>
                    </a:ext>
                  </a:extLst>
                </a:gridCol>
              </a:tblGrid>
              <a:tr h="637125">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Roll No.</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Name of Student</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B-20</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Rishikesh Chikhale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B-26</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Saie Amdhare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B-52</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Amogh Shukla</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r h="373325">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A-56</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Abhishek Malhotra</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1" name="Google Shape;31;p8"/>
          <p:cNvSpPr/>
          <p:nvPr/>
        </p:nvSpPr>
        <p:spPr>
          <a:xfrm>
            <a:off x="6191250" y="4357390"/>
            <a:ext cx="2952750"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050"/>
              <a:buFont typeface="Hanken Grotesk"/>
              <a:buNone/>
            </a:pPr>
            <a:r>
              <a:rPr lang="en-US" sz="1050" b="0" i="0" u="none" strike="noStrike" cap="none">
                <a:solidFill>
                  <a:srgbClr val="4E5058"/>
                </a:solidFill>
                <a:latin typeface="Hanken Grotesk"/>
                <a:ea typeface="Hanken Grotesk"/>
                <a:cs typeface="Hanken Grotesk"/>
                <a:sym typeface="Hanken Grotesk"/>
              </a:rPr>
              <a:t>Under the guidance of Dr. Jayu Kalambe</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9"/>
          <p:cNvSpPr/>
          <p:nvPr/>
        </p:nvSpPr>
        <p:spPr>
          <a:xfrm>
            <a:off x="495300" y="438150"/>
            <a:ext cx="61722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01 / REVIEW MAP</a:t>
            </a:r>
            <a:endParaRPr sz="950" b="0" i="0" u="none" strike="noStrike" cap="none">
              <a:solidFill>
                <a:schemeClr val="dk1"/>
              </a:solidFill>
              <a:latin typeface="Calibri"/>
              <a:ea typeface="Calibri"/>
              <a:cs typeface="Calibri"/>
              <a:sym typeface="Calibri"/>
            </a:endParaRPr>
          </a:p>
        </p:txBody>
      </p:sp>
      <p:sp>
        <p:nvSpPr>
          <p:cNvPr id="38" name="Google Shape;38;p9"/>
          <p:cNvSpPr/>
          <p:nvPr/>
        </p:nvSpPr>
        <p:spPr>
          <a:xfrm>
            <a:off x="495300" y="697885"/>
            <a:ext cx="5715000" cy="43428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CONTENTS</a:t>
            </a:r>
            <a:endParaRPr sz="3600" b="0" i="0" u="none" strike="noStrike" cap="none">
              <a:solidFill>
                <a:schemeClr val="dk1"/>
              </a:solidFill>
              <a:latin typeface="Calibri"/>
              <a:ea typeface="Calibri"/>
              <a:cs typeface="Calibri"/>
              <a:sym typeface="Calibri"/>
            </a:endParaRPr>
          </a:p>
        </p:txBody>
      </p:sp>
      <p:sp>
        <p:nvSpPr>
          <p:cNvPr id="39" name="Google Shape;39;p9"/>
          <p:cNvSpPr/>
          <p:nvPr/>
        </p:nvSpPr>
        <p:spPr>
          <a:xfrm>
            <a:off x="495300" y="1309390"/>
            <a:ext cx="1885950" cy="38026"/>
          </a:xfrm>
          <a:prstGeom prst="roundRect">
            <a:avLst>
              <a:gd name="adj" fmla="val 49999"/>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p:nvPr/>
        </p:nvSpPr>
        <p:spPr>
          <a:xfrm>
            <a:off x="495300" y="16844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9"/>
          <p:cNvSpPr/>
          <p:nvPr/>
        </p:nvSpPr>
        <p:spPr>
          <a:xfrm>
            <a:off x="598140" y="17558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1</a:t>
            </a:r>
            <a:endParaRPr sz="1150" b="0" i="0" u="none" strike="noStrike" cap="none">
              <a:solidFill>
                <a:schemeClr val="dk1"/>
              </a:solidFill>
              <a:latin typeface="Calibri"/>
              <a:ea typeface="Calibri"/>
              <a:cs typeface="Calibri"/>
              <a:sym typeface="Calibri"/>
            </a:endParaRPr>
          </a:p>
        </p:txBody>
      </p:sp>
      <p:sp>
        <p:nvSpPr>
          <p:cNvPr id="42" name="Google Shape;42;p9"/>
          <p:cNvSpPr/>
          <p:nvPr/>
        </p:nvSpPr>
        <p:spPr>
          <a:xfrm>
            <a:off x="914400" y="17130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Introduction and motivation</a:t>
            </a:r>
            <a:endParaRPr sz="1400" b="0" i="0" u="none" strike="noStrike" cap="none">
              <a:solidFill>
                <a:schemeClr val="dk1"/>
              </a:solidFill>
              <a:latin typeface="Calibri"/>
              <a:ea typeface="Calibri"/>
              <a:cs typeface="Calibri"/>
              <a:sym typeface="Calibri"/>
            </a:endParaRPr>
          </a:p>
        </p:txBody>
      </p:sp>
      <p:sp>
        <p:nvSpPr>
          <p:cNvPr id="43" name="Google Shape;43;p9"/>
          <p:cNvSpPr/>
          <p:nvPr/>
        </p:nvSpPr>
        <p:spPr>
          <a:xfrm>
            <a:off x="495300" y="22178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9"/>
          <p:cNvSpPr/>
          <p:nvPr/>
        </p:nvSpPr>
        <p:spPr>
          <a:xfrm>
            <a:off x="598140" y="22892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2</a:t>
            </a:r>
            <a:endParaRPr sz="1150" b="0" i="0" u="none" strike="noStrike" cap="none">
              <a:solidFill>
                <a:schemeClr val="dk1"/>
              </a:solidFill>
              <a:latin typeface="Calibri"/>
              <a:ea typeface="Calibri"/>
              <a:cs typeface="Calibri"/>
              <a:sym typeface="Calibri"/>
            </a:endParaRPr>
          </a:p>
        </p:txBody>
      </p:sp>
      <p:sp>
        <p:nvSpPr>
          <p:cNvPr id="45" name="Google Shape;45;p9"/>
          <p:cNvSpPr/>
          <p:nvPr/>
        </p:nvSpPr>
        <p:spPr>
          <a:xfrm>
            <a:off x="914400" y="22464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Problem statement</a:t>
            </a:r>
            <a:endParaRPr sz="1400" b="0" i="0" u="none" strike="noStrike" cap="none">
              <a:solidFill>
                <a:schemeClr val="dk1"/>
              </a:solidFill>
              <a:latin typeface="Calibri"/>
              <a:ea typeface="Calibri"/>
              <a:cs typeface="Calibri"/>
              <a:sym typeface="Calibri"/>
            </a:endParaRPr>
          </a:p>
        </p:txBody>
      </p:sp>
      <p:sp>
        <p:nvSpPr>
          <p:cNvPr id="46" name="Google Shape;46;p9"/>
          <p:cNvSpPr/>
          <p:nvPr/>
        </p:nvSpPr>
        <p:spPr>
          <a:xfrm>
            <a:off x="495300" y="27512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a:off x="598140" y="28226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3</a:t>
            </a:r>
            <a:endParaRPr sz="1150" b="0" i="0" u="none" strike="noStrike" cap="none">
              <a:solidFill>
                <a:schemeClr val="dk1"/>
              </a:solidFill>
              <a:latin typeface="Calibri"/>
              <a:ea typeface="Calibri"/>
              <a:cs typeface="Calibri"/>
              <a:sym typeface="Calibri"/>
            </a:endParaRPr>
          </a:p>
        </p:txBody>
      </p:sp>
      <p:sp>
        <p:nvSpPr>
          <p:cNvPr id="48" name="Google Shape;48;p9"/>
          <p:cNvSpPr/>
          <p:nvPr/>
        </p:nvSpPr>
        <p:spPr>
          <a:xfrm>
            <a:off x="914400" y="27798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Objectives and scope</a:t>
            </a:r>
            <a:endParaRPr sz="1400" b="0" i="0" u="none" strike="noStrike" cap="none">
              <a:solidFill>
                <a:schemeClr val="dk1"/>
              </a:solidFill>
              <a:latin typeface="Calibri"/>
              <a:ea typeface="Calibri"/>
              <a:cs typeface="Calibri"/>
              <a:sym typeface="Calibri"/>
            </a:endParaRPr>
          </a:p>
        </p:txBody>
      </p:sp>
      <p:sp>
        <p:nvSpPr>
          <p:cNvPr id="49" name="Google Shape;49;p9"/>
          <p:cNvSpPr/>
          <p:nvPr/>
        </p:nvSpPr>
        <p:spPr>
          <a:xfrm>
            <a:off x="495300" y="32846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a:off x="598140" y="33560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4</a:t>
            </a:r>
            <a:endParaRPr sz="1150" b="0" i="0" u="none" strike="noStrike" cap="none">
              <a:solidFill>
                <a:schemeClr val="dk1"/>
              </a:solidFill>
              <a:latin typeface="Calibri"/>
              <a:ea typeface="Calibri"/>
              <a:cs typeface="Calibri"/>
              <a:sym typeface="Calibri"/>
            </a:endParaRPr>
          </a:p>
        </p:txBody>
      </p:sp>
      <p:sp>
        <p:nvSpPr>
          <p:cNvPr id="51" name="Google Shape;51;p9"/>
          <p:cNvSpPr/>
          <p:nvPr/>
        </p:nvSpPr>
        <p:spPr>
          <a:xfrm>
            <a:off x="914400" y="33132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Literature review and research gap</a:t>
            </a:r>
            <a:endParaRPr sz="1400" b="0" i="0" u="none" strike="noStrike" cap="none">
              <a:solidFill>
                <a:schemeClr val="dk1"/>
              </a:solidFill>
              <a:latin typeface="Calibri"/>
              <a:ea typeface="Calibri"/>
              <a:cs typeface="Calibri"/>
              <a:sym typeface="Calibri"/>
            </a:endParaRPr>
          </a:p>
        </p:txBody>
      </p:sp>
      <p:sp>
        <p:nvSpPr>
          <p:cNvPr id="52" name="Google Shape;52;p9"/>
          <p:cNvSpPr/>
          <p:nvPr/>
        </p:nvSpPr>
        <p:spPr>
          <a:xfrm>
            <a:off x="495300" y="38180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9"/>
          <p:cNvSpPr/>
          <p:nvPr/>
        </p:nvSpPr>
        <p:spPr>
          <a:xfrm>
            <a:off x="598140" y="38894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5</a:t>
            </a:r>
            <a:endParaRPr sz="1150" b="0" i="0" u="none" strike="noStrike" cap="none">
              <a:solidFill>
                <a:schemeClr val="dk1"/>
              </a:solidFill>
              <a:latin typeface="Calibri"/>
              <a:ea typeface="Calibri"/>
              <a:cs typeface="Calibri"/>
              <a:sym typeface="Calibri"/>
            </a:endParaRPr>
          </a:p>
        </p:txBody>
      </p:sp>
      <p:sp>
        <p:nvSpPr>
          <p:cNvPr id="54" name="Google Shape;54;p9"/>
          <p:cNvSpPr/>
          <p:nvPr/>
        </p:nvSpPr>
        <p:spPr>
          <a:xfrm>
            <a:off x="914400" y="38466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System architecture and dataset</a:t>
            </a:r>
            <a:endParaRPr sz="1400" b="0" i="0" u="none" strike="noStrike" cap="none">
              <a:solidFill>
                <a:schemeClr val="dk1"/>
              </a:solidFill>
              <a:latin typeface="Calibri"/>
              <a:ea typeface="Calibri"/>
              <a:cs typeface="Calibri"/>
              <a:sym typeface="Calibri"/>
            </a:endParaRPr>
          </a:p>
        </p:txBody>
      </p:sp>
      <p:sp>
        <p:nvSpPr>
          <p:cNvPr id="55" name="Google Shape;55;p9"/>
          <p:cNvSpPr/>
          <p:nvPr/>
        </p:nvSpPr>
        <p:spPr>
          <a:xfrm>
            <a:off x="495300" y="4351437"/>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9"/>
          <p:cNvSpPr/>
          <p:nvPr/>
        </p:nvSpPr>
        <p:spPr>
          <a:xfrm>
            <a:off x="598140" y="442287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6</a:t>
            </a:r>
            <a:endParaRPr sz="1150" b="0" i="0" u="none" strike="noStrike" cap="none">
              <a:solidFill>
                <a:schemeClr val="dk1"/>
              </a:solidFill>
              <a:latin typeface="Calibri"/>
              <a:ea typeface="Calibri"/>
              <a:cs typeface="Calibri"/>
              <a:sym typeface="Calibri"/>
            </a:endParaRPr>
          </a:p>
        </p:txBody>
      </p:sp>
      <p:sp>
        <p:nvSpPr>
          <p:cNvPr id="57" name="Google Shape;57;p9"/>
          <p:cNvSpPr/>
          <p:nvPr/>
        </p:nvSpPr>
        <p:spPr>
          <a:xfrm>
            <a:off x="914400" y="4380012"/>
            <a:ext cx="52959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Exploratory data analysis</a:t>
            </a:r>
            <a:endParaRPr sz="1400" b="0" i="0" u="none" strike="noStrike" cap="none">
              <a:solidFill>
                <a:schemeClr val="dk1"/>
              </a:solidFill>
              <a:latin typeface="Calibri"/>
              <a:ea typeface="Calibri"/>
              <a:cs typeface="Calibri"/>
              <a:sym typeface="Calibri"/>
            </a:endParaRPr>
          </a:p>
        </p:txBody>
      </p:sp>
      <p:sp>
        <p:nvSpPr>
          <p:cNvPr id="58" name="Google Shape;58;p9"/>
          <p:cNvSpPr/>
          <p:nvPr/>
        </p:nvSpPr>
        <p:spPr>
          <a:xfrm>
            <a:off x="6705600" y="0"/>
            <a:ext cx="2438400" cy="5143500"/>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a:off x="7067550" y="438150"/>
            <a:ext cx="207645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THE PLATFORM</a:t>
            </a:r>
            <a:endParaRPr sz="950" b="0" i="0" u="none" strike="noStrike" cap="none">
              <a:solidFill>
                <a:schemeClr val="dk1"/>
              </a:solidFill>
              <a:latin typeface="Calibri"/>
              <a:ea typeface="Calibri"/>
              <a:cs typeface="Calibri"/>
              <a:sym typeface="Calibri"/>
            </a:endParaRPr>
          </a:p>
        </p:txBody>
      </p:sp>
      <p:sp>
        <p:nvSpPr>
          <p:cNvPr id="60" name="Google Shape;60;p9"/>
          <p:cNvSpPr/>
          <p:nvPr/>
        </p:nvSpPr>
        <p:spPr>
          <a:xfrm>
            <a:off x="7067550" y="2798671"/>
            <a:ext cx="1714500" cy="595833"/>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27</a:t>
            </a:r>
            <a:endParaRPr sz="5100" b="0" i="0" u="none" strike="noStrike" cap="none">
              <a:solidFill>
                <a:schemeClr val="dk1"/>
              </a:solidFill>
              <a:latin typeface="Calibri"/>
              <a:ea typeface="Calibri"/>
              <a:cs typeface="Calibri"/>
              <a:sym typeface="Calibri"/>
            </a:endParaRPr>
          </a:p>
        </p:txBody>
      </p:sp>
      <p:sp>
        <p:nvSpPr>
          <p:cNvPr id="61" name="Google Shape;61;p9"/>
          <p:cNvSpPr/>
          <p:nvPr/>
        </p:nvSpPr>
        <p:spPr>
          <a:xfrm>
            <a:off x="7067550" y="3505423"/>
            <a:ext cx="1714500" cy="1199927"/>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350"/>
              <a:buFont typeface="Hanken Grotesk"/>
              <a:buNone/>
            </a:pPr>
            <a:r>
              <a:rPr lang="en-US" sz="1350" b="0" i="0" u="none" strike="noStrike" cap="none">
                <a:solidFill>
                  <a:srgbClr val="000000"/>
                </a:solidFill>
                <a:latin typeface="Hanken Grotesk"/>
                <a:ea typeface="Hanken Grotesk"/>
                <a:cs typeface="Hanken Grotesk"/>
                <a:sym typeface="Hanken Grotesk"/>
              </a:rPr>
              <a:t>technical indicators feed the comparison of Gradient Boosting, ARIMA and LSTM models.</a:t>
            </a:r>
            <a:endParaRPr sz="1350" b="0" i="0" u="none" strike="noStrike" cap="none">
              <a:solidFill>
                <a:schemeClr val="dk1"/>
              </a:solidFill>
              <a:latin typeface="Calibri"/>
              <a:ea typeface="Calibri"/>
              <a:cs typeface="Calibri"/>
              <a:sym typeface="Calibri"/>
            </a:endParaRPr>
          </a:p>
        </p:txBody>
      </p:sp>
      <p:sp>
        <p:nvSpPr>
          <p:cNvPr id="62" name="Google Shape;62;p9"/>
          <p:cNvSpPr/>
          <p:nvPr/>
        </p:nvSpPr>
        <p:spPr>
          <a:xfrm>
            <a:off x="495300" y="2089249"/>
            <a:ext cx="571500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p:nvPr/>
        </p:nvSpPr>
        <p:spPr>
          <a:xfrm>
            <a:off x="495300" y="2622649"/>
            <a:ext cx="571500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a:off x="495300" y="3156049"/>
            <a:ext cx="571500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495300" y="3689449"/>
            <a:ext cx="571500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a:off x="495300" y="4222849"/>
            <a:ext cx="571500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0"/>
          <p:cNvSpPr/>
          <p:nvPr/>
        </p:nvSpPr>
        <p:spPr>
          <a:xfrm>
            <a:off x="0" y="0"/>
            <a:ext cx="3048000" cy="5143500"/>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0"/>
          <p:cNvSpPr/>
          <p:nvPr/>
        </p:nvSpPr>
        <p:spPr>
          <a:xfrm>
            <a:off x="400050" y="266700"/>
            <a:ext cx="264795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02 / WHY THIS PROJECT</a:t>
            </a:r>
            <a:endParaRPr sz="950" b="0" i="0" u="none" strike="noStrike" cap="none">
              <a:solidFill>
                <a:schemeClr val="dk1"/>
              </a:solidFill>
              <a:latin typeface="Calibri"/>
              <a:ea typeface="Calibri"/>
              <a:cs typeface="Calibri"/>
              <a:sym typeface="Calibri"/>
            </a:endParaRPr>
          </a:p>
        </p:txBody>
      </p:sp>
      <p:sp>
        <p:nvSpPr>
          <p:cNvPr id="74" name="Google Shape;74;p10"/>
          <p:cNvSpPr/>
          <p:nvPr/>
        </p:nvSpPr>
        <p:spPr>
          <a:xfrm>
            <a:off x="400050" y="3450092"/>
            <a:ext cx="2343150" cy="595833"/>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275%</a:t>
            </a:r>
            <a:endParaRPr sz="5100" b="0" i="0" u="none" strike="noStrike" cap="none">
              <a:solidFill>
                <a:schemeClr val="dk1"/>
              </a:solidFill>
              <a:latin typeface="Calibri"/>
              <a:ea typeface="Calibri"/>
              <a:cs typeface="Calibri"/>
              <a:sym typeface="Calibri"/>
            </a:endParaRPr>
          </a:p>
        </p:txBody>
      </p:sp>
      <p:sp>
        <p:nvSpPr>
          <p:cNvPr id="75" name="Google Shape;75;p10"/>
          <p:cNvSpPr/>
          <p:nvPr/>
        </p:nvSpPr>
        <p:spPr>
          <a:xfrm>
            <a:off x="400050" y="4156844"/>
            <a:ext cx="2343150" cy="71995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350"/>
              <a:buFont typeface="Hanken Grotesk"/>
              <a:buNone/>
            </a:pPr>
            <a:r>
              <a:rPr lang="en-US" sz="1350" b="0" i="0" u="none" strike="noStrike" cap="none">
                <a:solidFill>
                  <a:srgbClr val="000000"/>
                </a:solidFill>
                <a:latin typeface="Hanken Grotesk"/>
                <a:ea typeface="Hanken Grotesk"/>
                <a:cs typeface="Hanken Grotesk"/>
                <a:sym typeface="Hanken Grotesk"/>
              </a:rPr>
              <a:t>Rise in Indian retail-investor accounts: about 4 crore (2019) to over 15 crore (2024).</a:t>
            </a:r>
            <a:endParaRPr sz="1350" b="0" i="0" u="none" strike="noStrike" cap="none">
              <a:solidFill>
                <a:schemeClr val="dk1"/>
              </a:solidFill>
              <a:latin typeface="Calibri"/>
              <a:ea typeface="Calibri"/>
              <a:cs typeface="Calibri"/>
              <a:sym typeface="Calibri"/>
            </a:endParaRPr>
          </a:p>
        </p:txBody>
      </p:sp>
      <p:sp>
        <p:nvSpPr>
          <p:cNvPr id="76" name="Google Shape;76;p10"/>
          <p:cNvSpPr/>
          <p:nvPr/>
        </p:nvSpPr>
        <p:spPr>
          <a:xfrm>
            <a:off x="3409950" y="259854"/>
            <a:ext cx="5353050" cy="36195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000"/>
              <a:buFont typeface="Big Shoulders ExtraBold"/>
              <a:buNone/>
            </a:pPr>
            <a:r>
              <a:rPr lang="en-US" sz="3000" b="0" i="0" u="none" strike="noStrike" cap="none">
                <a:solidFill>
                  <a:srgbClr val="16171D"/>
                </a:solidFill>
                <a:latin typeface="Big Shoulders ExtraBold"/>
                <a:ea typeface="Big Shoulders ExtraBold"/>
                <a:cs typeface="Big Shoulders ExtraBold"/>
                <a:sym typeface="Big Shoulders ExtraBold"/>
              </a:rPr>
              <a:t>INTRODUCTION AND MOTIVATION</a:t>
            </a:r>
            <a:endParaRPr sz="3000" b="0" i="0" u="none" strike="noStrike" cap="none">
              <a:solidFill>
                <a:schemeClr val="dk1"/>
              </a:solidFill>
              <a:latin typeface="Calibri"/>
              <a:ea typeface="Calibri"/>
              <a:cs typeface="Calibri"/>
              <a:sym typeface="Calibri"/>
            </a:endParaRPr>
          </a:p>
        </p:txBody>
      </p:sp>
      <p:sp>
        <p:nvSpPr>
          <p:cNvPr id="77" name="Google Shape;77;p10"/>
          <p:cNvSpPr/>
          <p:nvPr/>
        </p:nvSpPr>
        <p:spPr>
          <a:xfrm>
            <a:off x="3409950" y="762000"/>
            <a:ext cx="5734050"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Market growth · tool gap · research opportunity</a:t>
            </a:r>
            <a:endParaRPr sz="950" b="0" i="0" u="none" strike="noStrike" cap="none">
              <a:solidFill>
                <a:schemeClr val="dk1"/>
              </a:solidFill>
              <a:latin typeface="Calibri"/>
              <a:ea typeface="Calibri"/>
              <a:cs typeface="Calibri"/>
              <a:sym typeface="Calibri"/>
            </a:endParaRPr>
          </a:p>
        </p:txBody>
      </p:sp>
      <p:pic>
        <p:nvPicPr>
          <p:cNvPr id="78" name="Google Shape;78;p10" descr="preencoded.png"/>
          <p:cNvPicPr preferRelativeResize="0"/>
          <p:nvPr/>
        </p:nvPicPr>
        <p:blipFill rotWithShape="1">
          <a:blip r:embed="rId3">
            <a:alphaModFix/>
          </a:blip>
          <a:srcRect/>
          <a:stretch/>
        </p:blipFill>
        <p:spPr>
          <a:xfrm>
            <a:off x="3409950" y="1071548"/>
            <a:ext cx="342900" cy="342900"/>
          </a:xfrm>
          <a:prstGeom prst="rect">
            <a:avLst/>
          </a:prstGeom>
          <a:noFill/>
          <a:ln>
            <a:noFill/>
          </a:ln>
        </p:spPr>
      </p:pic>
      <p:sp>
        <p:nvSpPr>
          <p:cNvPr id="79" name="Google Shape;79;p10"/>
          <p:cNvSpPr/>
          <p:nvPr/>
        </p:nvSpPr>
        <p:spPr>
          <a:xfrm>
            <a:off x="3924300" y="1071563"/>
            <a:ext cx="48387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A fast-growing market</a:t>
            </a:r>
            <a:endParaRPr sz="1400" b="0" i="0" u="none" strike="noStrike" cap="none">
              <a:solidFill>
                <a:schemeClr val="dk1"/>
              </a:solidFill>
              <a:latin typeface="Calibri"/>
              <a:ea typeface="Calibri"/>
              <a:cs typeface="Calibri"/>
              <a:sym typeface="Calibri"/>
            </a:endParaRPr>
          </a:p>
        </p:txBody>
      </p:sp>
      <p:sp>
        <p:nvSpPr>
          <p:cNvPr id="80" name="Google Shape;80;p10"/>
          <p:cNvSpPr/>
          <p:nvPr/>
        </p:nvSpPr>
        <p:spPr>
          <a:xfrm>
            <a:off x="3924300" y="1403449"/>
            <a:ext cx="4838700" cy="21334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More retail investors need interpretable signals.</a:t>
            </a:r>
            <a:endParaRPr sz="1200" b="0" i="0" u="none" strike="noStrike" cap="none">
              <a:solidFill>
                <a:schemeClr val="dk1"/>
              </a:solidFill>
              <a:latin typeface="Calibri"/>
              <a:ea typeface="Calibri"/>
              <a:cs typeface="Calibri"/>
              <a:sym typeface="Calibri"/>
            </a:endParaRPr>
          </a:p>
        </p:txBody>
      </p:sp>
      <p:pic>
        <p:nvPicPr>
          <p:cNvPr id="81" name="Google Shape;81;p10" descr="preencoded.png"/>
          <p:cNvPicPr preferRelativeResize="0"/>
          <p:nvPr/>
        </p:nvPicPr>
        <p:blipFill rotWithShape="1">
          <a:blip r:embed="rId4">
            <a:alphaModFix/>
          </a:blip>
          <a:srcRect/>
          <a:stretch/>
        </p:blipFill>
        <p:spPr>
          <a:xfrm>
            <a:off x="3409950" y="1959680"/>
            <a:ext cx="342900" cy="342900"/>
          </a:xfrm>
          <a:prstGeom prst="rect">
            <a:avLst/>
          </a:prstGeom>
          <a:noFill/>
          <a:ln>
            <a:noFill/>
          </a:ln>
        </p:spPr>
      </p:pic>
      <p:sp>
        <p:nvSpPr>
          <p:cNvPr id="82" name="Google Shape;82;p10"/>
          <p:cNvSpPr/>
          <p:nvPr/>
        </p:nvSpPr>
        <p:spPr>
          <a:xfrm>
            <a:off x="3924300" y="1959694"/>
            <a:ext cx="48387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A visible tool gap</a:t>
            </a:r>
            <a:endParaRPr sz="1400" b="0" i="0" u="none" strike="noStrike" cap="none">
              <a:solidFill>
                <a:schemeClr val="dk1"/>
              </a:solidFill>
              <a:latin typeface="Calibri"/>
              <a:ea typeface="Calibri"/>
              <a:cs typeface="Calibri"/>
              <a:sym typeface="Calibri"/>
            </a:endParaRPr>
          </a:p>
        </p:txBody>
      </p:sp>
      <p:sp>
        <p:nvSpPr>
          <p:cNvPr id="83" name="Google Shape;83;p10"/>
          <p:cNvSpPr/>
          <p:nvPr/>
        </p:nvSpPr>
        <p:spPr>
          <a:xfrm>
            <a:off x="3924300" y="2291581"/>
            <a:ext cx="48387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Free platforms (NSE, Moneycontrol, Groww, TradingView) provide raw data and charts, but no prediction or reasoning.</a:t>
            </a:r>
            <a:endParaRPr sz="1200" b="0" i="0" u="none" strike="noStrike" cap="none">
              <a:solidFill>
                <a:schemeClr val="dk1"/>
              </a:solidFill>
              <a:latin typeface="Calibri"/>
              <a:ea typeface="Calibri"/>
              <a:cs typeface="Calibri"/>
              <a:sym typeface="Calibri"/>
            </a:endParaRPr>
          </a:p>
        </p:txBody>
      </p:sp>
      <p:pic>
        <p:nvPicPr>
          <p:cNvPr id="84" name="Google Shape;84;p10" descr="preencoded.png"/>
          <p:cNvPicPr preferRelativeResize="0"/>
          <p:nvPr/>
        </p:nvPicPr>
        <p:blipFill rotWithShape="1">
          <a:blip r:embed="rId5">
            <a:alphaModFix/>
          </a:blip>
          <a:srcRect/>
          <a:stretch/>
        </p:blipFill>
        <p:spPr>
          <a:xfrm>
            <a:off x="3409950" y="3061156"/>
            <a:ext cx="342900" cy="342900"/>
          </a:xfrm>
          <a:prstGeom prst="rect">
            <a:avLst/>
          </a:prstGeom>
          <a:noFill/>
          <a:ln>
            <a:noFill/>
          </a:ln>
        </p:spPr>
      </p:pic>
      <p:sp>
        <p:nvSpPr>
          <p:cNvPr id="85" name="Google Shape;85;p10"/>
          <p:cNvSpPr/>
          <p:nvPr/>
        </p:nvSpPr>
        <p:spPr>
          <a:xfrm>
            <a:off x="3924300" y="3061171"/>
            <a:ext cx="48387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AI can scale pattern finding</a:t>
            </a:r>
            <a:endParaRPr sz="1400" b="0" i="0" u="none" strike="noStrike" cap="none">
              <a:solidFill>
                <a:schemeClr val="dk1"/>
              </a:solidFill>
              <a:latin typeface="Calibri"/>
              <a:ea typeface="Calibri"/>
              <a:cs typeface="Calibri"/>
              <a:sym typeface="Calibri"/>
            </a:endParaRPr>
          </a:p>
        </p:txBody>
      </p:sp>
      <p:sp>
        <p:nvSpPr>
          <p:cNvPr id="86" name="Google Shape;86;p10"/>
          <p:cNvSpPr/>
          <p:nvPr/>
        </p:nvSpPr>
        <p:spPr>
          <a:xfrm>
            <a:off x="3924300" y="3393058"/>
            <a:ext cx="48387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Machine learning finds patterns in large historical datasets faster and more consistently than a human analyst.</a:t>
            </a:r>
            <a:endParaRPr sz="1200" b="0" i="0" u="none" strike="noStrike" cap="none">
              <a:solidFill>
                <a:schemeClr val="dk1"/>
              </a:solidFill>
              <a:latin typeface="Calibri"/>
              <a:ea typeface="Calibri"/>
              <a:cs typeface="Calibri"/>
              <a:sym typeface="Calibri"/>
            </a:endParaRPr>
          </a:p>
        </p:txBody>
      </p:sp>
      <p:pic>
        <p:nvPicPr>
          <p:cNvPr id="87" name="Google Shape;87;p10" descr="preencoded.png"/>
          <p:cNvPicPr preferRelativeResize="0"/>
          <p:nvPr/>
        </p:nvPicPr>
        <p:blipFill rotWithShape="1">
          <a:blip r:embed="rId6">
            <a:alphaModFix/>
          </a:blip>
          <a:srcRect/>
          <a:stretch/>
        </p:blipFill>
        <p:spPr>
          <a:xfrm>
            <a:off x="3409950" y="4162633"/>
            <a:ext cx="342900" cy="342900"/>
          </a:xfrm>
          <a:prstGeom prst="rect">
            <a:avLst/>
          </a:prstGeom>
          <a:noFill/>
          <a:ln>
            <a:noFill/>
          </a:ln>
        </p:spPr>
      </p:pic>
      <p:sp>
        <p:nvSpPr>
          <p:cNvPr id="88" name="Google Shape;88;p10"/>
          <p:cNvSpPr/>
          <p:nvPr/>
        </p:nvSpPr>
        <p:spPr>
          <a:xfrm>
            <a:off x="3924300" y="4162648"/>
            <a:ext cx="48387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The academic opportunity</a:t>
            </a:r>
            <a:endParaRPr sz="1400" b="0" i="0" u="none" strike="noStrike" cap="none">
              <a:solidFill>
                <a:schemeClr val="dk1"/>
              </a:solidFill>
              <a:latin typeface="Calibri"/>
              <a:ea typeface="Calibri"/>
              <a:cs typeface="Calibri"/>
              <a:sym typeface="Calibri"/>
            </a:endParaRPr>
          </a:p>
        </p:txBody>
      </p:sp>
      <p:sp>
        <p:nvSpPr>
          <p:cNvPr id="89" name="Google Shape;89;p10"/>
          <p:cNvSpPr/>
          <p:nvPr/>
        </p:nvSpPr>
        <p:spPr>
          <a:xfrm>
            <a:off x="3924300" y="4494535"/>
            <a:ext cx="4838700"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AI stock-prediction research rarely becomes practical, user-friendly systems. This project pairs model evaluation with an explainable end-to-end decision-support platform for the Indian market.</a:t>
            </a:r>
            <a:endParaRPr sz="1200" b="0" i="0" u="none" strike="noStrike" cap="none">
              <a:solidFill>
                <a:schemeClr val="dk1"/>
              </a:solidFill>
              <a:latin typeface="Calibri"/>
              <a:ea typeface="Calibri"/>
              <a:cs typeface="Calibri"/>
              <a:sym typeface="Calibri"/>
            </a:endParaRPr>
          </a:p>
        </p:txBody>
      </p:sp>
      <p:sp>
        <p:nvSpPr>
          <p:cNvPr id="90" name="Google Shape;90;p10"/>
          <p:cNvSpPr/>
          <p:nvPr/>
        </p:nvSpPr>
        <p:spPr>
          <a:xfrm>
            <a:off x="3409950" y="1783482"/>
            <a:ext cx="535305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0"/>
          <p:cNvSpPr/>
          <p:nvPr/>
        </p:nvSpPr>
        <p:spPr>
          <a:xfrm>
            <a:off x="3409950" y="2884959"/>
            <a:ext cx="535305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0"/>
          <p:cNvSpPr/>
          <p:nvPr/>
        </p:nvSpPr>
        <p:spPr>
          <a:xfrm>
            <a:off x="3409950" y="3986436"/>
            <a:ext cx="5353050" cy="9525"/>
          </a:xfrm>
          <a:prstGeom prst="rect">
            <a:avLst/>
          </a:prstGeom>
          <a:solidFill>
            <a:srgbClr val="B4B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1"/>
          <p:cNvSpPr/>
          <p:nvPr/>
        </p:nvSpPr>
        <p:spPr>
          <a:xfrm>
            <a:off x="495300" y="114300"/>
            <a:ext cx="86106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03 / THE PROBLEM</a:t>
            </a:r>
            <a:endParaRPr sz="950" b="0" i="0" u="none" strike="noStrike" cap="none">
              <a:solidFill>
                <a:schemeClr val="dk1"/>
              </a:solidFill>
              <a:latin typeface="Calibri"/>
              <a:ea typeface="Calibri"/>
              <a:cs typeface="Calibri"/>
              <a:sym typeface="Calibri"/>
            </a:endParaRPr>
          </a:p>
        </p:txBody>
      </p:sp>
      <p:sp>
        <p:nvSpPr>
          <p:cNvPr id="99" name="Google Shape;99;p11"/>
          <p:cNvSpPr/>
          <p:nvPr/>
        </p:nvSpPr>
        <p:spPr>
          <a:xfrm>
            <a:off x="495300" y="374035"/>
            <a:ext cx="8153400"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USEFUL MARKET DATA STILL LEAVES THE DECISION TO THE USER</a:t>
            </a:r>
            <a:endParaRPr sz="3600" b="0" i="0" u="none" strike="noStrike" cap="none">
              <a:solidFill>
                <a:schemeClr val="dk1"/>
              </a:solidFill>
              <a:latin typeface="Calibri"/>
              <a:ea typeface="Calibri"/>
              <a:cs typeface="Calibri"/>
              <a:sym typeface="Calibri"/>
            </a:endParaRPr>
          </a:p>
        </p:txBody>
      </p:sp>
      <p:sp>
        <p:nvSpPr>
          <p:cNvPr id="100" name="Google Shape;100;p11"/>
          <p:cNvSpPr/>
          <p:nvPr/>
        </p:nvSpPr>
        <p:spPr>
          <a:xfrm>
            <a:off x="495300" y="1419820"/>
            <a:ext cx="2690515" cy="38026"/>
          </a:xfrm>
          <a:prstGeom prst="roundRect">
            <a:avLst>
              <a:gd name="adj" fmla="val 49999"/>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01" name="Google Shape;101;p11"/>
          <p:cNvGraphicFramePr/>
          <p:nvPr/>
        </p:nvGraphicFramePr>
        <p:xfrm>
          <a:off x="495300" y="1594842"/>
          <a:ext cx="8153400" cy="3501875"/>
        </p:xfrm>
        <a:graphic>
          <a:graphicData uri="http://schemas.openxmlformats.org/drawingml/2006/table">
            <a:tbl>
              <a:tblPr>
                <a:noFill/>
                <a:tableStyleId>{3B8C08A0-D729-4379-9EE9-536BB95A4829}</a:tableStyleId>
              </a:tblPr>
              <a:tblGrid>
                <a:gridCol w="570675">
                  <a:extLst>
                    <a:ext uri="{9D8B030D-6E8A-4147-A177-3AD203B41FA5}">
                      <a16:colId xmlns:a16="http://schemas.microsoft.com/office/drawing/2014/main" val="20000"/>
                    </a:ext>
                  </a:extLst>
                </a:gridCol>
                <a:gridCol w="2201400">
                  <a:extLst>
                    <a:ext uri="{9D8B030D-6E8A-4147-A177-3AD203B41FA5}">
                      <a16:colId xmlns:a16="http://schemas.microsoft.com/office/drawing/2014/main" val="20001"/>
                    </a:ext>
                  </a:extLst>
                </a:gridCol>
                <a:gridCol w="5381325">
                  <a:extLst>
                    <a:ext uri="{9D8B030D-6E8A-4147-A177-3AD203B41FA5}">
                      <a16:colId xmlns:a16="http://schemas.microsoft.com/office/drawing/2014/main" val="20002"/>
                    </a:ext>
                  </a:extLst>
                </a:gridCol>
              </a:tblGrid>
              <a:tr h="3971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Problem</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What goes wrong</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1</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Information overload</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News, social media, earnings and analyst calls conflict; no single actionable signal.</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No predictive intelligence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Free tools show data and charts only, with no ML-based trend or recommendation.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3</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Black-box AI</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Paid tools output BUY/SELL with no reasoning, so users cannot trust them.</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4</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Manual technical analysis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RSI, MACD and Bollinger Bands by hand are slow, error-prone and difficult to scale.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4"/>
                  </a:ext>
                </a:extLst>
              </a:tr>
              <a:tr h="613325">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5</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No model comparison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Investors rely on one method, with no easy way to compare approaches.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2"/>
          <p:cNvSpPr/>
          <p:nvPr/>
        </p:nvSpPr>
        <p:spPr>
          <a:xfrm>
            <a:off x="495300" y="285750"/>
            <a:ext cx="40767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04 / RESEARCH DESIGN</a:t>
            </a:r>
            <a:endParaRPr sz="950" b="0" i="0" u="none" strike="noStrike" cap="none">
              <a:solidFill>
                <a:schemeClr val="dk1"/>
              </a:solidFill>
              <a:latin typeface="Calibri"/>
              <a:ea typeface="Calibri"/>
              <a:cs typeface="Calibri"/>
              <a:sym typeface="Calibri"/>
            </a:endParaRPr>
          </a:p>
        </p:txBody>
      </p:sp>
      <p:sp>
        <p:nvSpPr>
          <p:cNvPr id="108" name="Google Shape;108;p12"/>
          <p:cNvSpPr/>
          <p:nvPr/>
        </p:nvSpPr>
        <p:spPr>
          <a:xfrm>
            <a:off x="495300" y="545485"/>
            <a:ext cx="3695700"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OBJECTIVES AND SCOPE</a:t>
            </a:r>
            <a:endParaRPr sz="3600" b="0" i="0" u="none" strike="noStrike" cap="none">
              <a:solidFill>
                <a:schemeClr val="dk1"/>
              </a:solidFill>
              <a:latin typeface="Calibri"/>
              <a:ea typeface="Calibri"/>
              <a:cs typeface="Calibri"/>
              <a:sym typeface="Calibri"/>
            </a:endParaRPr>
          </a:p>
        </p:txBody>
      </p:sp>
      <p:sp>
        <p:nvSpPr>
          <p:cNvPr id="109" name="Google Shape;109;p12"/>
          <p:cNvSpPr/>
          <p:nvPr/>
        </p:nvSpPr>
        <p:spPr>
          <a:xfrm>
            <a:off x="495300" y="1549598"/>
            <a:ext cx="3695700" cy="309563"/>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Build broadly · evaluate honestly · explain every signal</a:t>
            </a:r>
            <a:endParaRPr sz="950" b="0" i="0" u="none" strike="noStrike" cap="none">
              <a:solidFill>
                <a:schemeClr val="dk1"/>
              </a:solidFill>
              <a:latin typeface="Calibri"/>
              <a:ea typeface="Calibri"/>
              <a:cs typeface="Calibri"/>
              <a:sym typeface="Calibri"/>
            </a:endParaRPr>
          </a:p>
        </p:txBody>
      </p:sp>
      <p:sp>
        <p:nvSpPr>
          <p:cNvPr id="110" name="Google Shape;110;p12"/>
          <p:cNvSpPr/>
          <p:nvPr/>
        </p:nvSpPr>
        <p:spPr>
          <a:xfrm>
            <a:off x="495300" y="2097286"/>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2"/>
          <p:cNvSpPr/>
          <p:nvPr/>
        </p:nvSpPr>
        <p:spPr>
          <a:xfrm>
            <a:off x="598140" y="2168723"/>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1</a:t>
            </a:r>
            <a:endParaRPr sz="1150" b="0" i="0" u="none" strike="noStrike" cap="none">
              <a:solidFill>
                <a:schemeClr val="dk1"/>
              </a:solidFill>
              <a:latin typeface="Calibri"/>
              <a:ea typeface="Calibri"/>
              <a:cs typeface="Calibri"/>
              <a:sym typeface="Calibri"/>
            </a:endParaRPr>
          </a:p>
        </p:txBody>
      </p:sp>
      <p:sp>
        <p:nvSpPr>
          <p:cNvPr id="112" name="Google Shape;112;p12"/>
          <p:cNvSpPr/>
          <p:nvPr/>
        </p:nvSpPr>
        <p:spPr>
          <a:xfrm>
            <a:off x="914400" y="2130623"/>
            <a:ext cx="3276600" cy="21334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Collect and clean 7+ years of NSE OHLCV data.</a:t>
            </a:r>
            <a:endParaRPr sz="1200" b="0" i="0" u="none" strike="noStrike" cap="none">
              <a:solidFill>
                <a:schemeClr val="dk1"/>
              </a:solidFill>
              <a:latin typeface="Calibri"/>
              <a:ea typeface="Calibri"/>
              <a:cs typeface="Calibri"/>
              <a:sym typeface="Calibri"/>
            </a:endParaRPr>
          </a:p>
        </p:txBody>
      </p:sp>
      <p:sp>
        <p:nvSpPr>
          <p:cNvPr id="113" name="Google Shape;113;p12"/>
          <p:cNvSpPr/>
          <p:nvPr/>
        </p:nvSpPr>
        <p:spPr>
          <a:xfrm>
            <a:off x="495300" y="2554486"/>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2"/>
          <p:cNvSpPr/>
          <p:nvPr/>
        </p:nvSpPr>
        <p:spPr>
          <a:xfrm>
            <a:off x="598140" y="2625923"/>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2</a:t>
            </a:r>
            <a:endParaRPr sz="1150" b="0" i="0" u="none" strike="noStrike" cap="none">
              <a:solidFill>
                <a:schemeClr val="dk1"/>
              </a:solidFill>
              <a:latin typeface="Calibri"/>
              <a:ea typeface="Calibri"/>
              <a:cs typeface="Calibri"/>
              <a:sym typeface="Calibri"/>
            </a:endParaRPr>
          </a:p>
        </p:txBody>
      </p:sp>
      <p:sp>
        <p:nvSpPr>
          <p:cNvPr id="115" name="Google Shape;115;p12"/>
          <p:cNvSpPr/>
          <p:nvPr/>
        </p:nvSpPr>
        <p:spPr>
          <a:xfrm>
            <a:off x="914400" y="2587823"/>
            <a:ext cx="32766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Compute 27 technical indicators and perform EDA.</a:t>
            </a:r>
            <a:endParaRPr sz="1200" b="0" i="0" u="none" strike="noStrike" cap="none">
              <a:solidFill>
                <a:schemeClr val="dk1"/>
              </a:solidFill>
              <a:latin typeface="Calibri"/>
              <a:ea typeface="Calibri"/>
              <a:cs typeface="Calibri"/>
              <a:sym typeface="Calibri"/>
            </a:endParaRPr>
          </a:p>
        </p:txBody>
      </p:sp>
      <p:sp>
        <p:nvSpPr>
          <p:cNvPr id="116" name="Google Shape;116;p12"/>
          <p:cNvSpPr/>
          <p:nvPr/>
        </p:nvSpPr>
        <p:spPr>
          <a:xfrm>
            <a:off x="495300" y="3185964"/>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2"/>
          <p:cNvSpPr/>
          <p:nvPr/>
        </p:nvSpPr>
        <p:spPr>
          <a:xfrm>
            <a:off x="598140" y="3257401"/>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3</a:t>
            </a:r>
            <a:endParaRPr sz="1150" b="0" i="0" u="none" strike="noStrike" cap="none">
              <a:solidFill>
                <a:schemeClr val="dk1"/>
              </a:solidFill>
              <a:latin typeface="Calibri"/>
              <a:ea typeface="Calibri"/>
              <a:cs typeface="Calibri"/>
              <a:sym typeface="Calibri"/>
            </a:endParaRPr>
          </a:p>
        </p:txBody>
      </p:sp>
      <p:sp>
        <p:nvSpPr>
          <p:cNvPr id="118" name="Google Shape;118;p12"/>
          <p:cNvSpPr/>
          <p:nvPr/>
        </p:nvSpPr>
        <p:spPr>
          <a:xfrm>
            <a:off x="914400" y="3219301"/>
            <a:ext cx="32766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Train Gradient Boosting, ARIMA and LSTM models.</a:t>
            </a:r>
            <a:endParaRPr sz="1200" b="0" i="0" u="none" strike="noStrike" cap="none">
              <a:solidFill>
                <a:schemeClr val="dk1"/>
              </a:solidFill>
              <a:latin typeface="Calibri"/>
              <a:ea typeface="Calibri"/>
              <a:cs typeface="Calibri"/>
              <a:sym typeface="Calibri"/>
            </a:endParaRPr>
          </a:p>
        </p:txBody>
      </p:sp>
      <p:sp>
        <p:nvSpPr>
          <p:cNvPr id="119" name="Google Shape;119;p12"/>
          <p:cNvSpPr/>
          <p:nvPr/>
        </p:nvSpPr>
        <p:spPr>
          <a:xfrm>
            <a:off x="495300" y="3817441"/>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2"/>
          <p:cNvSpPr/>
          <p:nvPr/>
        </p:nvSpPr>
        <p:spPr>
          <a:xfrm>
            <a:off x="598140" y="3888879"/>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4</a:t>
            </a:r>
            <a:endParaRPr sz="1150" b="0" i="0" u="none" strike="noStrike" cap="none">
              <a:solidFill>
                <a:schemeClr val="dk1"/>
              </a:solidFill>
              <a:latin typeface="Calibri"/>
              <a:ea typeface="Calibri"/>
              <a:cs typeface="Calibri"/>
              <a:sym typeface="Calibri"/>
            </a:endParaRPr>
          </a:p>
        </p:txBody>
      </p:sp>
      <p:sp>
        <p:nvSpPr>
          <p:cNvPr id="121" name="Google Shape;121;p12"/>
          <p:cNvSpPr/>
          <p:nvPr/>
        </p:nvSpPr>
        <p:spPr>
          <a:xfrm>
            <a:off x="914400" y="3850779"/>
            <a:ext cx="32766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Add BUY / HOLD / SELL with confidence and SHAP explanations.</a:t>
            </a:r>
            <a:endParaRPr sz="1200" b="0" i="0" u="none" strike="noStrike" cap="none">
              <a:solidFill>
                <a:schemeClr val="dk1"/>
              </a:solidFill>
              <a:latin typeface="Calibri"/>
              <a:ea typeface="Calibri"/>
              <a:cs typeface="Calibri"/>
              <a:sym typeface="Calibri"/>
            </a:endParaRPr>
          </a:p>
        </p:txBody>
      </p:sp>
      <p:sp>
        <p:nvSpPr>
          <p:cNvPr id="122" name="Google Shape;122;p12"/>
          <p:cNvSpPr/>
          <p:nvPr/>
        </p:nvSpPr>
        <p:spPr>
          <a:xfrm>
            <a:off x="495300" y="4448919"/>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2"/>
          <p:cNvSpPr/>
          <p:nvPr/>
        </p:nvSpPr>
        <p:spPr>
          <a:xfrm>
            <a:off x="598140" y="4520357"/>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5</a:t>
            </a:r>
            <a:endParaRPr sz="1150" b="0" i="0" u="none" strike="noStrike" cap="none">
              <a:solidFill>
                <a:schemeClr val="dk1"/>
              </a:solidFill>
              <a:latin typeface="Calibri"/>
              <a:ea typeface="Calibri"/>
              <a:cs typeface="Calibri"/>
              <a:sym typeface="Calibri"/>
            </a:endParaRPr>
          </a:p>
        </p:txBody>
      </p:sp>
      <p:sp>
        <p:nvSpPr>
          <p:cNvPr id="124" name="Google Shape;124;p12"/>
          <p:cNvSpPr/>
          <p:nvPr/>
        </p:nvSpPr>
        <p:spPr>
          <a:xfrm>
            <a:off x="914400" y="4482257"/>
            <a:ext cx="3276600" cy="21334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Deploy an interactive Streamlit dashboard.</a:t>
            </a:r>
            <a:endParaRPr sz="1200" b="0" i="0" u="none" strike="noStrike" cap="none">
              <a:solidFill>
                <a:schemeClr val="dk1"/>
              </a:solidFill>
              <a:latin typeface="Calibri"/>
              <a:ea typeface="Calibri"/>
              <a:cs typeface="Calibri"/>
              <a:sym typeface="Calibri"/>
            </a:endParaRPr>
          </a:p>
        </p:txBody>
      </p:sp>
      <p:sp>
        <p:nvSpPr>
          <p:cNvPr id="125" name="Google Shape;125;p12"/>
          <p:cNvSpPr/>
          <p:nvPr/>
        </p:nvSpPr>
        <p:spPr>
          <a:xfrm>
            <a:off x="4572000" y="0"/>
            <a:ext cx="4572000" cy="5143500"/>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2"/>
          <p:cNvSpPr/>
          <p:nvPr/>
        </p:nvSpPr>
        <p:spPr>
          <a:xfrm>
            <a:off x="4953000" y="285750"/>
            <a:ext cx="41529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BOUNDARIES</a:t>
            </a:r>
            <a:endParaRPr sz="950" b="0" i="0" u="none" strike="noStrike" cap="none">
              <a:solidFill>
                <a:schemeClr val="dk1"/>
              </a:solidFill>
              <a:latin typeface="Calibri"/>
              <a:ea typeface="Calibri"/>
              <a:cs typeface="Calibri"/>
              <a:sym typeface="Calibri"/>
            </a:endParaRPr>
          </a:p>
        </p:txBody>
      </p:sp>
      <p:sp>
        <p:nvSpPr>
          <p:cNvPr id="127" name="Google Shape;127;p12"/>
          <p:cNvSpPr/>
          <p:nvPr/>
        </p:nvSpPr>
        <p:spPr>
          <a:xfrm>
            <a:off x="4953000" y="538817"/>
            <a:ext cx="3695700"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000000"/>
              </a:buClr>
              <a:buSzPts val="2700"/>
              <a:buFont typeface="Big Shoulders ExtraBold"/>
              <a:buNone/>
            </a:pPr>
            <a:r>
              <a:rPr lang="en-US" sz="2700" b="0" i="0" u="none" strike="noStrike" cap="none">
                <a:solidFill>
                  <a:srgbClr val="000000"/>
                </a:solidFill>
                <a:latin typeface="Big Shoulders ExtraBold"/>
                <a:ea typeface="Big Shoulders ExtraBold"/>
                <a:cs typeface="Big Shoulders ExtraBold"/>
                <a:sym typeface="Big Shoulders ExtraBold"/>
              </a:rPr>
              <a:t>SCOPE</a:t>
            </a:r>
            <a:endParaRPr sz="2700" b="0" i="0" u="none" strike="noStrike" cap="none">
              <a:solidFill>
                <a:schemeClr val="dk1"/>
              </a:solidFill>
              <a:latin typeface="Calibri"/>
              <a:ea typeface="Calibri"/>
              <a:cs typeface="Calibri"/>
              <a:sym typeface="Calibri"/>
            </a:endParaRPr>
          </a:p>
        </p:txBody>
      </p:sp>
      <p:sp>
        <p:nvSpPr>
          <p:cNvPr id="128" name="Google Shape;128;p12"/>
          <p:cNvSpPr/>
          <p:nvPr/>
        </p:nvSpPr>
        <p:spPr>
          <a:xfrm>
            <a:off x="4953000" y="968648"/>
            <a:ext cx="3695700" cy="2331318"/>
          </a:xfrm>
          <a:prstGeom prst="rect">
            <a:avLst/>
          </a:prstGeom>
          <a:noFill/>
          <a:ln>
            <a:noFill/>
          </a:ln>
        </p:spPr>
        <p:txBody>
          <a:bodyPr spcFirstLastPara="1" wrap="square" lIns="0" tIns="0" rIns="0" bIns="0" anchor="t" anchorCtr="0">
            <a:noAutofit/>
          </a:bodyPr>
          <a:lstStyle/>
          <a:p>
            <a:pPr marL="274320" marR="0" lvl="0" indent="-274320" algn="l" rtl="0">
              <a:lnSpc>
                <a:spcPct val="117000"/>
              </a:lnSpc>
              <a:spcBef>
                <a:spcPts val="0"/>
              </a:spcBef>
              <a:spcAft>
                <a:spcPts val="0"/>
              </a:spcAft>
              <a:buClr>
                <a:srgbClr val="000000"/>
              </a:buClr>
              <a:buSzPts val="1350"/>
              <a:buFont typeface="Hanken Grotesk"/>
              <a:buChar char="•"/>
            </a:pPr>
            <a:r>
              <a:rPr lang="en-US" sz="1350" b="0" i="0" u="none" strike="noStrike" cap="none">
                <a:solidFill>
                  <a:srgbClr val="000000"/>
                </a:solidFill>
                <a:latin typeface="Hanken Grotesk"/>
                <a:ea typeface="Hanken Grotesk"/>
                <a:cs typeface="Hanken Grotesk"/>
                <a:sym typeface="Hanken Grotesk"/>
              </a:rPr>
              <a:t>End-of-day NSE OHLCV; live refresh every 5 minutes during market hours, 9:15 AM–3:30 PM IST.</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000000"/>
              </a:buClr>
              <a:buSzPts val="1350"/>
              <a:buFont typeface="Hanken Grotesk"/>
              <a:buChar char="•"/>
            </a:pPr>
            <a:r>
              <a:rPr lang="en-US" sz="1350" b="0" i="0" u="none" strike="noStrike" cap="none">
                <a:solidFill>
                  <a:srgbClr val="000000"/>
                </a:solidFill>
                <a:latin typeface="Hanken Grotesk"/>
                <a:ea typeface="Hanken Grotesk"/>
                <a:cs typeface="Hanken Grotesk"/>
                <a:sym typeface="Hanken Grotesk"/>
              </a:rPr>
              <a:t>TVS Motor, Solar Industries and HDFC Bank.</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000000"/>
              </a:buClr>
              <a:buSzPts val="1350"/>
              <a:buFont typeface="Hanken Grotesk"/>
              <a:buChar char="•"/>
            </a:pPr>
            <a:r>
              <a:rPr lang="en-US" sz="1350" b="0" i="0" u="none" strike="noStrike" cap="none">
                <a:solidFill>
                  <a:srgbClr val="000000"/>
                </a:solidFill>
                <a:latin typeface="Hanken Grotesk"/>
                <a:ea typeface="Hanken Grotesk"/>
                <a:cs typeface="Hanken Grotesk"/>
                <a:sym typeface="Hanken Grotesk"/>
              </a:rPr>
              <a:t>Short-term positional trading, 1 to 30 days; not intraday.</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000000"/>
              </a:buClr>
              <a:buSzPts val="1350"/>
              <a:buFont typeface="Hanken Grotesk"/>
              <a:buChar char="•"/>
            </a:pPr>
            <a:r>
              <a:rPr lang="en-US" sz="1350" b="0" i="0" u="none" strike="noStrike" cap="none">
                <a:solidFill>
                  <a:srgbClr val="000000"/>
                </a:solidFill>
                <a:latin typeface="Hanken Grotesk"/>
                <a:ea typeface="Hanken Grotesk"/>
                <a:cs typeface="Hanken Grotesk"/>
                <a:sym typeface="Hanken Grotesk"/>
              </a:rPr>
              <a:t>Technical analysis only. News sentiment and fundamentals are future work.</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000000"/>
              </a:buClr>
              <a:buSzPts val="1350"/>
              <a:buFont typeface="Hanken Grotesk"/>
              <a:buChar char="•"/>
            </a:pPr>
            <a:r>
              <a:rPr lang="en-US" sz="1350" b="0" i="0" u="none" strike="noStrike" cap="none">
                <a:solidFill>
                  <a:srgbClr val="000000"/>
                </a:solidFill>
                <a:latin typeface="Hanken Grotesk"/>
                <a:ea typeface="Hanken Grotesk"/>
                <a:cs typeface="Hanken Grotesk"/>
                <a:sym typeface="Hanken Grotesk"/>
              </a:rPr>
              <a:t>Hosting on Streamlit Community Cloud.</a:t>
            </a:r>
            <a:endParaRPr sz="1350" b="0" i="0" u="none" strike="noStrike" cap="none">
              <a:solidFill>
                <a:schemeClr val="dk1"/>
              </a:solidFill>
              <a:latin typeface="Calibri"/>
              <a:ea typeface="Calibri"/>
              <a:cs typeface="Calibri"/>
              <a:sym typeface="Calibri"/>
            </a:endParaRPr>
          </a:p>
        </p:txBody>
      </p:sp>
      <p:sp>
        <p:nvSpPr>
          <p:cNvPr id="129" name="Google Shape;129;p12"/>
          <p:cNvSpPr/>
          <p:nvPr/>
        </p:nvSpPr>
        <p:spPr>
          <a:xfrm>
            <a:off x="495300" y="2463998"/>
            <a:ext cx="369570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2"/>
          <p:cNvSpPr/>
          <p:nvPr/>
        </p:nvSpPr>
        <p:spPr>
          <a:xfrm>
            <a:off x="495300" y="3095476"/>
            <a:ext cx="369570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2"/>
          <p:cNvSpPr/>
          <p:nvPr/>
        </p:nvSpPr>
        <p:spPr>
          <a:xfrm>
            <a:off x="495300" y="3726954"/>
            <a:ext cx="369570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2"/>
          <p:cNvSpPr/>
          <p:nvPr/>
        </p:nvSpPr>
        <p:spPr>
          <a:xfrm>
            <a:off x="495300" y="4358432"/>
            <a:ext cx="369570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3"/>
          <p:cNvSpPr/>
          <p:nvPr/>
        </p:nvSpPr>
        <p:spPr>
          <a:xfrm>
            <a:off x="495300" y="266700"/>
            <a:ext cx="86106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05 / PRIOR WORK</a:t>
            </a:r>
            <a:endParaRPr sz="950" b="0" i="0" u="none" strike="noStrike" cap="none">
              <a:solidFill>
                <a:schemeClr val="dk1"/>
              </a:solidFill>
              <a:latin typeface="Calibri"/>
              <a:ea typeface="Calibri"/>
              <a:cs typeface="Calibri"/>
              <a:sym typeface="Calibri"/>
            </a:endParaRPr>
          </a:p>
        </p:txBody>
      </p:sp>
      <p:sp>
        <p:nvSpPr>
          <p:cNvPr id="139" name="Google Shape;139;p13"/>
          <p:cNvSpPr/>
          <p:nvPr/>
        </p:nvSpPr>
        <p:spPr>
          <a:xfrm>
            <a:off x="495300" y="526435"/>
            <a:ext cx="8153400" cy="43428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LITERATURE REVIEW</a:t>
            </a:r>
            <a:endParaRPr sz="3600" b="0" i="0" u="none" strike="noStrike" cap="none">
              <a:solidFill>
                <a:schemeClr val="dk1"/>
              </a:solidFill>
              <a:latin typeface="Calibri"/>
              <a:ea typeface="Calibri"/>
              <a:cs typeface="Calibri"/>
              <a:sym typeface="Calibri"/>
            </a:endParaRPr>
          </a:p>
        </p:txBody>
      </p:sp>
      <p:sp>
        <p:nvSpPr>
          <p:cNvPr id="140" name="Google Shape;140;p13"/>
          <p:cNvSpPr/>
          <p:nvPr/>
        </p:nvSpPr>
        <p:spPr>
          <a:xfrm>
            <a:off x="495300" y="1096268"/>
            <a:ext cx="8610600"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From ensemble accuracy to explainable finance</a:t>
            </a:r>
            <a:endParaRPr sz="950" b="0" i="0" u="none" strike="noStrike" cap="none">
              <a:solidFill>
                <a:schemeClr val="dk1"/>
              </a:solidFill>
              <a:latin typeface="Calibri"/>
              <a:ea typeface="Calibri"/>
              <a:cs typeface="Calibri"/>
              <a:sym typeface="Calibri"/>
            </a:endParaRPr>
          </a:p>
        </p:txBody>
      </p:sp>
      <p:graphicFrame>
        <p:nvGraphicFramePr>
          <p:cNvPr id="141" name="Google Shape;141;p13"/>
          <p:cNvGraphicFramePr/>
          <p:nvPr/>
        </p:nvGraphicFramePr>
        <p:xfrm>
          <a:off x="495300" y="1346299"/>
          <a:ext cx="8153425" cy="3096230"/>
        </p:xfrm>
        <a:graphic>
          <a:graphicData uri="http://schemas.openxmlformats.org/drawingml/2006/table">
            <a:tbl>
              <a:tblPr>
                <a:noFill/>
                <a:tableStyleId>{3B8C08A0-D729-4379-9EE9-536BB95A4829}</a:tableStyleId>
              </a:tblPr>
              <a:tblGrid>
                <a:gridCol w="1712200">
                  <a:extLst>
                    <a:ext uri="{9D8B030D-6E8A-4147-A177-3AD203B41FA5}">
                      <a16:colId xmlns:a16="http://schemas.microsoft.com/office/drawing/2014/main" val="20000"/>
                    </a:ext>
                  </a:extLst>
                </a:gridCol>
                <a:gridCol w="652250">
                  <a:extLst>
                    <a:ext uri="{9D8B030D-6E8A-4147-A177-3AD203B41FA5}">
                      <a16:colId xmlns:a16="http://schemas.microsoft.com/office/drawing/2014/main" val="20001"/>
                    </a:ext>
                  </a:extLst>
                </a:gridCol>
                <a:gridCol w="3505950">
                  <a:extLst>
                    <a:ext uri="{9D8B030D-6E8A-4147-A177-3AD203B41FA5}">
                      <a16:colId xmlns:a16="http://schemas.microsoft.com/office/drawing/2014/main" val="20002"/>
                    </a:ext>
                  </a:extLst>
                </a:gridCol>
                <a:gridCol w="2283025">
                  <a:extLst>
                    <a:ext uri="{9D8B030D-6E8A-4147-A177-3AD203B41FA5}">
                      <a16:colId xmlns:a16="http://schemas.microsoft.com/office/drawing/2014/main" val="20003"/>
                    </a:ext>
                  </a:extLst>
                </a:gridCol>
              </a:tblGrid>
              <a:tr h="3971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Author(s)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Year</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Key finding</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Relevance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Patel et al.</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2015</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Random Forest leads Indian NSE stocks (80%+).</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Validates Indian ensembles.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Khaidem et al.</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2016</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RF + indicators: 80%+ accuracy (NYSE).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Validates features.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Selvin et al.</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2017</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LSTM superior on NSE data.</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LSTM for India.</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Lundberg and Lee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2017</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SHAP: game-theory feature attribution.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Basis of XAI layer.</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4"/>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Fischer and Krauss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2018</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LSTM beats ARIMA on S&amp;P 500 direction.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Three-model comparison.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5"/>
                  </a:ext>
                </a:extLst>
              </a:tr>
              <a:tr h="373325">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Bussmann et al.</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2020</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SHAP explanations build trust in AI finance.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Transparency-first design.</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p:nvPr/>
        </p:nvSpPr>
        <p:spPr>
          <a:xfrm>
            <a:off x="0" y="0"/>
            <a:ext cx="3352800" cy="5143500"/>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4"/>
          <p:cNvSpPr/>
          <p:nvPr/>
        </p:nvSpPr>
        <p:spPr>
          <a:xfrm>
            <a:off x="495300" y="438150"/>
            <a:ext cx="28575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Red Hat Mono Medium"/>
              <a:buNone/>
            </a:pPr>
            <a:r>
              <a:rPr lang="en-US" sz="950" b="0" i="0" u="none" strike="noStrike" cap="none">
                <a:solidFill>
                  <a:srgbClr val="000000"/>
                </a:solidFill>
                <a:latin typeface="Red Hat Mono Medium"/>
                <a:ea typeface="Red Hat Mono Medium"/>
                <a:cs typeface="Red Hat Mono Medium"/>
                <a:sym typeface="Red Hat Mono Medium"/>
              </a:rPr>
              <a:t>06 / THE GAP</a:t>
            </a:r>
            <a:endParaRPr sz="950" b="0" i="0" u="none" strike="noStrike" cap="none">
              <a:solidFill>
                <a:schemeClr val="dk1"/>
              </a:solidFill>
              <a:latin typeface="Calibri"/>
              <a:ea typeface="Calibri"/>
              <a:cs typeface="Calibri"/>
              <a:sym typeface="Calibri"/>
            </a:endParaRPr>
          </a:p>
        </p:txBody>
      </p:sp>
      <p:sp>
        <p:nvSpPr>
          <p:cNvPr id="149" name="Google Shape;149;p14"/>
          <p:cNvSpPr/>
          <p:nvPr/>
        </p:nvSpPr>
        <p:spPr>
          <a:xfrm>
            <a:off x="495300" y="1529242"/>
            <a:ext cx="2495550" cy="2383334"/>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MODELS ARE</a:t>
            </a:r>
            <a:endParaRPr sz="5100" b="0" i="0" u="none" strike="noStrike" cap="none">
              <a:solidFill>
                <a:schemeClr val="dk1"/>
              </a:solidFill>
              <a:latin typeface="Calibri"/>
              <a:ea typeface="Calibri"/>
              <a:cs typeface="Calibri"/>
              <a:sym typeface="Calibri"/>
            </a:endParaRPr>
          </a:p>
          <a:p>
            <a:pPr marL="0" marR="0" lvl="0" indent="0" algn="l" rtl="0">
              <a:lnSpc>
                <a:spcPct val="77000"/>
              </a:lnSpc>
              <a:spcBef>
                <a:spcPts val="0"/>
              </a:spcBef>
              <a:spcAft>
                <a:spcPts val="0"/>
              </a:spcAft>
              <a:buClr>
                <a:srgbClr val="000000"/>
              </a:buClr>
              <a:buSzPts val="5100"/>
              <a:buFont typeface="Big Shoulders ExtraBold"/>
              <a:buNone/>
            </a:pPr>
            <a:r>
              <a:rPr lang="en-US" sz="5100" b="0" i="0" u="none" strike="noStrike" cap="none">
                <a:solidFill>
                  <a:srgbClr val="000000"/>
                </a:solidFill>
                <a:latin typeface="Big Shoulders ExtraBold"/>
                <a:ea typeface="Big Shoulders ExtraBold"/>
                <a:cs typeface="Big Shoulders ExtraBold"/>
                <a:sym typeface="Big Shoulders ExtraBold"/>
              </a:rPr>
              <a:t>NOT ENOUGH.</a:t>
            </a:r>
            <a:endParaRPr sz="5100" b="0" i="0" u="none" strike="noStrike" cap="none">
              <a:solidFill>
                <a:schemeClr val="dk1"/>
              </a:solidFill>
              <a:latin typeface="Calibri"/>
              <a:ea typeface="Calibri"/>
              <a:cs typeface="Calibri"/>
              <a:sym typeface="Calibri"/>
            </a:endParaRPr>
          </a:p>
        </p:txBody>
      </p:sp>
      <p:sp>
        <p:nvSpPr>
          <p:cNvPr id="150" name="Google Shape;150;p14"/>
          <p:cNvSpPr/>
          <p:nvPr/>
        </p:nvSpPr>
        <p:spPr>
          <a:xfrm>
            <a:off x="495300" y="4023494"/>
            <a:ext cx="2495550" cy="71995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350"/>
              <a:buFont typeface="Hanken Grotesk"/>
              <a:buNone/>
            </a:pPr>
            <a:r>
              <a:rPr lang="en-US" sz="1350" b="0" i="0" u="none" strike="noStrike" cap="none">
                <a:solidFill>
                  <a:srgbClr val="000000"/>
                </a:solidFill>
                <a:latin typeface="Hanken Grotesk"/>
                <a:ea typeface="Hanken Grotesk"/>
                <a:cs typeface="Hanken Grotesk"/>
                <a:sym typeface="Hanken Grotesk"/>
              </a:rPr>
              <a:t>A usable platform must connect evidence, comparison and explanation.</a:t>
            </a:r>
            <a:endParaRPr sz="1350" b="0" i="0" u="none" strike="noStrike" cap="none">
              <a:solidFill>
                <a:schemeClr val="dk1"/>
              </a:solidFill>
              <a:latin typeface="Calibri"/>
              <a:ea typeface="Calibri"/>
              <a:cs typeface="Calibri"/>
              <a:sym typeface="Calibri"/>
            </a:endParaRPr>
          </a:p>
        </p:txBody>
      </p:sp>
      <p:sp>
        <p:nvSpPr>
          <p:cNvPr id="151" name="Google Shape;151;p14"/>
          <p:cNvSpPr/>
          <p:nvPr/>
        </p:nvSpPr>
        <p:spPr>
          <a:xfrm>
            <a:off x="3714750" y="359747"/>
            <a:ext cx="4933950" cy="43428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RESEARCH GAP</a:t>
            </a:r>
            <a:endParaRPr sz="3600" b="0" i="0" u="none" strike="noStrike" cap="none">
              <a:solidFill>
                <a:schemeClr val="dk1"/>
              </a:solidFill>
              <a:latin typeface="Calibri"/>
              <a:ea typeface="Calibri"/>
              <a:cs typeface="Calibri"/>
              <a:sym typeface="Calibri"/>
            </a:endParaRPr>
          </a:p>
        </p:txBody>
      </p:sp>
      <p:sp>
        <p:nvSpPr>
          <p:cNvPr id="152" name="Google Shape;152;p14"/>
          <p:cNvSpPr/>
          <p:nvPr/>
        </p:nvSpPr>
        <p:spPr>
          <a:xfrm>
            <a:off x="3714750" y="929580"/>
            <a:ext cx="5391150"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What existing studies leave unresolved</a:t>
            </a:r>
            <a:endParaRPr sz="950" b="0" i="0" u="none" strike="noStrike" cap="none">
              <a:solidFill>
                <a:schemeClr val="dk1"/>
              </a:solidFill>
              <a:latin typeface="Calibri"/>
              <a:ea typeface="Calibri"/>
              <a:cs typeface="Calibri"/>
              <a:sym typeface="Calibri"/>
            </a:endParaRPr>
          </a:p>
        </p:txBody>
      </p:sp>
      <p:sp>
        <p:nvSpPr>
          <p:cNvPr id="153" name="Google Shape;153;p14"/>
          <p:cNvSpPr/>
          <p:nvPr/>
        </p:nvSpPr>
        <p:spPr>
          <a:xfrm>
            <a:off x="3714750" y="1179612"/>
            <a:ext cx="4933950" cy="1765622"/>
          </a:xfrm>
          <a:prstGeom prst="rect">
            <a:avLst/>
          </a:prstGeom>
          <a:noFill/>
          <a:ln>
            <a:noFill/>
          </a:ln>
        </p:spPr>
        <p:txBody>
          <a:bodyPr spcFirstLastPara="1" wrap="square" lIns="0" tIns="0" rIns="0" bIns="0" anchor="t" anchorCtr="0">
            <a:noAutofit/>
          </a:bodyPr>
          <a:lstStyle/>
          <a:p>
            <a:pPr marL="274320" marR="0" lvl="0" indent="-274320" algn="l" rtl="0">
              <a:lnSpc>
                <a:spcPct val="117000"/>
              </a:lnSpc>
              <a:spcBef>
                <a:spcPts val="0"/>
              </a:spcBef>
              <a:spcAft>
                <a:spcPts val="0"/>
              </a:spcAft>
              <a:buClr>
                <a:srgbClr val="16171D"/>
              </a:buClr>
              <a:buSzPts val="1350"/>
              <a:buFont typeface="Calibri"/>
              <a:buAutoNum type="arabicPeriod"/>
            </a:pPr>
            <a:r>
              <a:rPr lang="en-US" sz="1350" b="1" i="0" u="none" strike="noStrike" cap="none">
                <a:solidFill>
                  <a:srgbClr val="16171D"/>
                </a:solidFill>
                <a:latin typeface="Hanken Grotesk"/>
                <a:ea typeface="Hanken Grotesk"/>
                <a:cs typeface="Hanken Grotesk"/>
                <a:sym typeface="Hanken Grotesk"/>
              </a:rPr>
              <a:t>Deployment:</a:t>
            </a:r>
            <a:r>
              <a:rPr lang="en-US" sz="1350" b="0" i="0" u="none" strike="noStrike" cap="none">
                <a:solidFill>
                  <a:srgbClr val="16171D"/>
                </a:solidFill>
                <a:latin typeface="Hanken Grotesk"/>
                <a:ea typeface="Hanken Grotesk"/>
                <a:cs typeface="Hanken Grotesk"/>
                <a:sym typeface="Hanken Grotesk"/>
              </a:rPr>
              <a:t> all reviewed studies stop at model training and evaluation; none delivers a deployable dashboard for a non-technical retail investor.</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16171D"/>
              </a:buClr>
              <a:buSzPts val="1350"/>
              <a:buFont typeface="Calibri"/>
              <a:buAutoNum type="arabicPeriod"/>
            </a:pPr>
            <a:r>
              <a:rPr lang="en-US" sz="1350" b="1" i="0" u="none" strike="noStrike" cap="none">
                <a:solidFill>
                  <a:srgbClr val="16171D"/>
                </a:solidFill>
                <a:latin typeface="Hanken Grotesk"/>
                <a:ea typeface="Hanken Grotesk"/>
                <a:cs typeface="Hanken Grotesk"/>
                <a:sym typeface="Hanken Grotesk"/>
              </a:rPr>
              <a:t>Comparison:</a:t>
            </a:r>
            <a:r>
              <a:rPr lang="en-US" sz="1350" b="0" i="0" u="none" strike="noStrike" cap="none">
                <a:solidFill>
                  <a:srgbClr val="16171D"/>
                </a:solidFill>
                <a:latin typeface="Hanken Grotesk"/>
                <a:ea typeface="Hanken Grotesk"/>
                <a:cs typeface="Hanken Grotesk"/>
                <a:sym typeface="Hanken Grotesk"/>
              </a:rPr>
              <a:t> most studies use a single model or stock, so cross-model and cross-sector comparison is not possible.</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16171D"/>
              </a:buClr>
              <a:buSzPts val="1350"/>
              <a:buFont typeface="Calibri"/>
              <a:buAutoNum type="arabicPeriod"/>
            </a:pPr>
            <a:r>
              <a:rPr lang="en-US" sz="1350" b="1" i="0" u="none" strike="noStrike" cap="none">
                <a:solidFill>
                  <a:srgbClr val="16171D"/>
                </a:solidFill>
                <a:latin typeface="Hanken Grotesk"/>
                <a:ea typeface="Hanken Grotesk"/>
                <a:cs typeface="Hanken Grotesk"/>
                <a:sym typeface="Hanken Grotesk"/>
              </a:rPr>
              <a:t>Trust:</a:t>
            </a:r>
            <a:r>
              <a:rPr lang="en-US" sz="1350" b="0" i="0" u="none" strike="noStrike" cap="none">
                <a:solidFill>
                  <a:srgbClr val="16171D"/>
                </a:solidFill>
                <a:latin typeface="Hanken Grotesk"/>
                <a:ea typeface="Hanken Grotesk"/>
                <a:cs typeface="Hanken Grotesk"/>
                <a:sym typeface="Hanken Grotesk"/>
              </a:rPr>
              <a:t> existing AI tools are black boxes, with no explanation of their signals.</a:t>
            </a:r>
            <a:endParaRPr sz="1350" b="0" i="0" u="none" strike="noStrike" cap="none">
              <a:solidFill>
                <a:schemeClr val="dk1"/>
              </a:solidFill>
              <a:latin typeface="Calibri"/>
              <a:ea typeface="Calibri"/>
              <a:cs typeface="Calibri"/>
              <a:sym typeface="Calibri"/>
            </a:endParaRPr>
          </a:p>
        </p:txBody>
      </p:sp>
      <p:sp>
        <p:nvSpPr>
          <p:cNvPr id="154" name="Google Shape;154;p14"/>
          <p:cNvSpPr/>
          <p:nvPr/>
        </p:nvSpPr>
        <p:spPr>
          <a:xfrm>
            <a:off x="3714750" y="3082156"/>
            <a:ext cx="4933950" cy="38026"/>
          </a:xfrm>
          <a:prstGeom prst="roundRect">
            <a:avLst>
              <a:gd name="adj" fmla="val 49999"/>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4"/>
          <p:cNvSpPr/>
          <p:nvPr/>
        </p:nvSpPr>
        <p:spPr>
          <a:xfrm>
            <a:off x="3714750" y="3316709"/>
            <a:ext cx="4933950" cy="71995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50"/>
              <a:buFont typeface="Hanken Grotesk"/>
              <a:buNone/>
            </a:pPr>
            <a:r>
              <a:rPr lang="en-US" sz="1350" b="1" i="0" u="none" strike="noStrike" cap="none">
                <a:solidFill>
                  <a:srgbClr val="16171D"/>
                </a:solidFill>
                <a:latin typeface="Hanken Grotesk"/>
                <a:ea typeface="Hanken Grotesk"/>
                <a:cs typeface="Hanken Grotesk"/>
                <a:sym typeface="Hanken Grotesk"/>
              </a:rPr>
              <a:t>This project:</a:t>
            </a:r>
            <a:r>
              <a:rPr lang="en-US" sz="1350" b="0" i="0" u="none" strike="noStrike" cap="none">
                <a:solidFill>
                  <a:srgbClr val="16171D"/>
                </a:solidFill>
                <a:latin typeface="Hanken Grotesk"/>
                <a:ea typeface="Hanken Grotesk"/>
                <a:cs typeface="Hanken Grotesk"/>
                <a:sym typeface="Hanken Grotesk"/>
              </a:rPr>
              <a:t> Gradient Boosting, ARIMA and LSTM compared across three sectors on one live, explainable, deployable platform.</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5"/>
          <p:cNvSpPr/>
          <p:nvPr/>
        </p:nvSpPr>
        <p:spPr>
          <a:xfrm>
            <a:off x="0" y="0"/>
            <a:ext cx="3962400" cy="5189041"/>
          </a:xfrm>
          <a:prstGeom prst="rect">
            <a:avLst/>
          </a:prstGeom>
          <a:noFill/>
          <a:ln w="9525" cap="flat" cmpd="sng">
            <a:solidFill>
              <a:srgbClr val="FBFAF6">
                <a:alpha val="2196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2" name="Google Shape;162;p15" descr="preencoded.png"/>
          <p:cNvPicPr preferRelativeResize="0"/>
          <p:nvPr/>
        </p:nvPicPr>
        <p:blipFill rotWithShape="1">
          <a:blip r:embed="rId3">
            <a:alphaModFix/>
          </a:blip>
          <a:srcRect/>
          <a:stretch/>
        </p:blipFill>
        <p:spPr>
          <a:xfrm>
            <a:off x="0" y="0"/>
            <a:ext cx="3962400" cy="5189041"/>
          </a:xfrm>
          <a:prstGeom prst="rect">
            <a:avLst/>
          </a:prstGeom>
          <a:noFill/>
          <a:ln>
            <a:noFill/>
          </a:ln>
        </p:spPr>
      </p:pic>
      <p:sp>
        <p:nvSpPr>
          <p:cNvPr id="163" name="Google Shape;163;p15"/>
          <p:cNvSpPr/>
          <p:nvPr/>
        </p:nvSpPr>
        <p:spPr>
          <a:xfrm>
            <a:off x="4324350" y="381000"/>
            <a:ext cx="478155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07 / SYSTEM DESIGN</a:t>
            </a:r>
            <a:endParaRPr sz="950" b="0" i="0" u="none" strike="noStrike" cap="none">
              <a:solidFill>
                <a:schemeClr val="dk1"/>
              </a:solidFill>
              <a:latin typeface="Calibri"/>
              <a:ea typeface="Calibri"/>
              <a:cs typeface="Calibri"/>
              <a:sym typeface="Calibri"/>
            </a:endParaRPr>
          </a:p>
        </p:txBody>
      </p:sp>
      <p:sp>
        <p:nvSpPr>
          <p:cNvPr id="164" name="Google Shape;164;p15"/>
          <p:cNvSpPr/>
          <p:nvPr/>
        </p:nvSpPr>
        <p:spPr>
          <a:xfrm>
            <a:off x="4324350" y="640735"/>
            <a:ext cx="4324350" cy="43428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SYSTEM ARCHITECTURE</a:t>
            </a:r>
            <a:endParaRPr sz="3600" b="0" i="0" u="none" strike="noStrike" cap="none">
              <a:solidFill>
                <a:schemeClr val="dk1"/>
              </a:solidFill>
              <a:latin typeface="Calibri"/>
              <a:ea typeface="Calibri"/>
              <a:cs typeface="Calibri"/>
              <a:sym typeface="Calibri"/>
            </a:endParaRPr>
          </a:p>
        </p:txBody>
      </p:sp>
      <p:sp>
        <p:nvSpPr>
          <p:cNvPr id="165" name="Google Shape;165;p15"/>
          <p:cNvSpPr/>
          <p:nvPr/>
        </p:nvSpPr>
        <p:spPr>
          <a:xfrm>
            <a:off x="4324350" y="1210568"/>
            <a:ext cx="4324350" cy="309563"/>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Seven layers from market data to an explainable dashboard</a:t>
            </a:r>
            <a:endParaRPr sz="950" b="0" i="0" u="none" strike="noStrike" cap="none">
              <a:solidFill>
                <a:schemeClr val="dk1"/>
              </a:solidFill>
              <a:latin typeface="Calibri"/>
              <a:ea typeface="Calibri"/>
              <a:cs typeface="Calibri"/>
              <a:sym typeface="Calibri"/>
            </a:endParaRPr>
          </a:p>
        </p:txBody>
      </p:sp>
      <p:sp>
        <p:nvSpPr>
          <p:cNvPr id="166" name="Google Shape;166;p15"/>
          <p:cNvSpPr/>
          <p:nvPr/>
        </p:nvSpPr>
        <p:spPr>
          <a:xfrm>
            <a:off x="4324350" y="1701105"/>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4427190" y="1772543"/>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1</a:t>
            </a:r>
            <a:endParaRPr sz="1150" b="0" i="0" u="none" strike="noStrike" cap="none">
              <a:solidFill>
                <a:schemeClr val="dk1"/>
              </a:solidFill>
              <a:latin typeface="Calibri"/>
              <a:ea typeface="Calibri"/>
              <a:cs typeface="Calibri"/>
              <a:sym typeface="Calibri"/>
            </a:endParaRPr>
          </a:p>
        </p:txBody>
      </p:sp>
      <p:sp>
        <p:nvSpPr>
          <p:cNvPr id="168" name="Google Shape;168;p15"/>
          <p:cNvSpPr/>
          <p:nvPr/>
        </p:nvSpPr>
        <p:spPr>
          <a:xfrm>
            <a:off x="4743450" y="1734443"/>
            <a:ext cx="390525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L1 Data acquisition:</a:t>
            </a:r>
            <a:r>
              <a:rPr lang="en-US" sz="1200" b="0" i="0" u="none" strike="noStrike" cap="none">
                <a:solidFill>
                  <a:srgbClr val="16171D"/>
                </a:solidFill>
                <a:latin typeface="Hanken Grotesk"/>
                <a:ea typeface="Hanken Grotesk"/>
                <a:cs typeface="Hanken Grotesk"/>
                <a:sym typeface="Hanken Grotesk"/>
              </a:rPr>
              <a:t> yfinance; TVSMOTOR.NS, SOLARINDS.NS, HDFCBANK.NS.</a:t>
            </a:r>
            <a:endParaRPr sz="1200" b="0" i="0" u="none" strike="noStrike" cap="none">
              <a:solidFill>
                <a:schemeClr val="dk1"/>
              </a:solidFill>
              <a:latin typeface="Calibri"/>
              <a:ea typeface="Calibri"/>
              <a:cs typeface="Calibri"/>
              <a:sym typeface="Calibri"/>
            </a:endParaRPr>
          </a:p>
        </p:txBody>
      </p:sp>
      <p:sp>
        <p:nvSpPr>
          <p:cNvPr id="169" name="Google Shape;169;p15"/>
          <p:cNvSpPr/>
          <p:nvPr/>
        </p:nvSpPr>
        <p:spPr>
          <a:xfrm>
            <a:off x="4324350" y="2294483"/>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a:off x="4427190" y="2365921"/>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2</a:t>
            </a:r>
            <a:endParaRPr sz="1150" b="0" i="0" u="none" strike="noStrike" cap="none">
              <a:solidFill>
                <a:schemeClr val="dk1"/>
              </a:solidFill>
              <a:latin typeface="Calibri"/>
              <a:ea typeface="Calibri"/>
              <a:cs typeface="Calibri"/>
              <a:sym typeface="Calibri"/>
            </a:endParaRPr>
          </a:p>
        </p:txBody>
      </p:sp>
      <p:sp>
        <p:nvSpPr>
          <p:cNvPr id="171" name="Google Shape;171;p15"/>
          <p:cNvSpPr/>
          <p:nvPr/>
        </p:nvSpPr>
        <p:spPr>
          <a:xfrm>
            <a:off x="4743450" y="2327821"/>
            <a:ext cx="390525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L2–L3 Preparation:</a:t>
            </a:r>
            <a:r>
              <a:rPr lang="en-US" sz="1200" b="0" i="0" u="none" strike="noStrike" cap="none">
                <a:solidFill>
                  <a:srgbClr val="16171D"/>
                </a:solidFill>
                <a:latin typeface="Hanken Grotesk"/>
                <a:ea typeface="Hanken Grotesk"/>
                <a:cs typeface="Hanken Grotesk"/>
                <a:sym typeface="Hanken Grotesk"/>
              </a:rPr>
              <a:t> cleaning, 27 indicators and UP/DOWN labels.</a:t>
            </a:r>
            <a:endParaRPr sz="1200" b="0" i="0" u="none" strike="noStrike" cap="none">
              <a:solidFill>
                <a:schemeClr val="dk1"/>
              </a:solidFill>
              <a:latin typeface="Calibri"/>
              <a:ea typeface="Calibri"/>
              <a:cs typeface="Calibri"/>
              <a:sym typeface="Calibri"/>
            </a:endParaRPr>
          </a:p>
        </p:txBody>
      </p:sp>
      <p:sp>
        <p:nvSpPr>
          <p:cNvPr id="172" name="Google Shape;172;p15"/>
          <p:cNvSpPr/>
          <p:nvPr/>
        </p:nvSpPr>
        <p:spPr>
          <a:xfrm>
            <a:off x="4324350" y="2887861"/>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a:off x="4427190" y="2959298"/>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3</a:t>
            </a:r>
            <a:endParaRPr sz="1150" b="0" i="0" u="none" strike="noStrike" cap="none">
              <a:solidFill>
                <a:schemeClr val="dk1"/>
              </a:solidFill>
              <a:latin typeface="Calibri"/>
              <a:ea typeface="Calibri"/>
              <a:cs typeface="Calibri"/>
              <a:sym typeface="Calibri"/>
            </a:endParaRPr>
          </a:p>
        </p:txBody>
      </p:sp>
      <p:sp>
        <p:nvSpPr>
          <p:cNvPr id="174" name="Google Shape;174;p15"/>
          <p:cNvSpPr/>
          <p:nvPr/>
        </p:nvSpPr>
        <p:spPr>
          <a:xfrm>
            <a:off x="4743450" y="2921198"/>
            <a:ext cx="390525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L4 ML:</a:t>
            </a:r>
            <a:r>
              <a:rPr lang="en-US" sz="1200" b="0" i="0" u="none" strike="noStrike" cap="none">
                <a:solidFill>
                  <a:srgbClr val="16171D"/>
                </a:solidFill>
                <a:latin typeface="Hanken Grotesk"/>
                <a:ea typeface="Hanken Grotesk"/>
                <a:cs typeface="Hanken Grotesk"/>
                <a:sym typeface="Hanken Grotesk"/>
              </a:rPr>
              <a:t> Gradient Boosting, ARIMA(3,1,1), LSTM and Linear Regression.</a:t>
            </a:r>
            <a:endParaRPr sz="1200" b="0" i="0" u="none" strike="noStrike" cap="none">
              <a:solidFill>
                <a:schemeClr val="dk1"/>
              </a:solidFill>
              <a:latin typeface="Calibri"/>
              <a:ea typeface="Calibri"/>
              <a:cs typeface="Calibri"/>
              <a:sym typeface="Calibri"/>
            </a:endParaRPr>
          </a:p>
        </p:txBody>
      </p:sp>
      <p:sp>
        <p:nvSpPr>
          <p:cNvPr id="175" name="Google Shape;175;p15"/>
          <p:cNvSpPr/>
          <p:nvPr/>
        </p:nvSpPr>
        <p:spPr>
          <a:xfrm>
            <a:off x="4324350" y="3481239"/>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4427190" y="3552676"/>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4</a:t>
            </a:r>
            <a:endParaRPr sz="1150" b="0" i="0" u="none" strike="noStrike" cap="none">
              <a:solidFill>
                <a:schemeClr val="dk1"/>
              </a:solidFill>
              <a:latin typeface="Calibri"/>
              <a:ea typeface="Calibri"/>
              <a:cs typeface="Calibri"/>
              <a:sym typeface="Calibri"/>
            </a:endParaRPr>
          </a:p>
        </p:txBody>
      </p:sp>
      <p:sp>
        <p:nvSpPr>
          <p:cNvPr id="177" name="Google Shape;177;p15"/>
          <p:cNvSpPr/>
          <p:nvPr/>
        </p:nvSpPr>
        <p:spPr>
          <a:xfrm>
            <a:off x="4743450" y="3514576"/>
            <a:ext cx="390525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L5 Evaluation:</a:t>
            </a:r>
            <a:r>
              <a:rPr lang="en-US" sz="1200" b="0" i="0" u="none" strike="noStrike" cap="none">
                <a:solidFill>
                  <a:srgbClr val="16171D"/>
                </a:solidFill>
                <a:latin typeface="Hanken Grotesk"/>
                <a:ea typeface="Hanken Grotesk"/>
                <a:cs typeface="Hanken Grotesk"/>
                <a:sym typeface="Hanken Grotesk"/>
              </a:rPr>
              <a:t> Accuracy, F1, AUC, RMSE, MAPE, AIC and backtest.</a:t>
            </a:r>
            <a:endParaRPr sz="1200" b="0" i="0" u="none" strike="noStrike" cap="none">
              <a:solidFill>
                <a:schemeClr val="dk1"/>
              </a:solidFill>
              <a:latin typeface="Calibri"/>
              <a:ea typeface="Calibri"/>
              <a:cs typeface="Calibri"/>
              <a:sym typeface="Calibri"/>
            </a:endParaRPr>
          </a:p>
        </p:txBody>
      </p:sp>
      <p:sp>
        <p:nvSpPr>
          <p:cNvPr id="178" name="Google Shape;178;p15"/>
          <p:cNvSpPr/>
          <p:nvPr/>
        </p:nvSpPr>
        <p:spPr>
          <a:xfrm>
            <a:off x="4324350" y="4074616"/>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p:nvPr/>
        </p:nvSpPr>
        <p:spPr>
          <a:xfrm>
            <a:off x="4427190" y="414605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5</a:t>
            </a:r>
            <a:endParaRPr sz="1150" b="0" i="0" u="none" strike="noStrike" cap="none">
              <a:solidFill>
                <a:schemeClr val="dk1"/>
              </a:solidFill>
              <a:latin typeface="Calibri"/>
              <a:ea typeface="Calibri"/>
              <a:cs typeface="Calibri"/>
              <a:sym typeface="Calibri"/>
            </a:endParaRPr>
          </a:p>
        </p:txBody>
      </p:sp>
      <p:sp>
        <p:nvSpPr>
          <p:cNvPr id="180" name="Google Shape;180;p15"/>
          <p:cNvSpPr/>
          <p:nvPr/>
        </p:nvSpPr>
        <p:spPr>
          <a:xfrm>
            <a:off x="4743450" y="4107954"/>
            <a:ext cx="3905250" cy="21334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L6 Explainability:</a:t>
            </a:r>
            <a:r>
              <a:rPr lang="en-US" sz="1200" b="0" i="0" u="none" strike="noStrike" cap="none">
                <a:solidFill>
                  <a:srgbClr val="16171D"/>
                </a:solidFill>
                <a:latin typeface="Hanken Grotesk"/>
                <a:ea typeface="Hanken Grotesk"/>
                <a:cs typeface="Hanken Grotesk"/>
                <a:sym typeface="Hanken Grotesk"/>
              </a:rPr>
              <a:t> SHAP TreeExplainer.</a:t>
            </a:r>
            <a:endParaRPr sz="1200" b="0" i="0" u="none" strike="noStrike" cap="none">
              <a:solidFill>
                <a:schemeClr val="dk1"/>
              </a:solidFill>
              <a:latin typeface="Calibri"/>
              <a:ea typeface="Calibri"/>
              <a:cs typeface="Calibri"/>
              <a:sym typeface="Calibri"/>
            </a:endParaRPr>
          </a:p>
        </p:txBody>
      </p:sp>
      <p:sp>
        <p:nvSpPr>
          <p:cNvPr id="181" name="Google Shape;181;p15"/>
          <p:cNvSpPr/>
          <p:nvPr/>
        </p:nvSpPr>
        <p:spPr>
          <a:xfrm>
            <a:off x="4324350" y="4493716"/>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5"/>
          <p:cNvSpPr/>
          <p:nvPr/>
        </p:nvSpPr>
        <p:spPr>
          <a:xfrm>
            <a:off x="4427190" y="4565154"/>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50"/>
              <a:buFont typeface="Hanken Grotesk"/>
              <a:buNone/>
            </a:pPr>
            <a:r>
              <a:rPr lang="en-US" sz="1150" b="1" i="0" u="none" strike="noStrike" cap="none">
                <a:solidFill>
                  <a:srgbClr val="FFFFFF"/>
                </a:solidFill>
                <a:latin typeface="Hanken Grotesk"/>
                <a:ea typeface="Hanken Grotesk"/>
                <a:cs typeface="Hanken Grotesk"/>
                <a:sym typeface="Hanken Grotesk"/>
              </a:rPr>
              <a:t>6</a:t>
            </a:r>
            <a:endParaRPr sz="1150" b="0" i="0" u="none" strike="noStrike" cap="none">
              <a:solidFill>
                <a:schemeClr val="dk1"/>
              </a:solidFill>
              <a:latin typeface="Calibri"/>
              <a:ea typeface="Calibri"/>
              <a:cs typeface="Calibri"/>
              <a:sym typeface="Calibri"/>
            </a:endParaRPr>
          </a:p>
        </p:txBody>
      </p:sp>
      <p:sp>
        <p:nvSpPr>
          <p:cNvPr id="183" name="Google Shape;183;p15"/>
          <p:cNvSpPr/>
          <p:nvPr/>
        </p:nvSpPr>
        <p:spPr>
          <a:xfrm>
            <a:off x="4743450" y="4527054"/>
            <a:ext cx="3905250" cy="21334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L7 Presentation:</a:t>
            </a:r>
            <a:r>
              <a:rPr lang="en-US" sz="1200" b="0" i="0" u="none" strike="noStrike" cap="none">
                <a:solidFill>
                  <a:srgbClr val="16171D"/>
                </a:solidFill>
                <a:latin typeface="Hanken Grotesk"/>
                <a:ea typeface="Hanken Grotesk"/>
                <a:cs typeface="Hanken Grotesk"/>
                <a:sym typeface="Hanken Grotesk"/>
              </a:rPr>
              <a:t> Streamlit + Plotly dashboard.</a:t>
            </a:r>
            <a:endParaRPr sz="1200" b="0" i="0" u="none" strike="noStrike" cap="none">
              <a:solidFill>
                <a:schemeClr val="dk1"/>
              </a:solidFill>
              <a:latin typeface="Calibri"/>
              <a:ea typeface="Calibri"/>
              <a:cs typeface="Calibri"/>
              <a:sym typeface="Calibri"/>
            </a:endParaRPr>
          </a:p>
        </p:txBody>
      </p:sp>
      <p:sp>
        <p:nvSpPr>
          <p:cNvPr id="184" name="Google Shape;184;p15"/>
          <p:cNvSpPr/>
          <p:nvPr/>
        </p:nvSpPr>
        <p:spPr>
          <a:xfrm>
            <a:off x="4324350" y="2223046"/>
            <a:ext cx="432435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5"/>
          <p:cNvSpPr/>
          <p:nvPr/>
        </p:nvSpPr>
        <p:spPr>
          <a:xfrm>
            <a:off x="4324350" y="2816423"/>
            <a:ext cx="432435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p:nvPr/>
        </p:nvSpPr>
        <p:spPr>
          <a:xfrm>
            <a:off x="4324350" y="3409801"/>
            <a:ext cx="432435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p:nvPr/>
        </p:nvSpPr>
        <p:spPr>
          <a:xfrm>
            <a:off x="4324350" y="4003179"/>
            <a:ext cx="432435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5"/>
          <p:cNvSpPr/>
          <p:nvPr/>
        </p:nvSpPr>
        <p:spPr>
          <a:xfrm>
            <a:off x="4324350" y="4422279"/>
            <a:ext cx="4324350" cy="9525"/>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p:nvPr/>
        </p:nvSpPr>
        <p:spPr>
          <a:xfrm>
            <a:off x="495300" y="400050"/>
            <a:ext cx="86106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08 / DATA FOUNDATION</a:t>
            </a:r>
            <a:endParaRPr sz="950" b="0" i="0" u="none" strike="noStrike" cap="none">
              <a:solidFill>
                <a:schemeClr val="dk1"/>
              </a:solidFill>
              <a:latin typeface="Calibri"/>
              <a:ea typeface="Calibri"/>
              <a:cs typeface="Calibri"/>
              <a:sym typeface="Calibri"/>
            </a:endParaRPr>
          </a:p>
        </p:txBody>
      </p:sp>
      <p:sp>
        <p:nvSpPr>
          <p:cNvPr id="195" name="Google Shape;195;p16"/>
          <p:cNvSpPr/>
          <p:nvPr/>
        </p:nvSpPr>
        <p:spPr>
          <a:xfrm>
            <a:off x="495300" y="659785"/>
            <a:ext cx="8153400" cy="43428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DATASET DESCRIPTION</a:t>
            </a:r>
            <a:endParaRPr sz="3600" b="0" i="0" u="none" strike="noStrike" cap="none">
              <a:solidFill>
                <a:schemeClr val="dk1"/>
              </a:solidFill>
              <a:latin typeface="Calibri"/>
              <a:ea typeface="Calibri"/>
              <a:cs typeface="Calibri"/>
              <a:sym typeface="Calibri"/>
            </a:endParaRPr>
          </a:p>
        </p:txBody>
      </p:sp>
      <p:sp>
        <p:nvSpPr>
          <p:cNvPr id="196" name="Google Shape;196;p16"/>
          <p:cNvSpPr/>
          <p:nvPr/>
        </p:nvSpPr>
        <p:spPr>
          <a:xfrm>
            <a:off x="495300" y="1229618"/>
            <a:ext cx="8610600"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Yahoo Finance via yfinance · 2 Jan 2019 to 1 Oct 2026</a:t>
            </a:r>
            <a:endParaRPr sz="950" b="0" i="0" u="none" strike="noStrike" cap="none">
              <a:solidFill>
                <a:schemeClr val="dk1"/>
              </a:solidFill>
              <a:latin typeface="Calibri"/>
              <a:ea typeface="Calibri"/>
              <a:cs typeface="Calibri"/>
              <a:sym typeface="Calibri"/>
            </a:endParaRPr>
          </a:p>
        </p:txBody>
      </p:sp>
      <p:graphicFrame>
        <p:nvGraphicFramePr>
          <p:cNvPr id="197" name="Google Shape;197;p16"/>
          <p:cNvGraphicFramePr/>
          <p:nvPr/>
        </p:nvGraphicFramePr>
        <p:xfrm>
          <a:off x="495300" y="1517749"/>
          <a:ext cx="8153400" cy="1776175"/>
        </p:xfrm>
        <a:graphic>
          <a:graphicData uri="http://schemas.openxmlformats.org/drawingml/2006/table">
            <a:tbl>
              <a:tblPr>
                <a:noFill/>
                <a:tableStyleId>{3B8C08A0-D729-4379-9EE9-536BB95A4829}</a:tableStyleId>
              </a:tblPr>
              <a:tblGrid>
                <a:gridCol w="1304475">
                  <a:extLst>
                    <a:ext uri="{9D8B030D-6E8A-4147-A177-3AD203B41FA5}">
                      <a16:colId xmlns:a16="http://schemas.microsoft.com/office/drawing/2014/main" val="20000"/>
                    </a:ext>
                  </a:extLst>
                </a:gridCol>
                <a:gridCol w="1386025">
                  <a:extLst>
                    <a:ext uri="{9D8B030D-6E8A-4147-A177-3AD203B41FA5}">
                      <a16:colId xmlns:a16="http://schemas.microsoft.com/office/drawing/2014/main" val="20001"/>
                    </a:ext>
                  </a:extLst>
                </a:gridCol>
                <a:gridCol w="1223000">
                  <a:extLst>
                    <a:ext uri="{9D8B030D-6E8A-4147-A177-3AD203B41FA5}">
                      <a16:colId xmlns:a16="http://schemas.microsoft.com/office/drawing/2014/main" val="20002"/>
                    </a:ext>
                  </a:extLst>
                </a:gridCol>
                <a:gridCol w="733800">
                  <a:extLst>
                    <a:ext uri="{9D8B030D-6E8A-4147-A177-3AD203B41FA5}">
                      <a16:colId xmlns:a16="http://schemas.microsoft.com/office/drawing/2014/main" val="20003"/>
                    </a:ext>
                  </a:extLst>
                </a:gridCol>
                <a:gridCol w="1223000">
                  <a:extLst>
                    <a:ext uri="{9D8B030D-6E8A-4147-A177-3AD203B41FA5}">
                      <a16:colId xmlns:a16="http://schemas.microsoft.com/office/drawing/2014/main" val="20004"/>
                    </a:ext>
                  </a:extLst>
                </a:gridCol>
                <a:gridCol w="1223000">
                  <a:extLst>
                    <a:ext uri="{9D8B030D-6E8A-4147-A177-3AD203B41FA5}">
                      <a16:colId xmlns:a16="http://schemas.microsoft.com/office/drawing/2014/main" val="20005"/>
                    </a:ext>
                  </a:extLst>
                </a:gridCol>
                <a:gridCol w="1060100">
                  <a:extLst>
                    <a:ext uri="{9D8B030D-6E8A-4147-A177-3AD203B41FA5}">
                      <a16:colId xmlns:a16="http://schemas.microsoft.com/office/drawing/2014/main" val="20006"/>
                    </a:ext>
                  </a:extLst>
                </a:gridCol>
              </a:tblGrid>
              <a:tr h="3971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Stock</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NSE ticker</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Sector</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Rows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Avg close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Max close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Min close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38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TVS Motor</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TVSMOTOR.NS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Auto and EV</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1,919</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1,514.81</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4,466.20</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245.87</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622850">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Solar Industries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SOLARINDS.NS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Defence</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1,918</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6,000.66</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22,455.00</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837.29</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373325">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HDFC Bank</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HDFCBANK.NS</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Banking</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1,919</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713.61</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996.42</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350"/>
                        <a:buFont typeface="Hanken Grotesk"/>
                        <a:buNone/>
                      </a:pPr>
                      <a:r>
                        <a:rPr lang="en-US" sz="1350" u="none" strike="noStrike" cap="none">
                          <a:solidFill>
                            <a:srgbClr val="16171D"/>
                          </a:solidFill>
                          <a:latin typeface="Hanken Grotesk"/>
                          <a:ea typeface="Hanken Grotesk"/>
                          <a:cs typeface="Hanken Grotesk"/>
                          <a:sym typeface="Hanken Grotesk"/>
                        </a:rPr>
                        <a:t>Rs. 357.66</a:t>
                      </a:r>
                      <a:endParaRPr sz="135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98" name="Google Shape;198;p16"/>
          <p:cNvSpPr/>
          <p:nvPr/>
        </p:nvSpPr>
        <p:spPr>
          <a:xfrm>
            <a:off x="495300" y="3448720"/>
            <a:ext cx="3962400" cy="1276722"/>
          </a:xfrm>
          <a:prstGeom prst="rect">
            <a:avLst/>
          </a:prstGeom>
          <a:solidFill>
            <a:srgbClr val="EFED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a:off x="685800" y="3601120"/>
            <a:ext cx="35814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5,756 rows</a:t>
            </a:r>
            <a:endParaRPr sz="1400" b="0" i="0" u="none" strike="noStrike" cap="none">
              <a:solidFill>
                <a:schemeClr val="dk1"/>
              </a:solidFill>
              <a:latin typeface="Calibri"/>
              <a:ea typeface="Calibri"/>
              <a:cs typeface="Calibri"/>
              <a:sym typeface="Calibri"/>
            </a:endParaRPr>
          </a:p>
        </p:txBody>
      </p:sp>
      <p:sp>
        <p:nvSpPr>
          <p:cNvPr id="200" name="Google Shape;200;p16"/>
          <p:cNvSpPr/>
          <p:nvPr/>
        </p:nvSpPr>
        <p:spPr>
          <a:xfrm>
            <a:off x="685800" y="3933006"/>
            <a:ext cx="3581400"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Master dataset with zero missing values; auto_adjust=True handles splits, bonus and dividends.</a:t>
            </a:r>
            <a:endParaRPr sz="1200" b="0" i="0" u="none" strike="noStrike" cap="none">
              <a:solidFill>
                <a:schemeClr val="dk1"/>
              </a:solidFill>
              <a:latin typeface="Calibri"/>
              <a:ea typeface="Calibri"/>
              <a:cs typeface="Calibri"/>
              <a:sym typeface="Calibri"/>
            </a:endParaRPr>
          </a:p>
        </p:txBody>
      </p:sp>
      <p:sp>
        <p:nvSpPr>
          <p:cNvPr id="201" name="Google Shape;201;p16"/>
          <p:cNvSpPr/>
          <p:nvPr/>
        </p:nvSpPr>
        <p:spPr>
          <a:xfrm>
            <a:off x="4686300" y="3448720"/>
            <a:ext cx="3962400" cy="1276722"/>
          </a:xfrm>
          <a:prstGeom prst="rect">
            <a:avLst/>
          </a:prstGeom>
          <a:solidFill>
            <a:srgbClr val="EFED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p:nvPr/>
        </p:nvSpPr>
        <p:spPr>
          <a:xfrm>
            <a:off x="4876800" y="3601120"/>
            <a:ext cx="3581400"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Seven-plus years</a:t>
            </a:r>
            <a:endParaRPr sz="1400" b="0" i="0" u="none" strike="noStrike" cap="none">
              <a:solidFill>
                <a:schemeClr val="dk1"/>
              </a:solidFill>
              <a:latin typeface="Calibri"/>
              <a:ea typeface="Calibri"/>
              <a:cs typeface="Calibri"/>
              <a:sym typeface="Calibri"/>
            </a:endParaRPr>
          </a:p>
        </p:txBody>
      </p:sp>
      <p:sp>
        <p:nvSpPr>
          <p:cNvPr id="203" name="Google Shape;203;p16"/>
          <p:cNvSpPr/>
          <p:nvPr/>
        </p:nvSpPr>
        <p:spPr>
          <a:xfrm>
            <a:off x="4876800" y="3933006"/>
            <a:ext cx="358140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Includes the COVID crash, V-shaped recovery, 2021–22 bull run and 2023–24 correction.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7"/>
          <p:cNvSpPr/>
          <p:nvPr/>
        </p:nvSpPr>
        <p:spPr>
          <a:xfrm>
            <a:off x="495300" y="228600"/>
            <a:ext cx="8610600"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09 / EXPLORATORY DATA ANALYSIS</a:t>
            </a:r>
            <a:endParaRPr sz="950" b="0" i="0" u="none" strike="noStrike" cap="none">
              <a:solidFill>
                <a:schemeClr val="dk1"/>
              </a:solidFill>
              <a:latin typeface="Calibri"/>
              <a:ea typeface="Calibri"/>
              <a:cs typeface="Calibri"/>
              <a:sym typeface="Calibri"/>
            </a:endParaRPr>
          </a:p>
        </p:txBody>
      </p:sp>
      <p:sp>
        <p:nvSpPr>
          <p:cNvPr id="210" name="Google Shape;210;p17"/>
          <p:cNvSpPr/>
          <p:nvPr/>
        </p:nvSpPr>
        <p:spPr>
          <a:xfrm>
            <a:off x="495300" y="488335"/>
            <a:ext cx="8153400"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PRICE AND RETURNS REVEAL THREE DIFFERENT MARKET BEHAVIOURS</a:t>
            </a:r>
            <a:endParaRPr sz="3600" b="0" i="0" u="none" strike="noStrike" cap="none">
              <a:solidFill>
                <a:schemeClr val="dk1"/>
              </a:solidFill>
              <a:latin typeface="Calibri"/>
              <a:ea typeface="Calibri"/>
              <a:cs typeface="Calibri"/>
              <a:sym typeface="Calibri"/>
            </a:endParaRPr>
          </a:p>
        </p:txBody>
      </p:sp>
      <p:sp>
        <p:nvSpPr>
          <p:cNvPr id="211" name="Google Shape;211;p17"/>
          <p:cNvSpPr/>
          <p:nvPr/>
        </p:nvSpPr>
        <p:spPr>
          <a:xfrm>
            <a:off x="495300" y="1492448"/>
            <a:ext cx="8610600"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950"/>
              <a:buFont typeface="Red Hat Mono Medium"/>
              <a:buNone/>
            </a:pPr>
            <a:r>
              <a:rPr lang="en-US" sz="950" b="0" i="0" u="none" strike="noStrike" cap="none">
                <a:solidFill>
                  <a:srgbClr val="16171D"/>
                </a:solidFill>
                <a:latin typeface="Red Hat Mono Medium"/>
                <a:ea typeface="Red Hat Mono Medium"/>
                <a:cs typeface="Red Hat Mono Medium"/>
                <a:sym typeface="Red Hat Mono Medium"/>
              </a:rPr>
              <a:t>Closing price trend · cumulative return comparison · 2019–2026</a:t>
            </a:r>
            <a:endParaRPr sz="950" b="0" i="0" u="none" strike="noStrike" cap="none">
              <a:solidFill>
                <a:schemeClr val="dk1"/>
              </a:solidFill>
              <a:latin typeface="Calibri"/>
              <a:ea typeface="Calibri"/>
              <a:cs typeface="Calibri"/>
              <a:sym typeface="Calibri"/>
            </a:endParaRPr>
          </a:p>
        </p:txBody>
      </p:sp>
      <p:pic>
        <p:nvPicPr>
          <p:cNvPr id="212" name="Google Shape;212;p17" descr="preencoded.png"/>
          <p:cNvPicPr preferRelativeResize="0"/>
          <p:nvPr/>
        </p:nvPicPr>
        <p:blipFill rotWithShape="1">
          <a:blip r:embed="rId3">
            <a:alphaModFix/>
          </a:blip>
          <a:srcRect/>
          <a:stretch/>
        </p:blipFill>
        <p:spPr>
          <a:xfrm>
            <a:off x="495300" y="1742480"/>
            <a:ext cx="2712616" cy="1000051"/>
          </a:xfrm>
          <a:prstGeom prst="rect">
            <a:avLst/>
          </a:prstGeom>
          <a:noFill/>
          <a:ln>
            <a:noFill/>
          </a:ln>
        </p:spPr>
      </p:pic>
      <p:sp>
        <p:nvSpPr>
          <p:cNvPr id="213" name="Google Shape;213;p17"/>
          <p:cNvSpPr/>
          <p:nvPr/>
        </p:nvSpPr>
        <p:spPr>
          <a:xfrm>
            <a:off x="495300" y="2811587"/>
            <a:ext cx="3962400"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050"/>
              <a:buFont typeface="Hanken Grotesk"/>
              <a:buNone/>
            </a:pPr>
            <a:r>
              <a:rPr lang="en-US" sz="1050" b="0" i="0" u="none" strike="noStrike" cap="none">
                <a:solidFill>
                  <a:srgbClr val="4E5058"/>
                </a:solidFill>
                <a:latin typeface="Hanken Grotesk"/>
                <a:ea typeface="Hanken Grotesk"/>
                <a:cs typeface="Hanken Grotesk"/>
                <a:sym typeface="Hanken Grotesk"/>
              </a:rPr>
              <a:t>Closing price trend, 2019–2026</a:t>
            </a:r>
            <a:endParaRPr sz="1050" b="0" i="0" u="none" strike="noStrike" cap="none">
              <a:solidFill>
                <a:schemeClr val="dk1"/>
              </a:solidFill>
              <a:latin typeface="Calibri"/>
              <a:ea typeface="Calibri"/>
              <a:cs typeface="Calibri"/>
              <a:sym typeface="Calibri"/>
            </a:endParaRPr>
          </a:p>
        </p:txBody>
      </p:sp>
      <p:pic>
        <p:nvPicPr>
          <p:cNvPr id="214" name="Google Shape;214;p17" descr="preencoded.png"/>
          <p:cNvPicPr preferRelativeResize="0"/>
          <p:nvPr/>
        </p:nvPicPr>
        <p:blipFill rotWithShape="1">
          <a:blip r:embed="rId4">
            <a:alphaModFix/>
          </a:blip>
          <a:srcRect/>
          <a:stretch/>
        </p:blipFill>
        <p:spPr>
          <a:xfrm>
            <a:off x="4686300" y="1742480"/>
            <a:ext cx="2837036" cy="1000051"/>
          </a:xfrm>
          <a:prstGeom prst="rect">
            <a:avLst/>
          </a:prstGeom>
          <a:noFill/>
          <a:ln>
            <a:noFill/>
          </a:ln>
        </p:spPr>
      </p:pic>
      <p:sp>
        <p:nvSpPr>
          <p:cNvPr id="215" name="Google Shape;215;p17"/>
          <p:cNvSpPr/>
          <p:nvPr/>
        </p:nvSpPr>
        <p:spPr>
          <a:xfrm>
            <a:off x="4686300" y="2811587"/>
            <a:ext cx="3962400"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050"/>
              <a:buFont typeface="Hanken Grotesk"/>
              <a:buNone/>
            </a:pPr>
            <a:r>
              <a:rPr lang="en-US" sz="1050" b="0" i="0" u="none" strike="noStrike" cap="none">
                <a:solidFill>
                  <a:srgbClr val="4E5058"/>
                </a:solidFill>
                <a:latin typeface="Hanken Grotesk"/>
                <a:ea typeface="Hanken Grotesk"/>
                <a:cs typeface="Hanken Grotesk"/>
                <a:sym typeface="Hanken Grotesk"/>
              </a:rPr>
              <a:t>Cumulative return comparison</a:t>
            </a:r>
            <a:endParaRPr sz="1050" b="0" i="0" u="none" strike="noStrike" cap="none">
              <a:solidFill>
                <a:schemeClr val="dk1"/>
              </a:solidFill>
              <a:latin typeface="Calibri"/>
              <a:ea typeface="Calibri"/>
              <a:cs typeface="Calibri"/>
              <a:sym typeface="Calibri"/>
            </a:endParaRPr>
          </a:p>
        </p:txBody>
      </p:sp>
      <p:sp>
        <p:nvSpPr>
          <p:cNvPr id="216" name="Google Shape;216;p17"/>
          <p:cNvSpPr/>
          <p:nvPr/>
        </p:nvSpPr>
        <p:spPr>
          <a:xfrm>
            <a:off x="495300" y="3080147"/>
            <a:ext cx="1866900" cy="4799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50"/>
              <a:buFont typeface="Hanken Grotesk"/>
              <a:buNone/>
            </a:pPr>
            <a:r>
              <a:rPr lang="en-US" sz="1350" b="1" i="0" u="none" strike="noStrike" cap="none">
                <a:solidFill>
                  <a:srgbClr val="16171D"/>
                </a:solidFill>
                <a:latin typeface="Hanken Grotesk"/>
                <a:ea typeface="Hanken Grotesk"/>
                <a:cs typeface="Hanken Grotesk"/>
                <a:sym typeface="Hanken Grotesk"/>
              </a:rPr>
              <a:t>~2,000% · Solar Industries</a:t>
            </a:r>
            <a:endParaRPr sz="1350" b="0" i="0" u="none" strike="noStrike" cap="none">
              <a:solidFill>
                <a:schemeClr val="dk1"/>
              </a:solidFill>
              <a:latin typeface="Calibri"/>
              <a:ea typeface="Calibri"/>
              <a:cs typeface="Calibri"/>
              <a:sym typeface="Calibri"/>
            </a:endParaRPr>
          </a:p>
        </p:txBody>
      </p:sp>
      <p:sp>
        <p:nvSpPr>
          <p:cNvPr id="217" name="Google Shape;217;p17"/>
          <p:cNvSpPr/>
          <p:nvPr/>
        </p:nvSpPr>
        <p:spPr>
          <a:xfrm>
            <a:off x="495300" y="3660130"/>
            <a:ext cx="1866900"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Flat until 2023, then a sharp rise (defence spending push).</a:t>
            </a:r>
            <a:endParaRPr sz="1200" b="0" i="0" u="none" strike="noStrike" cap="none">
              <a:solidFill>
                <a:schemeClr val="dk1"/>
              </a:solidFill>
              <a:latin typeface="Calibri"/>
              <a:ea typeface="Calibri"/>
              <a:cs typeface="Calibri"/>
              <a:sym typeface="Calibri"/>
            </a:endParaRPr>
          </a:p>
        </p:txBody>
      </p:sp>
      <p:sp>
        <p:nvSpPr>
          <p:cNvPr id="218" name="Google Shape;218;p17"/>
          <p:cNvSpPr/>
          <p:nvPr/>
        </p:nvSpPr>
        <p:spPr>
          <a:xfrm>
            <a:off x="2705100" y="3080147"/>
            <a:ext cx="1866900"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50"/>
              <a:buFont typeface="Hanken Grotesk"/>
              <a:buNone/>
            </a:pPr>
            <a:r>
              <a:rPr lang="en-US" sz="1350" b="1" i="0" u="none" strike="noStrike" cap="none">
                <a:solidFill>
                  <a:srgbClr val="16171D"/>
                </a:solidFill>
                <a:latin typeface="Hanken Grotesk"/>
                <a:ea typeface="Hanken Grotesk"/>
                <a:cs typeface="Hanken Grotesk"/>
                <a:sym typeface="Hanken Grotesk"/>
              </a:rPr>
              <a:t>~650% · TVS Motor</a:t>
            </a:r>
            <a:endParaRPr sz="1350" b="0" i="0" u="none" strike="noStrike" cap="none">
              <a:solidFill>
                <a:schemeClr val="dk1"/>
              </a:solidFill>
              <a:latin typeface="Calibri"/>
              <a:ea typeface="Calibri"/>
              <a:cs typeface="Calibri"/>
              <a:sym typeface="Calibri"/>
            </a:endParaRPr>
          </a:p>
        </p:txBody>
      </p:sp>
      <p:sp>
        <p:nvSpPr>
          <p:cNvPr id="219" name="Google Shape;219;p17"/>
          <p:cNvSpPr/>
          <p:nvPr/>
        </p:nvSpPr>
        <p:spPr>
          <a:xfrm>
            <a:off x="2705100" y="3420145"/>
            <a:ext cx="1695450" cy="85338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Steady compounding from two-wheeler demand and EV adoption.</a:t>
            </a:r>
            <a:endParaRPr sz="1200" b="0" i="0" u="none" strike="noStrike" cap="none">
              <a:solidFill>
                <a:schemeClr val="dk1"/>
              </a:solidFill>
              <a:latin typeface="Calibri"/>
              <a:ea typeface="Calibri"/>
              <a:cs typeface="Calibri"/>
              <a:sym typeface="Calibri"/>
            </a:endParaRPr>
          </a:p>
        </p:txBody>
      </p:sp>
      <p:sp>
        <p:nvSpPr>
          <p:cNvPr id="220" name="Google Shape;220;p17"/>
          <p:cNvSpPr/>
          <p:nvPr/>
        </p:nvSpPr>
        <p:spPr>
          <a:xfrm>
            <a:off x="4743450" y="3080147"/>
            <a:ext cx="1866900"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50"/>
              <a:buFont typeface="Hanken Grotesk"/>
              <a:buNone/>
            </a:pPr>
            <a:r>
              <a:rPr lang="en-US" sz="1350" b="1" i="0" u="none" strike="noStrike" cap="none">
                <a:solidFill>
                  <a:srgbClr val="16171D"/>
                </a:solidFill>
                <a:latin typeface="Hanken Grotesk"/>
                <a:ea typeface="Hanken Grotesk"/>
                <a:cs typeface="Hanken Grotesk"/>
                <a:sym typeface="Hanken Grotesk"/>
              </a:rPr>
              <a:t>~50% · HDFC Bank</a:t>
            </a:r>
            <a:endParaRPr sz="1350" b="0" i="0" u="none" strike="noStrike" cap="none">
              <a:solidFill>
                <a:schemeClr val="dk1"/>
              </a:solidFill>
              <a:latin typeface="Calibri"/>
              <a:ea typeface="Calibri"/>
              <a:cs typeface="Calibri"/>
              <a:sym typeface="Calibri"/>
            </a:endParaRPr>
          </a:p>
        </p:txBody>
      </p:sp>
      <p:sp>
        <p:nvSpPr>
          <p:cNvPr id="221" name="Google Shape;221;p17"/>
          <p:cNvSpPr/>
          <p:nvPr/>
        </p:nvSpPr>
        <p:spPr>
          <a:xfrm>
            <a:off x="4743450" y="3420145"/>
            <a:ext cx="1695450"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Drawdown in 2023–24 after the HDFC merger.</a:t>
            </a:r>
            <a:endParaRPr sz="1200" b="0" i="0" u="none" strike="noStrike" cap="none">
              <a:solidFill>
                <a:schemeClr val="dk1"/>
              </a:solidFill>
              <a:latin typeface="Calibri"/>
              <a:ea typeface="Calibri"/>
              <a:cs typeface="Calibri"/>
              <a:sym typeface="Calibri"/>
            </a:endParaRPr>
          </a:p>
        </p:txBody>
      </p:sp>
      <p:sp>
        <p:nvSpPr>
          <p:cNvPr id="222" name="Google Shape;222;p17"/>
          <p:cNvSpPr/>
          <p:nvPr/>
        </p:nvSpPr>
        <p:spPr>
          <a:xfrm>
            <a:off x="6781800" y="3080147"/>
            <a:ext cx="1866900"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50"/>
              <a:buFont typeface="Hanken Grotesk"/>
              <a:buNone/>
            </a:pPr>
            <a:r>
              <a:rPr lang="en-US" sz="1350" b="1" i="0" u="none" strike="noStrike" cap="none">
                <a:solidFill>
                  <a:srgbClr val="16171D"/>
                </a:solidFill>
                <a:latin typeface="Hanken Grotesk"/>
                <a:ea typeface="Hanken Grotesk"/>
                <a:cs typeface="Hanken Grotesk"/>
                <a:sym typeface="Hanken Grotesk"/>
              </a:rPr>
              <a:t>Common shock</a:t>
            </a:r>
            <a:endParaRPr sz="1350" b="0" i="0" u="none" strike="noStrike" cap="none">
              <a:solidFill>
                <a:schemeClr val="dk1"/>
              </a:solidFill>
              <a:latin typeface="Calibri"/>
              <a:ea typeface="Calibri"/>
              <a:cs typeface="Calibri"/>
              <a:sym typeface="Calibri"/>
            </a:endParaRPr>
          </a:p>
        </p:txBody>
      </p:sp>
      <p:sp>
        <p:nvSpPr>
          <p:cNvPr id="223" name="Google Shape;223;p17"/>
          <p:cNvSpPr/>
          <p:nvPr/>
        </p:nvSpPr>
        <p:spPr>
          <a:xfrm>
            <a:off x="6781800" y="3420145"/>
            <a:ext cx="1866900"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March 2020 crash is the minimum price for all three stocks.</a:t>
            </a:r>
            <a:endParaRPr sz="1200" b="0" i="0" u="none" strike="noStrike" cap="none">
              <a:solidFill>
                <a:schemeClr val="dk1"/>
              </a:solidFill>
              <a:latin typeface="Calibri"/>
              <a:ea typeface="Calibri"/>
              <a:cs typeface="Calibri"/>
              <a:sym typeface="Calibri"/>
            </a:endParaRPr>
          </a:p>
        </p:txBody>
      </p:sp>
      <p:sp>
        <p:nvSpPr>
          <p:cNvPr id="224" name="Google Shape;224;p17"/>
          <p:cNvSpPr/>
          <p:nvPr/>
        </p:nvSpPr>
        <p:spPr>
          <a:xfrm>
            <a:off x="0" y="4395415"/>
            <a:ext cx="9144000" cy="748085"/>
          </a:xfrm>
          <a:prstGeom prst="rect">
            <a:avLst/>
          </a:prstGeom>
          <a:solidFill>
            <a:srgbClr val="FF8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7"/>
          <p:cNvSpPr/>
          <p:nvPr/>
        </p:nvSpPr>
        <p:spPr>
          <a:xfrm>
            <a:off x="495300" y="4509715"/>
            <a:ext cx="8153400" cy="481905"/>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650"/>
              <a:buFont typeface="Hanken Grotesk"/>
              <a:buNone/>
            </a:pPr>
            <a:r>
              <a:rPr lang="en-US" sz="1650" b="1" i="0" u="none" strike="noStrike" cap="none">
                <a:solidFill>
                  <a:srgbClr val="000000"/>
                </a:solidFill>
                <a:latin typeface="Hanken Grotesk"/>
                <a:ea typeface="Hanken Grotesk"/>
                <a:cs typeface="Hanken Grotesk"/>
                <a:sym typeface="Hanken Grotesk"/>
              </a:rPr>
              <a:t>EDA sets the modelling context: sector, volatility and market regime matter before any prediction is made.</a:t>
            </a:r>
            <a:endParaRPr sz="1650" b="0" i="0" u="none" strike="noStrike" cap="none">
              <a:solidFill>
                <a:schemeClr val="dk1"/>
              </a:solidFill>
              <a:latin typeface="Calibri"/>
              <a:ea typeface="Calibri"/>
              <a:cs typeface="Calibri"/>
              <a:sym typeface="Calibri"/>
            </a:endParaRPr>
          </a:p>
        </p:txBody>
      </p:sp>
      <p:sp>
        <p:nvSpPr>
          <p:cNvPr id="226" name="Google Shape;226;p17"/>
          <p:cNvSpPr/>
          <p:nvPr/>
        </p:nvSpPr>
        <p:spPr>
          <a:xfrm>
            <a:off x="2528888" y="3080147"/>
            <a:ext cx="9525" cy="1220019"/>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7"/>
          <p:cNvSpPr/>
          <p:nvPr/>
        </p:nvSpPr>
        <p:spPr>
          <a:xfrm>
            <a:off x="4567238" y="3080147"/>
            <a:ext cx="9525" cy="1220019"/>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7"/>
          <p:cNvSpPr/>
          <p:nvPr/>
        </p:nvSpPr>
        <p:spPr>
          <a:xfrm>
            <a:off x="6605587" y="3080147"/>
            <a:ext cx="9525" cy="1220019"/>
          </a:xfrm>
          <a:prstGeom prst="rect">
            <a:avLst/>
          </a:prstGeom>
          <a:solidFill>
            <a:srgbClr val="16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p:nvPr/>
        </p:nvSpPr>
        <p:spPr>
          <a:xfrm>
            <a:off x="381000" y="274439"/>
            <a:ext cx="8763015"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01 · EXPLORATORY DATA ANALYSIS</a:t>
            </a:r>
            <a:endParaRPr sz="1000" b="0" i="0" u="none" strike="noStrike" cap="none">
              <a:solidFill>
                <a:schemeClr val="dk1"/>
              </a:solidFill>
              <a:latin typeface="Calibri"/>
              <a:ea typeface="Calibri"/>
              <a:cs typeface="Calibri"/>
              <a:sym typeface="Calibri"/>
            </a:endParaRPr>
          </a:p>
        </p:txBody>
      </p:sp>
      <p:sp>
        <p:nvSpPr>
          <p:cNvPr id="235" name="Google Shape;235;p18"/>
          <p:cNvSpPr/>
          <p:nvPr/>
        </p:nvSpPr>
        <p:spPr>
          <a:xfrm>
            <a:off x="381000" y="532009"/>
            <a:ext cx="8382013"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700"/>
              <a:buFont typeface="Big Shoulders ExtraBold"/>
              <a:buNone/>
            </a:pPr>
            <a:r>
              <a:rPr lang="en-US" sz="2700" b="0" i="0" u="none" strike="noStrike" cap="none">
                <a:solidFill>
                  <a:srgbClr val="16171D"/>
                </a:solidFill>
                <a:latin typeface="Big Shoulders ExtraBold"/>
                <a:ea typeface="Big Shoulders ExtraBold"/>
                <a:cs typeface="Big Shoulders ExtraBold"/>
                <a:sym typeface="Big Shoulders ExtraBold"/>
              </a:rPr>
              <a:t>EXPLORATORY DATA ANALYSIS: VOLATILITY AND CORRELATION</a:t>
            </a:r>
            <a:endParaRPr sz="2700" b="0" i="0" u="none" strike="noStrike" cap="none">
              <a:solidFill>
                <a:schemeClr val="dk1"/>
              </a:solidFill>
              <a:latin typeface="Calibri"/>
              <a:ea typeface="Calibri"/>
              <a:cs typeface="Calibri"/>
              <a:sym typeface="Calibri"/>
            </a:endParaRPr>
          </a:p>
        </p:txBody>
      </p:sp>
      <p:sp>
        <p:nvSpPr>
          <p:cNvPr id="236" name="Google Shape;236;p18"/>
          <p:cNvSpPr/>
          <p:nvPr/>
        </p:nvSpPr>
        <p:spPr>
          <a:xfrm>
            <a:off x="381000" y="988412"/>
            <a:ext cx="8763015"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Daily returns reveal risk; closing prices reveal co-movement.</a:t>
            </a:r>
            <a:endParaRPr sz="1400" b="0" i="0" u="none" strike="noStrike" cap="none">
              <a:solidFill>
                <a:schemeClr val="dk1"/>
              </a:solidFill>
              <a:latin typeface="Calibri"/>
              <a:ea typeface="Calibri"/>
              <a:cs typeface="Calibri"/>
              <a:sym typeface="Calibri"/>
            </a:endParaRPr>
          </a:p>
        </p:txBody>
      </p:sp>
      <p:pic>
        <p:nvPicPr>
          <p:cNvPr id="237" name="Google Shape;237;p18" descr="preencoded.png"/>
          <p:cNvPicPr preferRelativeResize="0"/>
          <p:nvPr/>
        </p:nvPicPr>
        <p:blipFill rotWithShape="1">
          <a:blip r:embed="rId3">
            <a:alphaModFix/>
          </a:blip>
          <a:srcRect/>
          <a:stretch/>
        </p:blipFill>
        <p:spPr>
          <a:xfrm>
            <a:off x="381000" y="1382465"/>
            <a:ext cx="2857429" cy="949895"/>
          </a:xfrm>
          <a:prstGeom prst="rect">
            <a:avLst/>
          </a:prstGeom>
          <a:noFill/>
          <a:ln>
            <a:noFill/>
          </a:ln>
        </p:spPr>
      </p:pic>
      <p:sp>
        <p:nvSpPr>
          <p:cNvPr id="238" name="Google Shape;238;p18"/>
          <p:cNvSpPr/>
          <p:nvPr/>
        </p:nvSpPr>
        <p:spPr>
          <a:xfrm>
            <a:off x="381000" y="2404512"/>
            <a:ext cx="4076707"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0" i="0" u="none" strike="noStrike" cap="none">
                <a:solidFill>
                  <a:srgbClr val="4E5058"/>
                </a:solidFill>
                <a:latin typeface="Hanken Grotesk"/>
                <a:ea typeface="Hanken Grotesk"/>
                <a:cs typeface="Hanken Grotesk"/>
                <a:sym typeface="Hanken Grotesk"/>
              </a:rPr>
              <a:t>Daily return distribution</a:t>
            </a:r>
            <a:endParaRPr sz="1100" b="0" i="0" u="none" strike="noStrike" cap="none">
              <a:solidFill>
                <a:schemeClr val="dk1"/>
              </a:solidFill>
              <a:latin typeface="Calibri"/>
              <a:ea typeface="Calibri"/>
              <a:cs typeface="Calibri"/>
              <a:sym typeface="Calibri"/>
            </a:endParaRPr>
          </a:p>
        </p:txBody>
      </p:sp>
      <p:pic>
        <p:nvPicPr>
          <p:cNvPr id="239" name="Google Shape;239;p18" descr="preencoded.png"/>
          <p:cNvPicPr preferRelativeResize="0"/>
          <p:nvPr/>
        </p:nvPicPr>
        <p:blipFill rotWithShape="1">
          <a:blip r:embed="rId4">
            <a:alphaModFix/>
          </a:blip>
          <a:srcRect/>
          <a:stretch/>
        </p:blipFill>
        <p:spPr>
          <a:xfrm>
            <a:off x="4686308" y="1382465"/>
            <a:ext cx="1273565" cy="1142926"/>
          </a:xfrm>
          <a:prstGeom prst="rect">
            <a:avLst/>
          </a:prstGeom>
          <a:noFill/>
          <a:ln>
            <a:noFill/>
          </a:ln>
        </p:spPr>
      </p:pic>
      <p:sp>
        <p:nvSpPr>
          <p:cNvPr id="240" name="Google Shape;240;p18"/>
          <p:cNvSpPr/>
          <p:nvPr/>
        </p:nvSpPr>
        <p:spPr>
          <a:xfrm>
            <a:off x="4686308" y="2597542"/>
            <a:ext cx="4076707"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0" i="0" u="none" strike="noStrike" cap="none">
                <a:solidFill>
                  <a:srgbClr val="4E5058"/>
                </a:solidFill>
                <a:latin typeface="Hanken Grotesk"/>
                <a:ea typeface="Hanken Grotesk"/>
                <a:cs typeface="Hanken Grotesk"/>
                <a:sym typeface="Hanken Grotesk"/>
              </a:rPr>
              <a:t>Closing price correlation</a:t>
            </a:r>
            <a:endParaRPr sz="1100" b="0" i="0" u="none" strike="noStrike" cap="none">
              <a:solidFill>
                <a:schemeClr val="dk1"/>
              </a:solidFill>
              <a:latin typeface="Calibri"/>
              <a:ea typeface="Calibri"/>
              <a:cs typeface="Calibri"/>
              <a:sym typeface="Calibri"/>
            </a:endParaRPr>
          </a:p>
        </p:txBody>
      </p:sp>
      <p:graphicFrame>
        <p:nvGraphicFramePr>
          <p:cNvPr id="241" name="Google Shape;241;p18"/>
          <p:cNvGraphicFramePr/>
          <p:nvPr/>
        </p:nvGraphicFramePr>
        <p:xfrm>
          <a:off x="381000" y="2922538"/>
          <a:ext cx="8381925" cy="1536150"/>
        </p:xfrm>
        <a:graphic>
          <a:graphicData uri="http://schemas.openxmlformats.org/drawingml/2006/table">
            <a:tbl>
              <a:tblPr>
                <a:noFill/>
                <a:tableStyleId>{3B8C08A0-D729-4379-9EE9-536BB95A4829}</a:tableStyleId>
              </a:tblPr>
              <a:tblGrid>
                <a:gridCol w="2011625">
                  <a:extLst>
                    <a:ext uri="{9D8B030D-6E8A-4147-A177-3AD203B41FA5}">
                      <a16:colId xmlns:a16="http://schemas.microsoft.com/office/drawing/2014/main" val="20000"/>
                    </a:ext>
                  </a:extLst>
                </a:gridCol>
                <a:gridCol w="1508725">
                  <a:extLst>
                    <a:ext uri="{9D8B030D-6E8A-4147-A177-3AD203B41FA5}">
                      <a16:colId xmlns:a16="http://schemas.microsoft.com/office/drawing/2014/main" val="20001"/>
                    </a:ext>
                  </a:extLst>
                </a:gridCol>
                <a:gridCol w="1843975">
                  <a:extLst>
                    <a:ext uri="{9D8B030D-6E8A-4147-A177-3AD203B41FA5}">
                      <a16:colId xmlns:a16="http://schemas.microsoft.com/office/drawing/2014/main" val="20002"/>
                    </a:ext>
                  </a:extLst>
                </a:gridCol>
                <a:gridCol w="1508725">
                  <a:extLst>
                    <a:ext uri="{9D8B030D-6E8A-4147-A177-3AD203B41FA5}">
                      <a16:colId xmlns:a16="http://schemas.microsoft.com/office/drawing/2014/main" val="20003"/>
                    </a:ext>
                  </a:extLst>
                </a:gridCol>
                <a:gridCol w="1508875">
                  <a:extLst>
                    <a:ext uri="{9D8B030D-6E8A-4147-A177-3AD203B41FA5}">
                      <a16:colId xmlns:a16="http://schemas.microsoft.com/office/drawing/2014/main" val="20004"/>
                    </a:ext>
                  </a:extLst>
                </a:gridCol>
              </a:tblGrid>
              <a:tr h="39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Stock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Total return</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Daily volatility</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Max gain</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Max loss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38285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TVS Motor</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~650%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2.005%</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+14.04%</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-12.76%</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38285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Solar Industries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~2,000%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2.128%</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+11.62%</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-11.77%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3733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HDFC Bank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~50%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1.571%</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+11.60%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-12.61%</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42" name="Google Shape;242;p18"/>
          <p:cNvSpPr/>
          <p:nvPr/>
        </p:nvSpPr>
        <p:spPr>
          <a:xfrm>
            <a:off x="381000" y="4616618"/>
            <a:ext cx="8763015"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1" i="0" u="none" strike="noStrike" cap="none">
                <a:solidFill>
                  <a:srgbClr val="4E5058"/>
                </a:solidFill>
                <a:latin typeface="Hanken Grotesk"/>
                <a:ea typeface="Hanken Grotesk"/>
                <a:cs typeface="Hanken Grotesk"/>
                <a:sym typeface="Hanken Grotesk"/>
              </a:rPr>
              <a:t>HDFC Bank is the most stable; Solar Industries the most volatile.</a:t>
            </a:r>
            <a:r>
              <a:rPr lang="en-US" sz="1100" b="0" i="0" u="none" strike="noStrike" cap="none">
                <a:solidFill>
                  <a:srgbClr val="4E5058"/>
                </a:solidFill>
                <a:latin typeface="Hanken Grotesk"/>
                <a:ea typeface="Hanken Grotesk"/>
                <a:cs typeface="Hanken Grotesk"/>
                <a:sym typeface="Hanken Grotesk"/>
              </a:rPr>
              <a:t> TVS and Solar closing prices correlate at 0.97; HDFC is 0.72 to 0.75.</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p:nvPr/>
        </p:nvSpPr>
        <p:spPr>
          <a:xfrm>
            <a:off x="0" y="0"/>
            <a:ext cx="2438404" cy="51435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9" name="Google Shape;249;p19"/>
          <p:cNvSpPr/>
          <p:nvPr/>
        </p:nvSpPr>
        <p:spPr>
          <a:xfrm>
            <a:off x="457201" y="426839"/>
            <a:ext cx="1695452" cy="30956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02 · FEATURE ENGINEERING</a:t>
            </a:r>
            <a:endParaRPr sz="1000" b="0" i="0" u="none" strike="noStrike" cap="none">
              <a:solidFill>
                <a:schemeClr val="dk1"/>
              </a:solidFill>
              <a:latin typeface="Calibri"/>
              <a:ea typeface="Calibri"/>
              <a:cs typeface="Calibri"/>
              <a:sym typeface="Calibri"/>
            </a:endParaRPr>
          </a:p>
        </p:txBody>
      </p:sp>
      <p:sp>
        <p:nvSpPr>
          <p:cNvPr id="250" name="Google Shape;250;p19"/>
          <p:cNvSpPr/>
          <p:nvPr/>
        </p:nvSpPr>
        <p:spPr>
          <a:xfrm>
            <a:off x="457201" y="2449477"/>
            <a:ext cx="1695452" cy="981447"/>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8400"/>
              <a:buFont typeface="Big Shoulders ExtraBold"/>
              <a:buNone/>
            </a:pPr>
            <a:r>
              <a:rPr lang="en-US" sz="8400" b="0" i="0" u="none" strike="noStrike" cap="none">
                <a:solidFill>
                  <a:srgbClr val="000000"/>
                </a:solidFill>
                <a:latin typeface="Big Shoulders ExtraBold"/>
                <a:ea typeface="Big Shoulders ExtraBold"/>
                <a:cs typeface="Big Shoulders ExtraBold"/>
                <a:sym typeface="Big Shoulders ExtraBold"/>
              </a:rPr>
              <a:t>27</a:t>
            </a:r>
            <a:endParaRPr sz="8400" b="0" i="0" u="none" strike="noStrike" cap="none">
              <a:solidFill>
                <a:schemeClr val="dk1"/>
              </a:solidFill>
              <a:latin typeface="Calibri"/>
              <a:ea typeface="Calibri"/>
              <a:cs typeface="Calibri"/>
              <a:sym typeface="Calibri"/>
            </a:endParaRPr>
          </a:p>
        </p:txBody>
      </p:sp>
      <p:sp>
        <p:nvSpPr>
          <p:cNvPr id="251" name="Google Shape;251;p19"/>
          <p:cNvSpPr/>
          <p:nvPr/>
        </p:nvSpPr>
        <p:spPr>
          <a:xfrm>
            <a:off x="457201" y="3447316"/>
            <a:ext cx="1695452" cy="48190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700"/>
              <a:buFont typeface="Hanken Grotesk"/>
              <a:buNone/>
            </a:pPr>
            <a:r>
              <a:rPr lang="en-US" sz="1700" b="1" i="0" u="none" strike="noStrike" cap="none">
                <a:solidFill>
                  <a:srgbClr val="000000"/>
                </a:solidFill>
                <a:latin typeface="Hanken Grotesk"/>
                <a:ea typeface="Hanken Grotesk"/>
                <a:cs typeface="Hanken Grotesk"/>
                <a:sym typeface="Hanken Grotesk"/>
              </a:rPr>
              <a:t>technical indicators</a:t>
            </a:r>
            <a:endParaRPr sz="1700" b="0" i="0" u="none" strike="noStrike" cap="none">
              <a:solidFill>
                <a:schemeClr val="dk1"/>
              </a:solidFill>
              <a:latin typeface="Calibri"/>
              <a:ea typeface="Calibri"/>
              <a:cs typeface="Calibri"/>
              <a:sym typeface="Calibri"/>
            </a:endParaRPr>
          </a:p>
        </p:txBody>
      </p:sp>
      <p:sp>
        <p:nvSpPr>
          <p:cNvPr id="252" name="Google Shape;252;p19"/>
          <p:cNvSpPr/>
          <p:nvPr/>
        </p:nvSpPr>
        <p:spPr>
          <a:xfrm>
            <a:off x="457201" y="4043258"/>
            <a:ext cx="1695452" cy="71995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400"/>
              <a:buFont typeface="Hanken Grotesk"/>
              <a:buNone/>
            </a:pPr>
            <a:r>
              <a:rPr lang="en-US" sz="1400" b="0" i="0" u="none" strike="noStrike" cap="none">
                <a:solidFill>
                  <a:srgbClr val="000000"/>
                </a:solidFill>
                <a:latin typeface="Hanken Grotesk"/>
                <a:ea typeface="Hanken Grotesk"/>
                <a:cs typeface="Hanken Grotesk"/>
                <a:sym typeface="Hanken Grotesk"/>
              </a:rPr>
              <a:t>From raw OHLCV data to signals a model can learn.</a:t>
            </a:r>
            <a:endParaRPr sz="1400" b="0" i="0" u="none" strike="noStrike" cap="none">
              <a:solidFill>
                <a:schemeClr val="dk1"/>
              </a:solidFill>
              <a:latin typeface="Calibri"/>
              <a:ea typeface="Calibri"/>
              <a:cs typeface="Calibri"/>
              <a:sym typeface="Calibri"/>
            </a:endParaRPr>
          </a:p>
        </p:txBody>
      </p:sp>
      <p:graphicFrame>
        <p:nvGraphicFramePr>
          <p:cNvPr id="253" name="Google Shape;253;p19"/>
          <p:cNvGraphicFramePr/>
          <p:nvPr/>
        </p:nvGraphicFramePr>
        <p:xfrm>
          <a:off x="2724154" y="285750"/>
          <a:ext cx="6019775" cy="2831535"/>
        </p:xfrm>
        <a:graphic>
          <a:graphicData uri="http://schemas.openxmlformats.org/drawingml/2006/table">
            <a:tbl>
              <a:tblPr>
                <a:noFill/>
                <a:tableStyleId>{3B8C08A0-D729-4379-9EE9-536BB95A4829}</a:tableStyleId>
              </a:tblPr>
              <a:tblGrid>
                <a:gridCol w="937300">
                  <a:extLst>
                    <a:ext uri="{9D8B030D-6E8A-4147-A177-3AD203B41FA5}">
                      <a16:colId xmlns:a16="http://schemas.microsoft.com/office/drawing/2014/main" val="20000"/>
                    </a:ext>
                  </a:extLst>
                </a:gridCol>
                <a:gridCol w="5082475">
                  <a:extLst>
                    <a:ext uri="{9D8B030D-6E8A-4147-A177-3AD203B41FA5}">
                      <a16:colId xmlns:a16="http://schemas.microsoft.com/office/drawing/2014/main" val="20001"/>
                    </a:ext>
                  </a:extLst>
                </a:gridCol>
              </a:tblGrid>
              <a:tr h="33997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Category</a:t>
                      </a:r>
                      <a:endParaRPr sz="14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Features · purpose</a:t>
                      </a:r>
                      <a:endParaRPr sz="14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512400">
                <a:tc>
                  <a:txBody>
                    <a:bodyPr/>
                    <a:lstStyle/>
                    <a:p>
                      <a:pPr marL="0" marR="0" lvl="0" indent="0" algn="l" rtl="0">
                        <a:spcBef>
                          <a:spcPts val="0"/>
                        </a:spcBef>
                        <a:spcAft>
                          <a:spcPts val="0"/>
                        </a:spcAft>
                        <a:buClr>
                          <a:srgbClr val="16171D"/>
                        </a:buClr>
                        <a:buSzPts val="1200"/>
                        <a:buFont typeface="Hanken Grotesk"/>
                        <a:buNone/>
                      </a:pPr>
                      <a:r>
                        <a:rPr lang="en-US" sz="1200" b="1" u="none" strike="noStrike" cap="none">
                          <a:solidFill>
                            <a:srgbClr val="16171D"/>
                          </a:solidFill>
                          <a:latin typeface="Hanken Grotesk"/>
                          <a:ea typeface="Hanken Grotesk"/>
                          <a:cs typeface="Hanken Grotesk"/>
                          <a:sym typeface="Hanken Grotesk"/>
                        </a:rPr>
                        <a:t>Trend (5)</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MA50, MA200, Golden Cross, Price_vs_MA50, Price_vs_MA200 — Long and short-term trend direction</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512400">
                <a:tc>
                  <a:txBody>
                    <a:bodyPr/>
                    <a:lstStyle/>
                    <a:p>
                      <a:pPr marL="0" marR="0" lvl="0" indent="0" algn="l" rtl="0">
                        <a:spcBef>
                          <a:spcPts val="0"/>
                        </a:spcBef>
                        <a:spcAft>
                          <a:spcPts val="0"/>
                        </a:spcAft>
                        <a:buClr>
                          <a:srgbClr val="16171D"/>
                        </a:buClr>
                        <a:buSzPts val="1200"/>
                        <a:buFont typeface="Hanken Grotesk"/>
                        <a:buNone/>
                      </a:pPr>
                      <a:r>
                        <a:rPr lang="en-US" sz="1200" b="1" u="none" strike="noStrike" cap="none">
                          <a:solidFill>
                            <a:srgbClr val="16171D"/>
                          </a:solidFill>
                          <a:latin typeface="Hanken Grotesk"/>
                          <a:ea typeface="Hanken Grotesk"/>
                          <a:cs typeface="Hanken Grotesk"/>
                          <a:sym typeface="Hanken Grotesk"/>
                        </a:rPr>
                        <a:t>Momentum (7)</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RSI(14), RSI Overbought/Oversold, MACD, Signal, Histogram, MACD Positive — Speed and strength of price moves</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512400">
                <a:tc>
                  <a:txBody>
                    <a:bodyPr/>
                    <a:lstStyle/>
                    <a:p>
                      <a:pPr marL="0" marR="0" lvl="0" indent="0" algn="l" rtl="0">
                        <a:spcBef>
                          <a:spcPts val="0"/>
                        </a:spcBef>
                        <a:spcAft>
                          <a:spcPts val="0"/>
                        </a:spcAft>
                        <a:buClr>
                          <a:srgbClr val="16171D"/>
                        </a:buClr>
                        <a:buSzPts val="1200"/>
                        <a:buFont typeface="Hanken Grotesk"/>
                        <a:buNone/>
                      </a:pPr>
                      <a:r>
                        <a:rPr lang="en-US" sz="1200" b="1" u="none" strike="noStrike" cap="none">
                          <a:solidFill>
                            <a:srgbClr val="16171D"/>
                          </a:solidFill>
                          <a:latin typeface="Hanken Grotesk"/>
                          <a:ea typeface="Hanken Grotesk"/>
                          <a:cs typeface="Hanken Grotesk"/>
                          <a:sym typeface="Hanken Grotesk"/>
                        </a:rPr>
                        <a:t>Volatility (7)</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Bollinger Upper/Mid/Lower, BB Width, BB Position, Volatility 5d and 10d — Volatility regime and price extremes</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r h="512400">
                <a:tc>
                  <a:txBody>
                    <a:bodyPr/>
                    <a:lstStyle/>
                    <a:p>
                      <a:pPr marL="0" marR="0" lvl="0" indent="0" algn="l" rtl="0">
                        <a:spcBef>
                          <a:spcPts val="0"/>
                        </a:spcBef>
                        <a:spcAft>
                          <a:spcPts val="0"/>
                        </a:spcAft>
                        <a:buClr>
                          <a:srgbClr val="16171D"/>
                        </a:buClr>
                        <a:buSzPts val="1200"/>
                        <a:buFont typeface="Hanken Grotesk"/>
                        <a:buNone/>
                      </a:pPr>
                      <a:r>
                        <a:rPr lang="en-US" sz="1200" b="1" u="none" strike="noStrike" cap="none">
                          <a:solidFill>
                            <a:srgbClr val="16171D"/>
                          </a:solidFill>
                          <a:latin typeface="Hanken Grotesk"/>
                          <a:ea typeface="Hanken Grotesk"/>
                          <a:cs typeface="Hanken Grotesk"/>
                          <a:sym typeface="Hanken Grotesk"/>
                        </a:rPr>
                        <a:t>Volume (3)</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Volume MA(20), Volume Ratio, Volume Spike (ratio &gt; 1.5) — Conviction behind moves</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4"/>
                  </a:ext>
                </a:extLst>
              </a:tr>
              <a:tr h="289525">
                <a:tc>
                  <a:txBody>
                    <a:bodyPr/>
                    <a:lstStyle/>
                    <a:p>
                      <a:pPr marL="0" marR="0" lvl="0" indent="0" algn="l" rtl="0">
                        <a:spcBef>
                          <a:spcPts val="0"/>
                        </a:spcBef>
                        <a:spcAft>
                          <a:spcPts val="0"/>
                        </a:spcAft>
                        <a:buClr>
                          <a:srgbClr val="16171D"/>
                        </a:buClr>
                        <a:buSzPts val="1200"/>
                        <a:buFont typeface="Hanken Grotesk"/>
                        <a:buNone/>
                      </a:pPr>
                      <a:r>
                        <a:rPr lang="en-US" sz="1200" b="1" u="none" strike="noStrike" cap="none">
                          <a:solidFill>
                            <a:srgbClr val="16171D"/>
                          </a:solidFill>
                          <a:latin typeface="Hanken Grotesk"/>
                          <a:ea typeface="Hanken Grotesk"/>
                          <a:cs typeface="Hanken Grotesk"/>
                          <a:sym typeface="Hanken Grotesk"/>
                        </a:rPr>
                        <a:t>Return (5)</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Daily Return, Return 1d, 3d, 5d, 10d — Momentum across time horizons</a:t>
                      </a:r>
                      <a:endParaRPr sz="1200" u="none" strike="noStrike" cap="none">
                        <a:latin typeface="Hanken Grotesk"/>
                        <a:ea typeface="Hanken Grotesk"/>
                        <a:cs typeface="Hanken Grotesk"/>
                        <a:sym typeface="Hanken Grotesk"/>
                      </a:endParaRPr>
                    </a:p>
                  </a:txBody>
                  <a:tcPr marL="76200" marR="76200" marT="38100" marB="38100"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4" name="Google Shape;254;p19"/>
          <p:cNvSpPr/>
          <p:nvPr/>
        </p:nvSpPr>
        <p:spPr>
          <a:xfrm>
            <a:off x="2724154" y="3119973"/>
            <a:ext cx="6019810"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1" i="0" u="none" strike="noStrike" cap="none">
                <a:solidFill>
                  <a:srgbClr val="16171D"/>
                </a:solidFill>
                <a:latin typeface="Hanken Grotesk"/>
                <a:ea typeface="Hanken Grotesk"/>
                <a:cs typeface="Hanken Grotesk"/>
                <a:sym typeface="Hanken Grotesk"/>
              </a:rPr>
              <a:t>Price and volume:</a:t>
            </a:r>
            <a:r>
              <a:rPr lang="en-US" sz="1200" b="0" i="0" u="none" strike="noStrike" cap="none">
                <a:solidFill>
                  <a:srgbClr val="16171D"/>
                </a:solidFill>
                <a:latin typeface="Hanken Grotesk"/>
                <a:ea typeface="Hanken Grotesk"/>
                <a:cs typeface="Hanken Grotesk"/>
                <a:sym typeface="Hanken Grotesk"/>
              </a:rPr>
              <a:t> Five source columns become the model input. </a:t>
            </a:r>
            <a:r>
              <a:rPr lang="en-US" sz="1200" b="1" i="0" u="none" strike="noStrike" cap="none">
                <a:solidFill>
                  <a:srgbClr val="16171D"/>
                </a:solidFill>
                <a:latin typeface="Hanken Grotesk"/>
                <a:ea typeface="Hanken Grotesk"/>
                <a:cs typeface="Hanken Grotesk"/>
                <a:sym typeface="Hanken Grotesk"/>
              </a:rPr>
              <a:t>Indicators:</a:t>
            </a:r>
            <a:r>
              <a:rPr lang="en-US" sz="1200" b="0" i="0" u="none" strike="noStrike" cap="none">
                <a:solidFill>
                  <a:srgbClr val="16171D"/>
                </a:solidFill>
                <a:latin typeface="Hanken Grotesk"/>
                <a:ea typeface="Hanken Grotesk"/>
                <a:cs typeface="Hanken Grotesk"/>
                <a:sym typeface="Hanken Grotesk"/>
              </a:rPr>
              <a:t> Trend, momentum, volatility, volume and return features. </a:t>
            </a:r>
            <a:r>
              <a:rPr lang="en-US" sz="1200" b="1" i="0" u="none" strike="noStrike" cap="none">
                <a:solidFill>
                  <a:srgbClr val="16171D"/>
                </a:solidFill>
                <a:latin typeface="Hanken Grotesk"/>
                <a:ea typeface="Hanken Grotesk"/>
                <a:cs typeface="Hanken Grotesk"/>
                <a:sym typeface="Hanken Grotesk"/>
              </a:rPr>
              <a:t>Signal:</a:t>
            </a:r>
            <a:r>
              <a:rPr lang="en-US" sz="1200" b="0" i="0" u="none" strike="noStrike" cap="none">
                <a:solidFill>
                  <a:srgbClr val="16171D"/>
                </a:solidFill>
                <a:latin typeface="Hanken Grotesk"/>
                <a:ea typeface="Hanken Grotesk"/>
                <a:cs typeface="Hanken Grotesk"/>
                <a:sym typeface="Hanken Grotesk"/>
              </a:rPr>
              <a:t> Features support UP/DOWN classification and forecast models.</a:t>
            </a:r>
            <a:endParaRPr sz="1200" b="0" i="0" u="none" strike="noStrike" cap="none">
              <a:solidFill>
                <a:schemeClr val="dk1"/>
              </a:solidFill>
              <a:latin typeface="Calibri"/>
              <a:ea typeface="Calibri"/>
              <a:cs typeface="Calibri"/>
              <a:sym typeface="Calibri"/>
            </a:endParaRPr>
          </a:p>
        </p:txBody>
      </p:sp>
      <p:sp>
        <p:nvSpPr>
          <p:cNvPr id="255" name="Google Shape;255;p19"/>
          <p:cNvSpPr/>
          <p:nvPr/>
        </p:nvSpPr>
        <p:spPr>
          <a:xfrm>
            <a:off x="2724154" y="3917648"/>
            <a:ext cx="6019810" cy="346621"/>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0" i="0" u="none" strike="noStrike" cap="none">
                <a:solidFill>
                  <a:srgbClr val="4E5058"/>
                </a:solidFill>
                <a:latin typeface="Hanken Grotesk"/>
                <a:ea typeface="Hanken Grotesk"/>
                <a:cs typeface="Hanken Grotesk"/>
                <a:sym typeface="Hanken Grotesk"/>
              </a:rPr>
              <a:t>RSI = 100 - 100/(1+RS); MACD = EMA(12) - EMA(26); Bollinger = 20-day SMA +/- 2 SD. The first 200 rows were dropped for MA200; RSI showed 15-20 in the March 2020 crash.</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0"/>
          <p:cNvSpPr/>
          <p:nvPr/>
        </p:nvSpPr>
        <p:spPr>
          <a:xfrm>
            <a:off x="342901" y="293489"/>
            <a:ext cx="4114807"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03 · PRIMARY CLASSIFIER</a:t>
            </a:r>
            <a:endParaRPr sz="1000" b="0" i="0" u="none" strike="noStrike" cap="none">
              <a:solidFill>
                <a:schemeClr val="dk1"/>
              </a:solidFill>
              <a:latin typeface="Calibri"/>
              <a:ea typeface="Calibri"/>
              <a:cs typeface="Calibri"/>
              <a:sym typeface="Calibri"/>
            </a:endParaRPr>
          </a:p>
        </p:txBody>
      </p:sp>
      <p:sp>
        <p:nvSpPr>
          <p:cNvPr id="262" name="Google Shape;262;p20"/>
          <p:cNvSpPr/>
          <p:nvPr/>
        </p:nvSpPr>
        <p:spPr>
          <a:xfrm>
            <a:off x="342901" y="567192"/>
            <a:ext cx="3829056"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MODEL 1: GRADIENT BOOSTING CLASSIFIER</a:t>
            </a:r>
            <a:endParaRPr sz="3600" b="0" i="0" u="none" strike="noStrike" cap="none">
              <a:solidFill>
                <a:schemeClr val="dk1"/>
              </a:solidFill>
              <a:latin typeface="Calibri"/>
              <a:ea typeface="Calibri"/>
              <a:cs typeface="Calibri"/>
              <a:sym typeface="Calibri"/>
            </a:endParaRPr>
          </a:p>
        </p:txBody>
      </p:sp>
      <p:sp>
        <p:nvSpPr>
          <p:cNvPr id="263" name="Google Shape;263;p20"/>
          <p:cNvSpPr/>
          <p:nvPr/>
        </p:nvSpPr>
        <p:spPr>
          <a:xfrm>
            <a:off x="342901" y="1550313"/>
            <a:ext cx="3829056" cy="4799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Sequential ensemble learning turns feature corrections into a directional signal.</a:t>
            </a:r>
            <a:endParaRPr sz="1400" b="0" i="0" u="none" strike="noStrike" cap="none">
              <a:solidFill>
                <a:schemeClr val="dk1"/>
              </a:solidFill>
              <a:latin typeface="Calibri"/>
              <a:ea typeface="Calibri"/>
              <a:cs typeface="Calibri"/>
              <a:sym typeface="Calibri"/>
            </a:endParaRPr>
          </a:p>
        </p:txBody>
      </p:sp>
      <p:graphicFrame>
        <p:nvGraphicFramePr>
          <p:cNvPr id="264" name="Google Shape;264;p20"/>
          <p:cNvGraphicFramePr/>
          <p:nvPr/>
        </p:nvGraphicFramePr>
        <p:xfrm>
          <a:off x="342901" y="2184350"/>
          <a:ext cx="3829025" cy="2202845"/>
        </p:xfrm>
        <a:graphic>
          <a:graphicData uri="http://schemas.openxmlformats.org/drawingml/2006/table">
            <a:tbl>
              <a:tblPr>
                <a:noFill/>
                <a:tableStyleId>{3B8C08A0-D729-4379-9EE9-536BB95A4829}</a:tableStyleId>
              </a:tblPr>
              <a:tblGrid>
                <a:gridCol w="918925">
                  <a:extLst>
                    <a:ext uri="{9D8B030D-6E8A-4147-A177-3AD203B41FA5}">
                      <a16:colId xmlns:a16="http://schemas.microsoft.com/office/drawing/2014/main" val="20000"/>
                    </a:ext>
                  </a:extLst>
                </a:gridCol>
                <a:gridCol w="2910100">
                  <a:extLst>
                    <a:ext uri="{9D8B030D-6E8A-4147-A177-3AD203B41FA5}">
                      <a16:colId xmlns:a16="http://schemas.microsoft.com/office/drawing/2014/main" val="20001"/>
                    </a:ext>
                  </a:extLst>
                </a:gridCol>
              </a:tblGrid>
              <a:tr h="39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Step</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Ensemble learning</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b="1" u="none" strike="noStrike" cap="none">
                          <a:solidFill>
                            <a:srgbClr val="16171D"/>
                          </a:solidFill>
                          <a:latin typeface="Hanken Grotesk"/>
                          <a:ea typeface="Hanken Grotesk"/>
                          <a:cs typeface="Hanken Grotesk"/>
                          <a:sym typeface="Hanken Grotesk"/>
                        </a:rPr>
                        <a:t>Start</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Train the first tree on the engineered indicators.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b="1" u="none" strike="noStrike" cap="none">
                          <a:solidFill>
                            <a:srgbClr val="16171D"/>
                          </a:solidFill>
                          <a:latin typeface="Hanken Grotesk"/>
                          <a:ea typeface="Hanken Grotesk"/>
                          <a:cs typeface="Hanken Grotesk"/>
                          <a:sym typeface="Hanken Grotesk"/>
                        </a:rPr>
                        <a:t>Correct</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Each tree corrects the errors of the previous one.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373325">
                <a:tc>
                  <a:txBody>
                    <a:bodyPr/>
                    <a:lstStyle/>
                    <a:p>
                      <a:pPr marL="0" marR="0" lvl="0" indent="0" algn="l" rtl="0">
                        <a:spcBef>
                          <a:spcPts val="0"/>
                        </a:spcBef>
                        <a:spcAft>
                          <a:spcPts val="0"/>
                        </a:spcAft>
                        <a:buClr>
                          <a:srgbClr val="16171D"/>
                        </a:buClr>
                        <a:buSzPts val="1400"/>
                        <a:buFont typeface="Hanken Grotesk"/>
                        <a:buNone/>
                      </a:pPr>
                      <a:r>
                        <a:rPr lang="en-US" sz="1400" b="1" u="none" strike="noStrike" cap="none">
                          <a:solidFill>
                            <a:srgbClr val="16171D"/>
                          </a:solidFill>
                          <a:latin typeface="Hanken Grotesk"/>
                          <a:ea typeface="Hanken Grotesk"/>
                          <a:cs typeface="Hanken Grotesk"/>
                          <a:sym typeface="Hanken Grotesk"/>
                        </a:rPr>
                        <a:t>Combine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300 trees create the final classifier.</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65" name="Google Shape;265;p20"/>
          <p:cNvSpPr/>
          <p:nvPr/>
        </p:nvSpPr>
        <p:spPr>
          <a:xfrm>
            <a:off x="342901" y="4355544"/>
            <a:ext cx="3829056"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Learning rate 0.05; max_depth=5; subsample=0.8; class_weight="balanced"; random_state=42. Each tree adds 5% of its correction.</a:t>
            </a:r>
            <a:endParaRPr sz="1200" b="0" i="0" u="none" strike="noStrike" cap="none">
              <a:solidFill>
                <a:schemeClr val="dk1"/>
              </a:solidFill>
              <a:latin typeface="Calibri"/>
              <a:ea typeface="Calibri"/>
              <a:cs typeface="Calibri"/>
              <a:sym typeface="Calibri"/>
            </a:endParaRPr>
          </a:p>
        </p:txBody>
      </p:sp>
      <p:sp>
        <p:nvSpPr>
          <p:cNvPr id="266" name="Google Shape;266;p20"/>
          <p:cNvSpPr/>
          <p:nvPr/>
        </p:nvSpPr>
        <p:spPr>
          <a:xfrm>
            <a:off x="4686308" y="0"/>
            <a:ext cx="4457707" cy="5204891"/>
          </a:xfrm>
          <a:prstGeom prst="rect">
            <a:avLst/>
          </a:prstGeom>
          <a:solidFill>
            <a:srgbClr val="EFEDE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7" name="Google Shape;267;p20"/>
          <p:cNvSpPr/>
          <p:nvPr/>
        </p:nvSpPr>
        <p:spPr>
          <a:xfrm>
            <a:off x="4972058" y="293489"/>
            <a:ext cx="4171957"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TARGET AND SPLIT</a:t>
            </a:r>
            <a:endParaRPr sz="1000" b="0" i="0" u="none" strike="noStrike" cap="none">
              <a:solidFill>
                <a:schemeClr val="dk1"/>
              </a:solidFill>
              <a:latin typeface="Calibri"/>
              <a:ea typeface="Calibri"/>
              <a:cs typeface="Calibri"/>
              <a:sym typeface="Calibri"/>
            </a:endParaRPr>
          </a:p>
        </p:txBody>
      </p:sp>
      <p:sp>
        <p:nvSpPr>
          <p:cNvPr id="268" name="Google Shape;268;p20"/>
          <p:cNvSpPr/>
          <p:nvPr/>
        </p:nvSpPr>
        <p:spPr>
          <a:xfrm>
            <a:off x="4972058" y="520090"/>
            <a:ext cx="3829056" cy="24095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700"/>
              <a:buFont typeface="Hanken Grotesk"/>
              <a:buNone/>
            </a:pPr>
            <a:r>
              <a:rPr lang="en-US" sz="1700" b="1" i="0" u="none" strike="noStrike" cap="none">
                <a:solidFill>
                  <a:srgbClr val="16171D"/>
                </a:solidFill>
                <a:latin typeface="Hanken Grotesk"/>
                <a:ea typeface="Hanken Grotesk"/>
                <a:cs typeface="Hanken Grotesk"/>
                <a:sym typeface="Hanken Grotesk"/>
              </a:rPr>
              <a:t>Chronological, leakage-free</a:t>
            </a:r>
            <a:endParaRPr sz="1700" b="0" i="0" u="none" strike="noStrike" cap="none">
              <a:solidFill>
                <a:schemeClr val="dk1"/>
              </a:solidFill>
              <a:latin typeface="Calibri"/>
              <a:ea typeface="Calibri"/>
              <a:cs typeface="Calibri"/>
              <a:sym typeface="Calibri"/>
            </a:endParaRPr>
          </a:p>
        </p:txBody>
      </p:sp>
      <p:sp>
        <p:nvSpPr>
          <p:cNvPr id="269" name="Google Shape;269;p20"/>
          <p:cNvSpPr/>
          <p:nvPr/>
        </p:nvSpPr>
        <p:spPr>
          <a:xfrm>
            <a:off x="4972058" y="874604"/>
            <a:ext cx="3829056"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UP (1) if the close 5 days later is higher; otherwise DOWN (0).</a:t>
            </a:r>
            <a:endParaRPr sz="1200" b="0" i="0" u="none" strike="noStrike" cap="none">
              <a:solidFill>
                <a:schemeClr val="dk1"/>
              </a:solidFill>
              <a:latin typeface="Calibri"/>
              <a:ea typeface="Calibri"/>
              <a:cs typeface="Calibri"/>
              <a:sym typeface="Calibri"/>
            </a:endParaRPr>
          </a:p>
        </p:txBody>
      </p:sp>
      <p:sp>
        <p:nvSpPr>
          <p:cNvPr id="270" name="Google Shape;270;p20"/>
          <p:cNvSpPr/>
          <p:nvPr/>
        </p:nvSpPr>
        <p:spPr>
          <a:xfrm>
            <a:off x="4972058" y="1456551"/>
            <a:ext cx="4171957"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70% train · 15% validation · 15% test</a:t>
            </a:r>
            <a:endParaRPr sz="1400" b="0" i="0" u="none" strike="noStrike" cap="none">
              <a:solidFill>
                <a:schemeClr val="dk1"/>
              </a:solidFill>
              <a:latin typeface="Calibri"/>
              <a:ea typeface="Calibri"/>
              <a:cs typeface="Calibri"/>
              <a:sym typeface="Calibri"/>
            </a:endParaRPr>
          </a:p>
        </p:txBody>
      </p:sp>
      <p:sp>
        <p:nvSpPr>
          <p:cNvPr id="271" name="Google Shape;271;p20"/>
          <p:cNvSpPr/>
          <p:nvPr/>
        </p:nvSpPr>
        <p:spPr>
          <a:xfrm>
            <a:off x="4972058" y="2001600"/>
            <a:ext cx="3829056" cy="24095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700"/>
              <a:buFont typeface="Hanken Grotesk"/>
              <a:buNone/>
            </a:pPr>
            <a:r>
              <a:rPr lang="en-US" sz="1700" b="1" i="0" u="none" strike="noStrike" cap="none">
                <a:solidFill>
                  <a:srgbClr val="16171D"/>
                </a:solidFill>
                <a:latin typeface="Hanken Grotesk"/>
                <a:ea typeface="Hanken Grotesk"/>
                <a:cs typeface="Hanken Grotesk"/>
                <a:sym typeface="Hanken Grotesk"/>
              </a:rPr>
              <a:t>Signal generation</a:t>
            </a:r>
            <a:endParaRPr sz="1700" b="0" i="0" u="none" strike="noStrike" cap="none">
              <a:solidFill>
                <a:schemeClr val="dk1"/>
              </a:solidFill>
              <a:latin typeface="Calibri"/>
              <a:ea typeface="Calibri"/>
              <a:cs typeface="Calibri"/>
              <a:sym typeface="Calibri"/>
            </a:endParaRPr>
          </a:p>
        </p:txBody>
      </p:sp>
      <p:graphicFrame>
        <p:nvGraphicFramePr>
          <p:cNvPr id="272" name="Google Shape;272;p20"/>
          <p:cNvGraphicFramePr/>
          <p:nvPr/>
        </p:nvGraphicFramePr>
        <p:xfrm>
          <a:off x="4972058" y="2355874"/>
          <a:ext cx="3829025" cy="1536150"/>
        </p:xfrm>
        <a:graphic>
          <a:graphicData uri="http://schemas.openxmlformats.org/drawingml/2006/table">
            <a:tbl>
              <a:tblPr>
                <a:noFill/>
                <a:tableStyleId>{3B8C08A0-D729-4379-9EE9-536BB95A4829}</a:tableStyleId>
              </a:tblPr>
              <a:tblGrid>
                <a:gridCol w="2105900">
                  <a:extLst>
                    <a:ext uri="{9D8B030D-6E8A-4147-A177-3AD203B41FA5}">
                      <a16:colId xmlns:a16="http://schemas.microsoft.com/office/drawing/2014/main" val="20000"/>
                    </a:ext>
                  </a:extLst>
                </a:gridCol>
                <a:gridCol w="1723125">
                  <a:extLst>
                    <a:ext uri="{9D8B030D-6E8A-4147-A177-3AD203B41FA5}">
                      <a16:colId xmlns:a16="http://schemas.microsoft.com/office/drawing/2014/main" val="20001"/>
                    </a:ext>
                  </a:extLst>
                </a:gridCol>
              </a:tblGrid>
              <a:tr h="39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UP probability</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EFEDE6"/>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Signal</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EFEDE6"/>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extLst>
                  <a:ext uri="{0D108BD9-81ED-4DB2-BD59-A6C34878D82A}">
                    <a16:rowId xmlns:a16="http://schemas.microsoft.com/office/drawing/2014/main" val="10000"/>
                  </a:ext>
                </a:extLst>
              </a:tr>
              <a:tr h="38285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&gt; 55%</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BUY</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extLst>
                  <a:ext uri="{0D108BD9-81ED-4DB2-BD59-A6C34878D82A}">
                    <a16:rowId xmlns:a16="http://schemas.microsoft.com/office/drawing/2014/main" val="10001"/>
                  </a:ext>
                </a:extLst>
              </a:tr>
              <a:tr h="38285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45% to 55%</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HOLD</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extLst>
                  <a:ext uri="{0D108BD9-81ED-4DB2-BD59-A6C34878D82A}">
                    <a16:rowId xmlns:a16="http://schemas.microsoft.com/office/drawing/2014/main" val="10002"/>
                  </a:ext>
                </a:extLst>
              </a:tr>
              <a:tr h="3733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&lt; 45%</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EFEDE6"/>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SELL</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EFEDE6"/>
                      </a:solidFill>
                      <a:prstDash val="solid"/>
                      <a:round/>
                      <a:headEnd type="none" w="sm" len="sm"/>
                      <a:tailEnd type="none" w="sm" len="sm"/>
                    </a:lnL>
                    <a:lnR w="12700" cap="flat" cmpd="sng">
                      <a:solidFill>
                        <a:srgbClr val="EFEDE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EFEDE6"/>
                      </a:solidFill>
                      <a:prstDash val="solid"/>
                      <a:round/>
                      <a:headEnd type="none" w="sm" len="sm"/>
                      <a:tailEnd type="none" w="sm" len="sm"/>
                    </a:lnB>
                    <a:solidFill>
                      <a:srgbClr val="EFEDE6"/>
                    </a:solidFill>
                  </a:tcPr>
                </a:tc>
                <a:extLst>
                  <a:ext uri="{0D108BD9-81ED-4DB2-BD59-A6C34878D82A}">
                    <a16:rowId xmlns:a16="http://schemas.microsoft.com/office/drawing/2014/main" val="10003"/>
                  </a:ext>
                </a:extLst>
              </a:tr>
            </a:tbl>
          </a:graphicData>
        </a:graphic>
      </p:graphicFrame>
      <p:sp>
        <p:nvSpPr>
          <p:cNvPr id="273" name="Google Shape;273;p20"/>
          <p:cNvSpPr/>
          <p:nvPr/>
        </p:nvSpPr>
        <p:spPr>
          <a:xfrm>
            <a:off x="4972058" y="4049956"/>
            <a:ext cx="3829056" cy="519931"/>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16171D"/>
              </a:buClr>
              <a:buSzPts val="1100"/>
              <a:buFont typeface="Hanken Grotesk"/>
              <a:buNone/>
            </a:pPr>
            <a:r>
              <a:rPr lang="en-US" sz="1100" b="0" i="0" u="none" strike="noStrike" cap="none">
                <a:solidFill>
                  <a:srgbClr val="16171D"/>
                </a:solidFill>
                <a:latin typeface="Hanken Grotesk"/>
                <a:ea typeface="Hanken Grotesk"/>
                <a:cs typeface="Hanken Grotesk"/>
                <a:sym typeface="Hanken Grotesk"/>
              </a:rPr>
              <a:t>Binary labels are near-balanced: TVS Motor 44.5% DOWN / 55.5% UP; Solar Industries 47.1% / 52.9%; HDFC Bank 47.6% / 52.4%.</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1"/>
          <p:cNvSpPr/>
          <p:nvPr/>
        </p:nvSpPr>
        <p:spPr>
          <a:xfrm>
            <a:off x="457201" y="369689"/>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04 · FORECAST MODELS</a:t>
            </a:r>
            <a:endParaRPr sz="1000" b="0" i="0" u="none" strike="noStrike" cap="none">
              <a:solidFill>
                <a:schemeClr val="dk1"/>
              </a:solidFill>
              <a:latin typeface="Calibri"/>
              <a:ea typeface="Calibri"/>
              <a:cs typeface="Calibri"/>
              <a:sym typeface="Calibri"/>
            </a:endParaRPr>
          </a:p>
        </p:txBody>
      </p:sp>
      <p:sp>
        <p:nvSpPr>
          <p:cNvPr id="280" name="Google Shape;280;p21"/>
          <p:cNvSpPr/>
          <p:nvPr/>
        </p:nvSpPr>
        <p:spPr>
          <a:xfrm>
            <a:off x="457201" y="643392"/>
            <a:ext cx="8229614"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MODELS 2, 3 AND 4: ARIMA, LSTM, LINEAR REGRESSION</a:t>
            </a:r>
            <a:endParaRPr sz="3600" b="0" i="0" u="none" strike="noStrike" cap="none">
              <a:solidFill>
                <a:schemeClr val="dk1"/>
              </a:solidFill>
              <a:latin typeface="Calibri"/>
              <a:ea typeface="Calibri"/>
              <a:cs typeface="Calibri"/>
              <a:sym typeface="Calibri"/>
            </a:endParaRPr>
          </a:p>
        </p:txBody>
      </p:sp>
      <p:sp>
        <p:nvSpPr>
          <p:cNvPr id="281" name="Google Shape;281;p21"/>
          <p:cNvSpPr/>
          <p:nvPr/>
        </p:nvSpPr>
        <p:spPr>
          <a:xfrm>
            <a:off x="457201" y="1626513"/>
            <a:ext cx="8686814"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Different horizons require different assumptions about price behaviour.</a:t>
            </a:r>
            <a:endParaRPr sz="1400" b="0" i="0" u="none" strike="noStrike" cap="none">
              <a:solidFill>
                <a:schemeClr val="dk1"/>
              </a:solidFill>
              <a:latin typeface="Calibri"/>
              <a:ea typeface="Calibri"/>
              <a:cs typeface="Calibri"/>
              <a:sym typeface="Calibri"/>
            </a:endParaRPr>
          </a:p>
        </p:txBody>
      </p:sp>
      <p:graphicFrame>
        <p:nvGraphicFramePr>
          <p:cNvPr id="282" name="Google Shape;282;p21"/>
          <p:cNvGraphicFramePr/>
          <p:nvPr/>
        </p:nvGraphicFramePr>
        <p:xfrm>
          <a:off x="457201" y="2020565"/>
          <a:ext cx="8229625" cy="3126605"/>
        </p:xfrm>
        <a:graphic>
          <a:graphicData uri="http://schemas.openxmlformats.org/drawingml/2006/table">
            <a:tbl>
              <a:tblPr>
                <a:noFill/>
                <a:tableStyleId>{3B8C08A0-D729-4379-9EE9-536BB95A4829}</a:tableStyleId>
              </a:tblPr>
              <a:tblGrid>
                <a:gridCol w="1645900">
                  <a:extLst>
                    <a:ext uri="{9D8B030D-6E8A-4147-A177-3AD203B41FA5}">
                      <a16:colId xmlns:a16="http://schemas.microsoft.com/office/drawing/2014/main" val="20000"/>
                    </a:ext>
                  </a:extLst>
                </a:gridCol>
                <a:gridCol w="1645900">
                  <a:extLst>
                    <a:ext uri="{9D8B030D-6E8A-4147-A177-3AD203B41FA5}">
                      <a16:colId xmlns:a16="http://schemas.microsoft.com/office/drawing/2014/main" val="20001"/>
                    </a:ext>
                  </a:extLst>
                </a:gridCol>
                <a:gridCol w="4937825">
                  <a:extLst>
                    <a:ext uri="{9D8B030D-6E8A-4147-A177-3AD203B41FA5}">
                      <a16:colId xmlns:a16="http://schemas.microsoft.com/office/drawing/2014/main" val="20002"/>
                    </a:ext>
                  </a:extLst>
                </a:gridCol>
              </a:tblGrid>
              <a:tr h="39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Model</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Task / horizon</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Settings and evidence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ARIMA(3,1,1)</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7-day forecast</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Fitted on the last 200 days in the dashboard; AIC: 15,706 TVS; 21,584 Solar; 12,727 HDFC; reverts to mean beyond 7 days.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110277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LSTM</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Next-day price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60-day closing-price sequences, MinMax scaled; 2 LSTM layers, 50 units; dropout 0.2; Dense 25, Dense 1; Adam lr 0.001, batch 32, early stopping patience 5; stopped at 10 / 11 / 50 epochs.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853275">
                <a:tc>
                  <a:txBody>
                    <a:bodyPr/>
                    <a:lstStyle/>
                    <a:p>
                      <a:pPr marL="0" marR="0" lvl="0" indent="0" algn="l" rtl="0">
                        <a:spcBef>
                          <a:spcPts val="0"/>
                        </a:spcBef>
                        <a:spcAft>
                          <a:spcPts val="0"/>
                        </a:spcAft>
                        <a:buClr>
                          <a:srgbClr val="000000"/>
                        </a:buClr>
                        <a:buSzPts val="1400"/>
                        <a:buFont typeface="Hanken Grotesk"/>
                        <a:buNone/>
                      </a:pPr>
                      <a:r>
                        <a:rPr lang="en-US" sz="1400" u="none" strike="noStrike" cap="none">
                          <a:solidFill>
                            <a:srgbClr val="000000"/>
                          </a:solidFill>
                          <a:latin typeface="Hanken Grotesk"/>
                          <a:ea typeface="Hanken Grotesk"/>
                          <a:cs typeface="Hanken Grotesk"/>
                          <a:sym typeface="Hanken Grotesk"/>
                        </a:rPr>
                        <a:t>Linear Regression</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F8424"/>
                      </a:solidFill>
                      <a:prstDash val="solid"/>
                      <a:round/>
                      <a:headEnd type="none" w="sm" len="sm"/>
                      <a:tailEnd type="none" w="sm" len="sm"/>
                    </a:lnL>
                    <a:lnR w="12700" cap="flat" cmpd="sng">
                      <a:solidFill>
                        <a:srgbClr val="FF8424"/>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F8424"/>
                      </a:solidFill>
                      <a:prstDash val="solid"/>
                      <a:round/>
                      <a:headEnd type="none" w="sm" len="sm"/>
                      <a:tailEnd type="none" w="sm" len="sm"/>
                    </a:lnB>
                    <a:solidFill>
                      <a:srgbClr val="FF8424"/>
                    </a:solidFill>
                  </a:tcPr>
                </a:tc>
                <a:tc>
                  <a:txBody>
                    <a:bodyPr/>
                    <a:lstStyle/>
                    <a:p>
                      <a:pPr marL="0" marR="0" lvl="0" indent="0" algn="l" rtl="0">
                        <a:spcBef>
                          <a:spcPts val="0"/>
                        </a:spcBef>
                        <a:spcAft>
                          <a:spcPts val="0"/>
                        </a:spcAft>
                        <a:buClr>
                          <a:srgbClr val="000000"/>
                        </a:buClr>
                        <a:buSzPts val="1400"/>
                        <a:buFont typeface="Hanken Grotesk"/>
                        <a:buNone/>
                      </a:pPr>
                      <a:r>
                        <a:rPr lang="en-US" sz="1400" u="none" strike="noStrike" cap="none">
                          <a:solidFill>
                            <a:srgbClr val="000000"/>
                          </a:solidFill>
                          <a:latin typeface="Hanken Grotesk"/>
                          <a:ea typeface="Hanken Grotesk"/>
                          <a:cs typeface="Hanken Grotesk"/>
                          <a:sym typeface="Hanken Grotesk"/>
                        </a:rPr>
                        <a:t>30-day trend</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F8424"/>
                      </a:solidFill>
                      <a:prstDash val="solid"/>
                      <a:round/>
                      <a:headEnd type="none" w="sm" len="sm"/>
                      <a:tailEnd type="none" w="sm" len="sm"/>
                    </a:lnL>
                    <a:lnR w="12700" cap="flat" cmpd="sng">
                      <a:solidFill>
                        <a:srgbClr val="FF8424"/>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F8424"/>
                      </a:solidFill>
                      <a:prstDash val="solid"/>
                      <a:round/>
                      <a:headEnd type="none" w="sm" len="sm"/>
                      <a:tailEnd type="none" w="sm" len="sm"/>
                    </a:lnB>
                    <a:solidFill>
                      <a:srgbClr val="FF8424"/>
                    </a:solidFill>
                  </a:tcPr>
                </a:tc>
                <a:tc>
                  <a:txBody>
                    <a:bodyPr/>
                    <a:lstStyle/>
                    <a:p>
                      <a:pPr marL="0" marR="0" lvl="0" indent="0" algn="l" rtl="0">
                        <a:spcBef>
                          <a:spcPts val="0"/>
                        </a:spcBef>
                        <a:spcAft>
                          <a:spcPts val="0"/>
                        </a:spcAft>
                        <a:buClr>
                          <a:srgbClr val="000000"/>
                        </a:buClr>
                        <a:buSzPts val="1400"/>
                        <a:buFont typeface="Hanken Grotesk"/>
                        <a:buNone/>
                      </a:pPr>
                      <a:r>
                        <a:rPr lang="en-US" sz="1400" u="none" strike="noStrike" cap="none">
                          <a:solidFill>
                            <a:srgbClr val="000000"/>
                          </a:solidFill>
                          <a:latin typeface="Hanken Grotesk"/>
                          <a:ea typeface="Hanken Grotesk"/>
                          <a:cs typeface="Hanken Grotesk"/>
                          <a:sym typeface="Hanken Grotesk"/>
                        </a:rPr>
                        <a:t>Fitted on the last 90 trading days; confidence band widens from 1 to 3.5 volatility units; added because ARIMA is too flat for 30 days.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F8424"/>
                      </a:solidFill>
                      <a:prstDash val="solid"/>
                      <a:round/>
                      <a:headEnd type="none" w="sm" len="sm"/>
                      <a:tailEnd type="none" w="sm" len="sm"/>
                    </a:lnL>
                    <a:lnR w="12700" cap="flat" cmpd="sng">
                      <a:solidFill>
                        <a:srgbClr val="FF8424"/>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F8424"/>
                      </a:solidFill>
                      <a:prstDash val="solid"/>
                      <a:round/>
                      <a:headEnd type="none" w="sm" len="sm"/>
                      <a:tailEnd type="none" w="sm" len="sm"/>
                    </a:lnB>
                    <a:solidFill>
                      <a:srgbClr val="FF8424"/>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p:nvPr/>
        </p:nvSpPr>
        <p:spPr>
          <a:xfrm>
            <a:off x="457201" y="274439"/>
            <a:ext cx="5029208"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05 · CLASSIFICATION RESULTS</a:t>
            </a:r>
            <a:endParaRPr sz="1000" b="0" i="0" u="none" strike="noStrike" cap="none">
              <a:solidFill>
                <a:schemeClr val="dk1"/>
              </a:solidFill>
              <a:latin typeface="Calibri"/>
              <a:ea typeface="Calibri"/>
              <a:cs typeface="Calibri"/>
              <a:sym typeface="Calibri"/>
            </a:endParaRPr>
          </a:p>
        </p:txBody>
      </p:sp>
      <p:sp>
        <p:nvSpPr>
          <p:cNvPr id="289" name="Google Shape;289;p22"/>
          <p:cNvSpPr/>
          <p:nvPr/>
        </p:nvSpPr>
        <p:spPr>
          <a:xfrm>
            <a:off x="457201" y="548142"/>
            <a:ext cx="4724407"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RESULTS: GRADIENT BOOSTING EVALUATION</a:t>
            </a:r>
            <a:endParaRPr sz="3600" b="0" i="0" u="none" strike="noStrike" cap="none">
              <a:solidFill>
                <a:schemeClr val="dk1"/>
              </a:solidFill>
              <a:latin typeface="Calibri"/>
              <a:ea typeface="Calibri"/>
              <a:cs typeface="Calibri"/>
              <a:sym typeface="Calibri"/>
            </a:endParaRPr>
          </a:p>
        </p:txBody>
      </p:sp>
      <p:sp>
        <p:nvSpPr>
          <p:cNvPr id="290" name="Google Shape;290;p22"/>
          <p:cNvSpPr/>
          <p:nvPr/>
        </p:nvSpPr>
        <p:spPr>
          <a:xfrm>
            <a:off x="457201" y="1531263"/>
            <a:ext cx="4724407" cy="4799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The classifier finds a modest signal, with recall behaving differently across sectors.</a:t>
            </a:r>
            <a:endParaRPr sz="1400" b="0" i="0" u="none" strike="noStrike" cap="none">
              <a:solidFill>
                <a:schemeClr val="dk1"/>
              </a:solidFill>
              <a:latin typeface="Calibri"/>
              <a:ea typeface="Calibri"/>
              <a:cs typeface="Calibri"/>
              <a:sym typeface="Calibri"/>
            </a:endParaRPr>
          </a:p>
        </p:txBody>
      </p:sp>
      <p:graphicFrame>
        <p:nvGraphicFramePr>
          <p:cNvPr id="291" name="Google Shape;291;p22"/>
          <p:cNvGraphicFramePr/>
          <p:nvPr/>
        </p:nvGraphicFramePr>
        <p:xfrm>
          <a:off x="457201" y="2165300"/>
          <a:ext cx="4724325" cy="2433320"/>
        </p:xfrm>
        <a:graphic>
          <a:graphicData uri="http://schemas.openxmlformats.org/drawingml/2006/table">
            <a:tbl>
              <a:tblPr>
                <a:noFill/>
                <a:tableStyleId>{3B8C08A0-D729-4379-9EE9-536BB95A4829}</a:tableStyleId>
              </a:tblPr>
              <a:tblGrid>
                <a:gridCol w="1040300">
                  <a:extLst>
                    <a:ext uri="{9D8B030D-6E8A-4147-A177-3AD203B41FA5}">
                      <a16:colId xmlns:a16="http://schemas.microsoft.com/office/drawing/2014/main" val="20000"/>
                    </a:ext>
                  </a:extLst>
                </a:gridCol>
                <a:gridCol w="921075">
                  <a:extLst>
                    <a:ext uri="{9D8B030D-6E8A-4147-A177-3AD203B41FA5}">
                      <a16:colId xmlns:a16="http://schemas.microsoft.com/office/drawing/2014/main" val="20001"/>
                    </a:ext>
                  </a:extLst>
                </a:gridCol>
                <a:gridCol w="895200">
                  <a:extLst>
                    <a:ext uri="{9D8B030D-6E8A-4147-A177-3AD203B41FA5}">
                      <a16:colId xmlns:a16="http://schemas.microsoft.com/office/drawing/2014/main" val="20002"/>
                    </a:ext>
                  </a:extLst>
                </a:gridCol>
                <a:gridCol w="708925">
                  <a:extLst>
                    <a:ext uri="{9D8B030D-6E8A-4147-A177-3AD203B41FA5}">
                      <a16:colId xmlns:a16="http://schemas.microsoft.com/office/drawing/2014/main" val="20003"/>
                    </a:ext>
                  </a:extLst>
                </a:gridCol>
                <a:gridCol w="519700">
                  <a:extLst>
                    <a:ext uri="{9D8B030D-6E8A-4147-A177-3AD203B41FA5}">
                      <a16:colId xmlns:a16="http://schemas.microsoft.com/office/drawing/2014/main" val="20004"/>
                    </a:ext>
                  </a:extLst>
                </a:gridCol>
                <a:gridCol w="639125">
                  <a:extLst>
                    <a:ext uri="{9D8B030D-6E8A-4147-A177-3AD203B41FA5}">
                      <a16:colId xmlns:a16="http://schemas.microsoft.com/office/drawing/2014/main" val="20005"/>
                    </a:ext>
                  </a:extLst>
                </a:gridCol>
              </a:tblGrid>
              <a:tr h="63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Stock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Accuracy</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Precision (UP)</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Recall (UP)</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F1</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AUC</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38285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TVS Motor</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48.45%</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0.49</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0.77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0.60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0.567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Solar Industries</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52.33%</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0.54</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0.78</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0.64</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0.510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61330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HDFC Bank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53.49%</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0.41</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0.32</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0.36</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0.519</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92" name="Google Shape;292;p22"/>
          <p:cNvSpPr/>
          <p:nvPr/>
        </p:nvSpPr>
        <p:spPr>
          <a:xfrm>
            <a:off x="457201" y="4579337"/>
            <a:ext cx="4724407" cy="346621"/>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0" i="0" u="none" strike="noStrike" cap="none">
                <a:solidFill>
                  <a:srgbClr val="4E5058"/>
                </a:solidFill>
                <a:latin typeface="Hanken Grotesk"/>
                <a:ea typeface="Hanken Grotesk"/>
                <a:cs typeface="Hanken Grotesk"/>
                <a:sym typeface="Hanken Grotesk"/>
              </a:rPr>
              <a:t>Patel et al. (80%+) used a calmer pre-2015 period; recent post-2020 studies report about 52-62%.</a:t>
            </a:r>
            <a:endParaRPr sz="1100" b="0" i="0" u="none" strike="noStrike" cap="none">
              <a:solidFill>
                <a:schemeClr val="dk1"/>
              </a:solidFill>
              <a:latin typeface="Calibri"/>
              <a:ea typeface="Calibri"/>
              <a:cs typeface="Calibri"/>
              <a:sym typeface="Calibri"/>
            </a:endParaRPr>
          </a:p>
        </p:txBody>
      </p:sp>
      <p:sp>
        <p:nvSpPr>
          <p:cNvPr id="293" name="Google Shape;293;p22"/>
          <p:cNvSpPr/>
          <p:nvPr/>
        </p:nvSpPr>
        <p:spPr>
          <a:xfrm>
            <a:off x="5486409" y="0"/>
            <a:ext cx="3657606" cy="5143500"/>
          </a:xfrm>
          <a:prstGeom prst="rect">
            <a:avLst/>
          </a:prstGeom>
          <a:solidFill>
            <a:srgbClr val="EFEDE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94" name="Google Shape;294;p22" descr="preencoded.png"/>
          <p:cNvPicPr preferRelativeResize="0"/>
          <p:nvPr/>
        </p:nvPicPr>
        <p:blipFill rotWithShape="1">
          <a:blip r:embed="rId3">
            <a:alphaModFix/>
          </a:blip>
          <a:srcRect/>
          <a:stretch/>
        </p:blipFill>
        <p:spPr>
          <a:xfrm>
            <a:off x="5715009" y="266700"/>
            <a:ext cx="2971726" cy="805830"/>
          </a:xfrm>
          <a:prstGeom prst="rect">
            <a:avLst/>
          </a:prstGeom>
          <a:noFill/>
          <a:ln>
            <a:noFill/>
          </a:ln>
        </p:spPr>
      </p:pic>
      <p:sp>
        <p:nvSpPr>
          <p:cNvPr id="295" name="Google Shape;295;p22"/>
          <p:cNvSpPr/>
          <p:nvPr/>
        </p:nvSpPr>
        <p:spPr>
          <a:xfrm>
            <a:off x="5715009" y="1144681"/>
            <a:ext cx="3429006"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16171D"/>
              </a:buClr>
              <a:buSzPts val="1100"/>
              <a:buFont typeface="Hanken Grotesk"/>
              <a:buNone/>
            </a:pPr>
            <a:r>
              <a:rPr lang="en-US" sz="1100" b="0" i="0" u="none" strike="noStrike" cap="none">
                <a:solidFill>
                  <a:srgbClr val="16171D"/>
                </a:solidFill>
                <a:latin typeface="Hanken Grotesk"/>
                <a:ea typeface="Hanken Grotesk"/>
                <a:cs typeface="Hanken Grotesk"/>
                <a:sym typeface="Hanken Grotesk"/>
              </a:rPr>
              <a:t>Confusion matrices: TVS, Solar, HDFC</a:t>
            </a:r>
            <a:endParaRPr sz="1100" b="0" i="0" u="none" strike="noStrike" cap="none">
              <a:solidFill>
                <a:schemeClr val="dk1"/>
              </a:solidFill>
              <a:latin typeface="Calibri"/>
              <a:ea typeface="Calibri"/>
              <a:cs typeface="Calibri"/>
              <a:sym typeface="Calibri"/>
            </a:endParaRPr>
          </a:p>
        </p:txBody>
      </p:sp>
      <p:sp>
        <p:nvSpPr>
          <p:cNvPr id="296" name="Google Shape;296;p22"/>
          <p:cNvSpPr/>
          <p:nvPr/>
        </p:nvSpPr>
        <p:spPr>
          <a:xfrm>
            <a:off x="5715009" y="1448961"/>
            <a:ext cx="2971805"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2300"/>
              <a:buFont typeface="Hanken Grotesk"/>
              <a:buNone/>
            </a:pPr>
            <a:r>
              <a:rPr lang="en-US" sz="2300" b="1" i="0" u="none" strike="noStrike" cap="none">
                <a:solidFill>
                  <a:srgbClr val="16171D"/>
                </a:solidFill>
                <a:latin typeface="Hanken Grotesk"/>
                <a:ea typeface="Hanken Grotesk"/>
                <a:cs typeface="Hanken Grotesk"/>
                <a:sym typeface="Hanken Grotesk"/>
              </a:rPr>
              <a:t>±5%</a:t>
            </a:r>
            <a:r>
              <a:rPr lang="en-US" sz="1400" b="0" i="0" u="none" strike="noStrike" cap="none">
                <a:solidFill>
                  <a:srgbClr val="16171D"/>
                </a:solidFill>
                <a:latin typeface="Hanken Grotesk"/>
                <a:ea typeface="Hanken Grotesk"/>
                <a:cs typeface="Hanken Grotesk"/>
                <a:sym typeface="Hanken Grotesk"/>
              </a:rPr>
              <a:t> Results vary between runs due to subsampling.</a:t>
            </a:r>
            <a:endParaRPr sz="14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9" y="2243063"/>
            <a:ext cx="2971805" cy="2442716"/>
          </a:xfrm>
          <a:prstGeom prst="rect">
            <a:avLst/>
          </a:prstGeom>
          <a:noFill/>
          <a:ln>
            <a:noFill/>
          </a:ln>
        </p:spPr>
        <p:txBody>
          <a:bodyPr spcFirstLastPara="1" wrap="square" lIns="0" tIns="0" rIns="0" bIns="0" anchor="t" anchorCtr="0">
            <a:noAutofit/>
          </a:bodyPr>
          <a:lstStyle/>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Accuracy is 48-53% against a 50% random baseline; stock direction is hard to predict in an efficient market.</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TVS and Solar models have a buying bias: high UP recall (about 77%) but low DOWN recall. HDFC Bank is the most balanced; it detects 68% of DOWN days, useful for risk management.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3"/>
          <p:cNvSpPr/>
          <p:nvPr/>
        </p:nvSpPr>
        <p:spPr>
          <a:xfrm>
            <a:off x="457201" y="369689"/>
            <a:ext cx="4724407"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06 · MODEL COMPARISON</a:t>
            </a:r>
            <a:endParaRPr sz="1000" b="0" i="0" u="none" strike="noStrike" cap="none">
              <a:solidFill>
                <a:schemeClr val="dk1"/>
              </a:solidFill>
              <a:latin typeface="Calibri"/>
              <a:ea typeface="Calibri"/>
              <a:cs typeface="Calibri"/>
              <a:sym typeface="Calibri"/>
            </a:endParaRPr>
          </a:p>
        </p:txBody>
      </p:sp>
      <p:sp>
        <p:nvSpPr>
          <p:cNvPr id="304" name="Google Shape;304;p23"/>
          <p:cNvSpPr/>
          <p:nvPr/>
        </p:nvSpPr>
        <p:spPr>
          <a:xfrm>
            <a:off x="457201" y="643392"/>
            <a:ext cx="4476758"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RESULTS: ROC CURVES, LSTM AND ARIMA</a:t>
            </a:r>
            <a:endParaRPr sz="3600" b="0" i="0" u="none" strike="noStrike" cap="none">
              <a:solidFill>
                <a:schemeClr val="dk1"/>
              </a:solidFill>
              <a:latin typeface="Calibri"/>
              <a:ea typeface="Calibri"/>
              <a:cs typeface="Calibri"/>
              <a:sym typeface="Calibri"/>
            </a:endParaRPr>
          </a:p>
        </p:txBody>
      </p:sp>
      <p:pic>
        <p:nvPicPr>
          <p:cNvPr id="305" name="Google Shape;305;p23" descr="preencoded.png"/>
          <p:cNvPicPr preferRelativeResize="0"/>
          <p:nvPr/>
        </p:nvPicPr>
        <p:blipFill rotWithShape="1">
          <a:blip r:embed="rId3">
            <a:alphaModFix/>
          </a:blip>
          <a:srcRect/>
          <a:stretch/>
        </p:blipFill>
        <p:spPr>
          <a:xfrm>
            <a:off x="457201" y="1609130"/>
            <a:ext cx="4476638" cy="1193527"/>
          </a:xfrm>
          <a:prstGeom prst="rect">
            <a:avLst/>
          </a:prstGeom>
          <a:noFill/>
          <a:ln>
            <a:noFill/>
          </a:ln>
        </p:spPr>
      </p:pic>
      <p:sp>
        <p:nvSpPr>
          <p:cNvPr id="306" name="Google Shape;306;p23"/>
          <p:cNvSpPr/>
          <p:nvPr/>
        </p:nvSpPr>
        <p:spPr>
          <a:xfrm>
            <a:off x="457201" y="2901002"/>
            <a:ext cx="4724407"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1100"/>
              <a:buFont typeface="Hanken Grotesk"/>
              <a:buNone/>
            </a:pPr>
            <a:r>
              <a:rPr lang="en-US" sz="1100" b="0" i="0" u="none" strike="noStrike" cap="none">
                <a:solidFill>
                  <a:srgbClr val="4E5058"/>
                </a:solidFill>
                <a:latin typeface="Hanken Grotesk"/>
                <a:ea typeface="Hanken Grotesk"/>
                <a:cs typeface="Hanken Grotesk"/>
                <a:sym typeface="Hanken Grotesk"/>
              </a:rPr>
              <a:t>ROC curves with AUC scores</a:t>
            </a:r>
            <a:endParaRPr sz="1100" b="0" i="0" u="none" strike="noStrike" cap="none">
              <a:solidFill>
                <a:schemeClr val="dk1"/>
              </a:solidFill>
              <a:latin typeface="Calibri"/>
              <a:ea typeface="Calibri"/>
              <a:cs typeface="Calibri"/>
              <a:sym typeface="Calibri"/>
            </a:endParaRPr>
          </a:p>
        </p:txBody>
      </p:sp>
      <p:sp>
        <p:nvSpPr>
          <p:cNvPr id="307" name="Google Shape;307;p23"/>
          <p:cNvSpPr/>
          <p:nvPr/>
        </p:nvSpPr>
        <p:spPr>
          <a:xfrm>
            <a:off x="647701" y="3467224"/>
            <a:ext cx="4095756" cy="595834"/>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16171D"/>
              </a:buClr>
              <a:buSzPts val="5100"/>
              <a:buFont typeface="Big Shoulders ExtraBold"/>
              <a:buNone/>
            </a:pPr>
            <a:r>
              <a:rPr lang="en-US" sz="5100" b="0" i="0" u="none" strike="noStrike" cap="none">
                <a:solidFill>
                  <a:srgbClr val="16171D"/>
                </a:solidFill>
                <a:latin typeface="Big Shoulders ExtraBold"/>
                <a:ea typeface="Big Shoulders ExtraBold"/>
                <a:cs typeface="Big Shoulders ExtraBold"/>
                <a:sym typeface="Big Shoulders ExtraBold"/>
              </a:rPr>
              <a:t>AUC &gt; 0.5</a:t>
            </a:r>
            <a:endParaRPr sz="5100" b="0" i="0" u="none" strike="noStrike" cap="none">
              <a:solidFill>
                <a:schemeClr val="dk1"/>
              </a:solidFill>
              <a:latin typeface="Calibri"/>
              <a:ea typeface="Calibri"/>
              <a:cs typeface="Calibri"/>
              <a:sym typeface="Calibri"/>
            </a:endParaRPr>
          </a:p>
        </p:txBody>
      </p:sp>
      <p:sp>
        <p:nvSpPr>
          <p:cNvPr id="308" name="Google Shape;308;p23"/>
          <p:cNvSpPr/>
          <p:nvPr/>
        </p:nvSpPr>
        <p:spPr>
          <a:xfrm>
            <a:off x="647701" y="4146396"/>
            <a:ext cx="4286257"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A small but genuine learned signal; TVS is strongest.</a:t>
            </a:r>
            <a:endParaRPr sz="1400" b="0" i="0" u="none" strike="noStrike" cap="none">
              <a:solidFill>
                <a:schemeClr val="dk1"/>
              </a:solidFill>
              <a:latin typeface="Calibri"/>
              <a:ea typeface="Calibri"/>
              <a:cs typeface="Calibri"/>
              <a:sym typeface="Calibri"/>
            </a:endParaRPr>
          </a:p>
        </p:txBody>
      </p:sp>
      <p:sp>
        <p:nvSpPr>
          <p:cNvPr id="309" name="Google Shape;309;p23"/>
          <p:cNvSpPr/>
          <p:nvPr/>
        </p:nvSpPr>
        <p:spPr>
          <a:xfrm>
            <a:off x="5429259" y="102989"/>
            <a:ext cx="3714756"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LSTM REGRESSION</a:t>
            </a:r>
            <a:endParaRPr sz="1000" b="0" i="0" u="none" strike="noStrike" cap="none">
              <a:solidFill>
                <a:schemeClr val="dk1"/>
              </a:solidFill>
              <a:latin typeface="Calibri"/>
              <a:ea typeface="Calibri"/>
              <a:cs typeface="Calibri"/>
              <a:sym typeface="Calibri"/>
            </a:endParaRPr>
          </a:p>
        </p:txBody>
      </p:sp>
      <p:graphicFrame>
        <p:nvGraphicFramePr>
          <p:cNvPr id="310" name="Google Shape;310;p23"/>
          <p:cNvGraphicFramePr/>
          <p:nvPr/>
        </p:nvGraphicFramePr>
        <p:xfrm>
          <a:off x="5429259" y="404813"/>
          <a:ext cx="3257525" cy="2496075"/>
        </p:xfrm>
        <a:graphic>
          <a:graphicData uri="http://schemas.openxmlformats.org/drawingml/2006/table">
            <a:tbl>
              <a:tblPr>
                <a:noFill/>
                <a:tableStyleId>{3B8C08A0-D729-4379-9EE9-536BB95A4829}</a:tableStyleId>
              </a:tblPr>
              <a:tblGrid>
                <a:gridCol w="879475">
                  <a:extLst>
                    <a:ext uri="{9D8B030D-6E8A-4147-A177-3AD203B41FA5}">
                      <a16:colId xmlns:a16="http://schemas.microsoft.com/office/drawing/2014/main" val="20000"/>
                    </a:ext>
                  </a:extLst>
                </a:gridCol>
                <a:gridCol w="651500">
                  <a:extLst>
                    <a:ext uri="{9D8B030D-6E8A-4147-A177-3AD203B41FA5}">
                      <a16:colId xmlns:a16="http://schemas.microsoft.com/office/drawing/2014/main" val="20001"/>
                    </a:ext>
                  </a:extLst>
                </a:gridCol>
                <a:gridCol w="944675">
                  <a:extLst>
                    <a:ext uri="{9D8B030D-6E8A-4147-A177-3AD203B41FA5}">
                      <a16:colId xmlns:a16="http://schemas.microsoft.com/office/drawing/2014/main" val="20002"/>
                    </a:ext>
                  </a:extLst>
                </a:gridCol>
                <a:gridCol w="781875">
                  <a:extLst>
                    <a:ext uri="{9D8B030D-6E8A-4147-A177-3AD203B41FA5}">
                      <a16:colId xmlns:a16="http://schemas.microsoft.com/office/drawing/2014/main" val="20003"/>
                    </a:ext>
                  </a:extLst>
                </a:gridCol>
              </a:tblGrid>
              <a:tr h="6371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Stock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AUC</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LSTM RMSE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LSTM MAPE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TVS Motor</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0.567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Rs. 129.14</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2.57%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622825">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Solar Ind.</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0.510</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Rs. 734.37</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3.43%</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613300">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HDFC Bank</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0.519</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Rs. 14.43</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1.33%</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1" name="Google Shape;311;p23"/>
          <p:cNvSpPr/>
          <p:nvPr/>
        </p:nvSpPr>
        <p:spPr>
          <a:xfrm>
            <a:off x="5429259" y="3055739"/>
            <a:ext cx="3257555" cy="1765622"/>
          </a:xfrm>
          <a:prstGeom prst="rect">
            <a:avLst/>
          </a:prstGeom>
          <a:noFill/>
          <a:ln>
            <a:noFill/>
          </a:ln>
        </p:spPr>
        <p:txBody>
          <a:bodyPr spcFirstLastPara="1" wrap="square" lIns="0" tIns="0" rIns="0" bIns="0" anchor="t" anchorCtr="0">
            <a:noAutofit/>
          </a:bodyPr>
          <a:lstStyle/>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LSTM MAPE: below 5% on all three stocks; HDFC Bank lowest, 1.33%.</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Solar RMSE looks large because price is above Rs. 6,000; MAPE comparable.</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ARIMA 30-day ranges nearly flat; HDFC Rs. 990.10 to 990.52 confirms its short-horizon limit.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4"/>
          <p:cNvSpPr/>
          <p:nvPr/>
        </p:nvSpPr>
        <p:spPr>
          <a:xfrm>
            <a:off x="457201" y="233958"/>
            <a:ext cx="8686814" cy="927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600"/>
              <a:buFont typeface="Red Hat Mono Medium"/>
              <a:buNone/>
            </a:pPr>
            <a:r>
              <a:rPr lang="en-US" sz="600" b="0" i="0" u="none" strike="noStrike" cap="none">
                <a:solidFill>
                  <a:srgbClr val="16171D"/>
                </a:solidFill>
                <a:latin typeface="Red Hat Mono Medium"/>
                <a:ea typeface="Red Hat Mono Medium"/>
                <a:cs typeface="Red Hat Mono Medium"/>
                <a:sym typeface="Red Hat Mono Medium"/>
              </a:rPr>
              <a:t>07 · EXPLAINABILITY</a:t>
            </a:r>
            <a:endParaRPr sz="600" b="0" i="0" u="none" strike="noStrike" cap="none">
              <a:solidFill>
                <a:schemeClr val="dk1"/>
              </a:solidFill>
              <a:latin typeface="Calibri"/>
              <a:ea typeface="Calibri"/>
              <a:cs typeface="Calibri"/>
              <a:sym typeface="Calibri"/>
            </a:endParaRPr>
          </a:p>
        </p:txBody>
      </p:sp>
      <p:sp>
        <p:nvSpPr>
          <p:cNvPr id="318" name="Google Shape;318;p24"/>
          <p:cNvSpPr/>
          <p:nvPr/>
        </p:nvSpPr>
        <p:spPr>
          <a:xfrm>
            <a:off x="457201" y="380352"/>
            <a:ext cx="8229614" cy="260524"/>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200"/>
              <a:buFont typeface="Big Shoulders ExtraBold"/>
              <a:buNone/>
            </a:pPr>
            <a:r>
              <a:rPr lang="en-US" sz="2200" b="0" i="0" u="none" strike="noStrike" cap="none">
                <a:solidFill>
                  <a:srgbClr val="16171D"/>
                </a:solidFill>
                <a:latin typeface="Big Shoulders ExtraBold"/>
                <a:ea typeface="Big Shoulders ExtraBold"/>
                <a:cs typeface="Big Shoulders ExtraBold"/>
                <a:sym typeface="Big Shoulders ExtraBold"/>
              </a:rPr>
              <a:t>SHAP EXPLAINABILITY ANALYSIS</a:t>
            </a:r>
            <a:endParaRPr sz="2200" b="0" i="0" u="none" strike="noStrike" cap="none">
              <a:solidFill>
                <a:schemeClr val="dk1"/>
              </a:solidFill>
              <a:latin typeface="Calibri"/>
              <a:ea typeface="Calibri"/>
              <a:cs typeface="Calibri"/>
              <a:sym typeface="Calibri"/>
            </a:endParaRPr>
          </a:p>
        </p:txBody>
      </p:sp>
      <p:pic>
        <p:nvPicPr>
          <p:cNvPr id="319" name="Google Shape;319;p24" descr="preencoded.png"/>
          <p:cNvPicPr preferRelativeResize="0"/>
          <p:nvPr/>
        </p:nvPicPr>
        <p:blipFill rotWithShape="1">
          <a:blip r:embed="rId3">
            <a:alphaModFix/>
          </a:blip>
          <a:srcRect/>
          <a:stretch/>
        </p:blipFill>
        <p:spPr>
          <a:xfrm>
            <a:off x="414811" y="868370"/>
            <a:ext cx="3404879" cy="1314376"/>
          </a:xfrm>
          <a:prstGeom prst="rect">
            <a:avLst/>
          </a:prstGeom>
          <a:noFill/>
          <a:ln>
            <a:noFill/>
          </a:ln>
        </p:spPr>
      </p:pic>
      <p:sp>
        <p:nvSpPr>
          <p:cNvPr id="320" name="Google Shape;320;p24"/>
          <p:cNvSpPr/>
          <p:nvPr/>
        </p:nvSpPr>
        <p:spPr>
          <a:xfrm>
            <a:off x="457186" y="2839874"/>
            <a:ext cx="4114807" cy="103957"/>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600"/>
              <a:buFont typeface="Hanken Grotesk"/>
              <a:buNone/>
            </a:pPr>
            <a:r>
              <a:rPr lang="en-US" sz="600" b="0" i="0" u="none" strike="noStrike" cap="none" dirty="0">
                <a:solidFill>
                  <a:srgbClr val="4E5058"/>
                </a:solidFill>
                <a:latin typeface="Hanken Grotesk"/>
                <a:ea typeface="Hanken Grotesk"/>
                <a:cs typeface="Hanken Grotesk"/>
                <a:sym typeface="Hanken Grotesk"/>
              </a:rPr>
              <a:t>SHAP feature importance, mean |SHAP|</a:t>
            </a:r>
            <a:endParaRPr sz="600" b="0" i="0" u="none" strike="noStrike" cap="none" dirty="0">
              <a:solidFill>
                <a:schemeClr val="dk1"/>
              </a:solidFill>
              <a:latin typeface="Calibri"/>
              <a:ea typeface="Calibri"/>
              <a:cs typeface="Calibri"/>
              <a:sym typeface="Calibri"/>
            </a:endParaRPr>
          </a:p>
        </p:txBody>
      </p:sp>
      <p:sp>
        <p:nvSpPr>
          <p:cNvPr id="321" name="Google Shape;321;p24"/>
          <p:cNvSpPr/>
          <p:nvPr/>
        </p:nvSpPr>
        <p:spPr>
          <a:xfrm>
            <a:off x="457186" y="3002464"/>
            <a:ext cx="3886206" cy="230237"/>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16171D"/>
              </a:buClr>
              <a:buSzPts val="800"/>
              <a:buFont typeface="Hanken Grotesk"/>
              <a:buNone/>
            </a:pPr>
            <a:r>
              <a:rPr lang="en-US" sz="800" b="0" i="0" u="none" strike="noStrike" cap="none">
                <a:solidFill>
                  <a:srgbClr val="16171D"/>
                </a:solidFill>
                <a:latin typeface="Hanken Grotesk"/>
                <a:ea typeface="Hanken Grotesk"/>
                <a:cs typeface="Hanken Grotesk"/>
                <a:sym typeface="Hanken Grotesk"/>
              </a:rPr>
              <a:t>Feature-level attribution turns a model output into a decision-support explanation for a retail investor.</a:t>
            </a:r>
            <a:endParaRPr sz="800" b="0" i="0" u="none" strike="noStrike" cap="none">
              <a:solidFill>
                <a:schemeClr val="dk1"/>
              </a:solidFill>
              <a:latin typeface="Calibri"/>
              <a:ea typeface="Calibri"/>
              <a:cs typeface="Calibri"/>
              <a:sym typeface="Calibri"/>
            </a:endParaRPr>
          </a:p>
        </p:txBody>
      </p:sp>
      <p:sp>
        <p:nvSpPr>
          <p:cNvPr id="322" name="Google Shape;322;p24"/>
          <p:cNvSpPr/>
          <p:nvPr/>
        </p:nvSpPr>
        <p:spPr>
          <a:xfrm>
            <a:off x="457186" y="3282819"/>
            <a:ext cx="3886206" cy="992311"/>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3" name="Google Shape;323;p24"/>
          <p:cNvSpPr/>
          <p:nvPr/>
        </p:nvSpPr>
        <p:spPr>
          <a:xfrm>
            <a:off x="647686" y="3510313"/>
            <a:ext cx="3505206" cy="357485"/>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3100"/>
              <a:buFont typeface="Big Shoulders ExtraBold"/>
              <a:buNone/>
            </a:pPr>
            <a:r>
              <a:rPr lang="en-US" sz="3100" b="0" i="0" u="none" strike="noStrike" cap="none">
                <a:solidFill>
                  <a:srgbClr val="000000"/>
                </a:solidFill>
                <a:latin typeface="Big Shoulders ExtraBold"/>
                <a:ea typeface="Big Shoulders ExtraBold"/>
                <a:cs typeface="Big Shoulders ExtraBold"/>
                <a:sym typeface="Big Shoulders ExtraBold"/>
              </a:rPr>
              <a:t>MA200</a:t>
            </a:r>
            <a:endParaRPr sz="3100" b="0" i="0" u="none" strike="noStrike" cap="none">
              <a:solidFill>
                <a:schemeClr val="dk1"/>
              </a:solidFill>
              <a:latin typeface="Calibri"/>
              <a:ea typeface="Calibri"/>
              <a:cs typeface="Calibri"/>
              <a:sym typeface="Calibri"/>
            </a:endParaRPr>
          </a:p>
        </p:txBody>
      </p:sp>
      <p:sp>
        <p:nvSpPr>
          <p:cNvPr id="324" name="Google Shape;324;p24"/>
          <p:cNvSpPr/>
          <p:nvPr/>
        </p:nvSpPr>
        <p:spPr>
          <a:xfrm>
            <a:off x="647686" y="3878988"/>
            <a:ext cx="3505206" cy="230237"/>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000000"/>
              </a:buClr>
              <a:buSzPts val="800"/>
              <a:buFont typeface="Hanken Grotesk"/>
              <a:buNone/>
            </a:pPr>
            <a:r>
              <a:rPr lang="en-US" sz="800" b="0" i="0" u="none" strike="noStrike" cap="none">
                <a:solidFill>
                  <a:srgbClr val="000000"/>
                </a:solidFill>
                <a:latin typeface="Hanken Grotesk"/>
                <a:ea typeface="Hanken Grotesk"/>
                <a:cs typeface="Hanken Grotesk"/>
                <a:sym typeface="Hanken Grotesk"/>
              </a:rPr>
              <a:t>Top feature across three sectors. The model independently rediscovered the classic 200-day moving average principle.</a:t>
            </a:r>
            <a:endParaRPr sz="800" b="0" i="0" u="none" strike="noStrike" cap="none">
              <a:solidFill>
                <a:schemeClr val="dk1"/>
              </a:solidFill>
              <a:latin typeface="Calibri"/>
              <a:ea typeface="Calibri"/>
              <a:cs typeface="Calibri"/>
              <a:sym typeface="Calibri"/>
            </a:endParaRPr>
          </a:p>
        </p:txBody>
      </p:sp>
      <p:graphicFrame>
        <p:nvGraphicFramePr>
          <p:cNvPr id="325" name="Google Shape;325;p24"/>
          <p:cNvGraphicFramePr/>
          <p:nvPr/>
        </p:nvGraphicFramePr>
        <p:xfrm>
          <a:off x="4800608" y="2743200"/>
          <a:ext cx="3886125" cy="1162685"/>
        </p:xfrm>
        <a:graphic>
          <a:graphicData uri="http://schemas.openxmlformats.org/drawingml/2006/table">
            <a:tbl>
              <a:tblPr>
                <a:noFill/>
                <a:tableStyleId>{3B8C08A0-D729-4379-9EE9-536BB95A4829}</a:tableStyleId>
              </a:tblPr>
              <a:tblGrid>
                <a:gridCol w="422575">
                  <a:extLst>
                    <a:ext uri="{9D8B030D-6E8A-4147-A177-3AD203B41FA5}">
                      <a16:colId xmlns:a16="http://schemas.microsoft.com/office/drawing/2014/main" val="20000"/>
                    </a:ext>
                  </a:extLst>
                </a:gridCol>
                <a:gridCol w="1077200">
                  <a:extLst>
                    <a:ext uri="{9D8B030D-6E8A-4147-A177-3AD203B41FA5}">
                      <a16:colId xmlns:a16="http://schemas.microsoft.com/office/drawing/2014/main" val="20001"/>
                    </a:ext>
                  </a:extLst>
                </a:gridCol>
                <a:gridCol w="1197975">
                  <a:extLst>
                    <a:ext uri="{9D8B030D-6E8A-4147-A177-3AD203B41FA5}">
                      <a16:colId xmlns:a16="http://schemas.microsoft.com/office/drawing/2014/main" val="20002"/>
                    </a:ext>
                  </a:extLst>
                </a:gridCol>
                <a:gridCol w="1188375">
                  <a:extLst>
                    <a:ext uri="{9D8B030D-6E8A-4147-A177-3AD203B41FA5}">
                      <a16:colId xmlns:a16="http://schemas.microsoft.com/office/drawing/2014/main" val="20003"/>
                    </a:ext>
                  </a:extLst>
                </a:gridCol>
              </a:tblGrid>
              <a:tr h="272250">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Rank</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TVS Motor</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Solar Ind.</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HDFC Bank</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1</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MA200 (1.014)</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MA200 (0.786)</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MA200 (1.498)</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373100">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2</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BB_Width (0.539)</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Price_vs_MA200 (0.557)</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MA50 (0.521)</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248450">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3</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BB_Upper (0.416)</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BB_Mid (0.396)</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BB_Mid (0.435)</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26" name="Google Shape;326;p24"/>
          <p:cNvSpPr/>
          <p:nvPr/>
        </p:nvSpPr>
        <p:spPr>
          <a:xfrm>
            <a:off x="4800608" y="3953289"/>
            <a:ext cx="3886206" cy="207913"/>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E5058"/>
              </a:buClr>
              <a:buSzPts val="600"/>
              <a:buFont typeface="Hanken Grotesk"/>
              <a:buNone/>
            </a:pPr>
            <a:r>
              <a:rPr lang="en-US" sz="600" b="0" i="0" u="none" strike="noStrike" cap="none">
                <a:solidFill>
                  <a:srgbClr val="4E5058"/>
                </a:solidFill>
                <a:latin typeface="Hanken Grotesk"/>
                <a:ea typeface="Hanken Grotesk"/>
                <a:cs typeface="Hanken Grotesk"/>
                <a:sym typeface="Hanken Grotesk"/>
              </a:rPr>
              <a:t>TVS BUY instance: bullish MA200 +0.884, Price_vs_MA200 +0.445, MACD_Hist +0.355; bearish BB_Width -0.662, BB_Upper -0.526, BB_Lower -0.478.</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5"/>
          <p:cNvSpPr/>
          <p:nvPr/>
        </p:nvSpPr>
        <p:spPr>
          <a:xfrm>
            <a:off x="0" y="0"/>
            <a:ext cx="3657606" cy="51435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3" name="Google Shape;333;p25"/>
          <p:cNvSpPr/>
          <p:nvPr/>
        </p:nvSpPr>
        <p:spPr>
          <a:xfrm>
            <a:off x="342901" y="388739"/>
            <a:ext cx="3314705"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08 · PRODUCT DELIVERY</a:t>
            </a:r>
            <a:endParaRPr sz="1000" b="0" i="0" u="none" strike="noStrike" cap="none">
              <a:solidFill>
                <a:schemeClr val="dk1"/>
              </a:solidFill>
              <a:latin typeface="Calibri"/>
              <a:ea typeface="Calibri"/>
              <a:cs typeface="Calibri"/>
              <a:sym typeface="Calibri"/>
            </a:endParaRPr>
          </a:p>
        </p:txBody>
      </p:sp>
      <p:sp>
        <p:nvSpPr>
          <p:cNvPr id="334" name="Google Shape;334;p25"/>
          <p:cNvSpPr/>
          <p:nvPr/>
        </p:nvSpPr>
        <p:spPr>
          <a:xfrm>
            <a:off x="342901" y="3072981"/>
            <a:ext cx="3086105" cy="911275"/>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3900"/>
              <a:buFont typeface="Big Shoulders ExtraBold"/>
              <a:buNone/>
            </a:pPr>
            <a:r>
              <a:rPr lang="en-US" sz="3900" b="0" i="0" u="none" strike="noStrike" cap="none">
                <a:solidFill>
                  <a:srgbClr val="000000"/>
                </a:solidFill>
                <a:latin typeface="Big Shoulders ExtraBold"/>
                <a:ea typeface="Big Shoulders ExtraBold"/>
                <a:cs typeface="Big Shoulders ExtraBold"/>
                <a:sym typeface="Big Shoulders ExtraBold"/>
              </a:rPr>
              <a:t>DASHBOARD</a:t>
            </a:r>
            <a:endParaRPr sz="3900" b="0" i="0" u="none" strike="noStrike" cap="none">
              <a:solidFill>
                <a:schemeClr val="dk1"/>
              </a:solidFill>
              <a:latin typeface="Calibri"/>
              <a:ea typeface="Calibri"/>
              <a:cs typeface="Calibri"/>
              <a:sym typeface="Calibri"/>
            </a:endParaRPr>
          </a:p>
          <a:p>
            <a:pPr marL="0" marR="0" lvl="0" indent="0" algn="l" rtl="0">
              <a:lnSpc>
                <a:spcPct val="77000"/>
              </a:lnSpc>
              <a:spcBef>
                <a:spcPts val="0"/>
              </a:spcBef>
              <a:spcAft>
                <a:spcPts val="0"/>
              </a:spcAft>
              <a:buClr>
                <a:srgbClr val="000000"/>
              </a:buClr>
              <a:buSzPts val="3900"/>
              <a:buFont typeface="Big Shoulders ExtraBold"/>
              <a:buNone/>
            </a:pPr>
            <a:r>
              <a:rPr lang="en-US" sz="3900" b="0" i="0" u="none" strike="noStrike" cap="none">
                <a:solidFill>
                  <a:srgbClr val="000000"/>
                </a:solidFill>
                <a:latin typeface="Big Shoulders ExtraBold"/>
                <a:ea typeface="Big Shoulders ExtraBold"/>
                <a:cs typeface="Big Shoulders ExtraBold"/>
                <a:sym typeface="Big Shoulders ExtraBold"/>
              </a:rPr>
              <a:t>DEVELOPMENT</a:t>
            </a:r>
            <a:endParaRPr sz="3900" b="0" i="0" u="none" strike="noStrike" cap="none">
              <a:solidFill>
                <a:schemeClr val="dk1"/>
              </a:solidFill>
              <a:latin typeface="Calibri"/>
              <a:ea typeface="Calibri"/>
              <a:cs typeface="Calibri"/>
              <a:sym typeface="Calibri"/>
            </a:endParaRPr>
          </a:p>
        </p:txBody>
      </p:sp>
      <p:sp>
        <p:nvSpPr>
          <p:cNvPr id="335" name="Google Shape;335;p25"/>
          <p:cNvSpPr/>
          <p:nvPr/>
        </p:nvSpPr>
        <p:spPr>
          <a:xfrm>
            <a:off x="342901" y="4080654"/>
            <a:ext cx="3086105" cy="24095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700"/>
              <a:buFont typeface="Hanken Grotesk"/>
              <a:buNone/>
            </a:pPr>
            <a:r>
              <a:rPr lang="en-US" sz="1700" b="1" i="0" u="none" strike="noStrike" cap="none">
                <a:solidFill>
                  <a:srgbClr val="000000"/>
                </a:solidFill>
                <a:latin typeface="Hanken Grotesk"/>
                <a:ea typeface="Hanken Grotesk"/>
                <a:cs typeface="Hanken Grotesk"/>
                <a:sym typeface="Hanken Grotesk"/>
              </a:rPr>
              <a:t>Streamlit + Plotly</a:t>
            </a:r>
            <a:endParaRPr sz="1700" b="0" i="0" u="none" strike="noStrike" cap="none">
              <a:solidFill>
                <a:schemeClr val="dk1"/>
              </a:solidFill>
              <a:latin typeface="Calibri"/>
              <a:ea typeface="Calibri"/>
              <a:cs typeface="Calibri"/>
              <a:sym typeface="Calibri"/>
            </a:endParaRPr>
          </a:p>
        </p:txBody>
      </p:sp>
      <p:sp>
        <p:nvSpPr>
          <p:cNvPr id="336" name="Google Shape;336;p25"/>
          <p:cNvSpPr/>
          <p:nvPr/>
        </p:nvSpPr>
        <p:spPr>
          <a:xfrm>
            <a:off x="342901" y="4435644"/>
            <a:ext cx="3086105" cy="4799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400"/>
              <a:buFont typeface="Hanken Grotesk"/>
              <a:buNone/>
            </a:pPr>
            <a:r>
              <a:rPr lang="en-US" sz="1400" b="0" i="0" u="none" strike="noStrike" cap="none">
                <a:solidFill>
                  <a:srgbClr val="000000"/>
                </a:solidFill>
                <a:latin typeface="Hanken Grotesk"/>
                <a:ea typeface="Hanken Grotesk"/>
                <a:cs typeface="Hanken Grotesk"/>
                <a:sym typeface="Hanken Grotesk"/>
              </a:rPr>
              <a:t>Model output becomes a usable investor workflow.</a:t>
            </a:r>
            <a:endParaRPr sz="1400" b="0" i="0" u="none" strike="noStrike" cap="none">
              <a:solidFill>
                <a:schemeClr val="dk1"/>
              </a:solidFill>
              <a:latin typeface="Calibri"/>
              <a:ea typeface="Calibri"/>
              <a:cs typeface="Calibri"/>
              <a:sym typeface="Calibri"/>
            </a:endParaRPr>
          </a:p>
        </p:txBody>
      </p:sp>
      <p:sp>
        <p:nvSpPr>
          <p:cNvPr id="337" name="Google Shape;337;p25"/>
          <p:cNvSpPr/>
          <p:nvPr/>
        </p:nvSpPr>
        <p:spPr>
          <a:xfrm>
            <a:off x="3657606" y="0"/>
            <a:ext cx="5486409" cy="514350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8" name="Google Shape;338;p25"/>
          <p:cNvSpPr/>
          <p:nvPr/>
        </p:nvSpPr>
        <p:spPr>
          <a:xfrm>
            <a:off x="3924306" y="172427"/>
            <a:ext cx="4876808" cy="24095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FFFFFF"/>
              </a:buClr>
              <a:buSzPts val="1700"/>
              <a:buFont typeface="Hanken Grotesk"/>
              <a:buNone/>
            </a:pPr>
            <a:r>
              <a:rPr lang="en-US" sz="1700" b="1" i="0" u="none" strike="noStrike" cap="none">
                <a:solidFill>
                  <a:srgbClr val="FFFFFF"/>
                </a:solidFill>
                <a:latin typeface="Hanken Grotesk"/>
                <a:ea typeface="Hanken Grotesk"/>
                <a:cs typeface="Hanken Grotesk"/>
                <a:sym typeface="Hanken Grotesk"/>
              </a:rPr>
              <a:t>From model output to decision support</a:t>
            </a:r>
            <a:endParaRPr sz="1700" b="0" i="0" u="none" strike="noStrike" cap="none">
              <a:solidFill>
                <a:schemeClr val="dk1"/>
              </a:solidFill>
              <a:latin typeface="Calibri"/>
              <a:ea typeface="Calibri"/>
              <a:cs typeface="Calibri"/>
              <a:sym typeface="Calibri"/>
            </a:endParaRPr>
          </a:p>
        </p:txBody>
      </p:sp>
      <p:sp>
        <p:nvSpPr>
          <p:cNvPr id="339" name="Google Shape;339;p25"/>
          <p:cNvSpPr/>
          <p:nvPr/>
        </p:nvSpPr>
        <p:spPr>
          <a:xfrm>
            <a:off x="3924306" y="526702"/>
            <a:ext cx="2324103" cy="1307232"/>
          </a:xfrm>
          <a:prstGeom prst="rect">
            <a:avLst/>
          </a:prstGeom>
          <a:noFill/>
          <a:ln w="12700" cap="flat" cmpd="sng">
            <a:solidFill>
              <a:srgbClr val="FBFAF6">
                <a:alpha val="21961"/>
              </a:srgbClr>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40" name="Google Shape;340;p25" descr="preencoded.png"/>
          <p:cNvPicPr preferRelativeResize="0"/>
          <p:nvPr/>
        </p:nvPicPr>
        <p:blipFill rotWithShape="1">
          <a:blip r:embed="rId3">
            <a:alphaModFix/>
          </a:blip>
          <a:srcRect/>
          <a:stretch/>
        </p:blipFill>
        <p:spPr>
          <a:xfrm>
            <a:off x="3924306" y="526702"/>
            <a:ext cx="2324042" cy="1307232"/>
          </a:xfrm>
          <a:prstGeom prst="rect">
            <a:avLst/>
          </a:prstGeom>
          <a:noFill/>
          <a:ln>
            <a:noFill/>
          </a:ln>
        </p:spPr>
      </p:pic>
      <p:sp>
        <p:nvSpPr>
          <p:cNvPr id="341" name="Google Shape;341;p25"/>
          <p:cNvSpPr/>
          <p:nvPr/>
        </p:nvSpPr>
        <p:spPr>
          <a:xfrm>
            <a:off x="3924306" y="1906087"/>
            <a:ext cx="2324103"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FFFFFF"/>
              </a:buClr>
              <a:buSzPts val="1100"/>
              <a:buFont typeface="Hanken Grotesk"/>
              <a:buNone/>
            </a:pPr>
            <a:r>
              <a:rPr lang="en-US" sz="1100" b="0" i="0" u="none" strike="noStrike" cap="none">
                <a:solidFill>
                  <a:srgbClr val="FFFFFF"/>
                </a:solidFill>
                <a:latin typeface="Hanken Grotesk"/>
                <a:ea typeface="Hanken Grotesk"/>
                <a:cs typeface="Hanken Grotesk"/>
                <a:sym typeface="Hanken Grotesk"/>
              </a:rPr>
              <a:t>Main dashboard view</a:t>
            </a:r>
            <a:endParaRPr sz="1100" b="0" i="0" u="none" strike="noStrike" cap="none">
              <a:solidFill>
                <a:schemeClr val="dk1"/>
              </a:solidFill>
              <a:latin typeface="Calibri"/>
              <a:ea typeface="Calibri"/>
              <a:cs typeface="Calibri"/>
              <a:sym typeface="Calibri"/>
            </a:endParaRPr>
          </a:p>
        </p:txBody>
      </p:sp>
      <p:sp>
        <p:nvSpPr>
          <p:cNvPr id="342" name="Google Shape;342;p25"/>
          <p:cNvSpPr/>
          <p:nvPr/>
        </p:nvSpPr>
        <p:spPr>
          <a:xfrm>
            <a:off x="6477011" y="526702"/>
            <a:ext cx="2324103" cy="1307232"/>
          </a:xfrm>
          <a:prstGeom prst="rect">
            <a:avLst/>
          </a:prstGeom>
          <a:noFill/>
          <a:ln w="12700" cap="flat" cmpd="sng">
            <a:solidFill>
              <a:srgbClr val="FBFAF6">
                <a:alpha val="21961"/>
              </a:srgbClr>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43" name="Google Shape;343;p25" descr="preencoded.png"/>
          <p:cNvPicPr preferRelativeResize="0"/>
          <p:nvPr/>
        </p:nvPicPr>
        <p:blipFill rotWithShape="1">
          <a:blip r:embed="rId4">
            <a:alphaModFix/>
          </a:blip>
          <a:srcRect/>
          <a:stretch/>
        </p:blipFill>
        <p:spPr>
          <a:xfrm>
            <a:off x="6477011" y="526702"/>
            <a:ext cx="2324042" cy="1307232"/>
          </a:xfrm>
          <a:prstGeom prst="rect">
            <a:avLst/>
          </a:prstGeom>
          <a:noFill/>
          <a:ln>
            <a:noFill/>
          </a:ln>
        </p:spPr>
      </p:pic>
      <p:sp>
        <p:nvSpPr>
          <p:cNvPr id="344" name="Google Shape;344;p25"/>
          <p:cNvSpPr/>
          <p:nvPr/>
        </p:nvSpPr>
        <p:spPr>
          <a:xfrm>
            <a:off x="6477011" y="1906087"/>
            <a:ext cx="2324103" cy="346621"/>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FFFFFF"/>
              </a:buClr>
              <a:buSzPts val="1100"/>
              <a:buFont typeface="Hanken Grotesk"/>
              <a:buNone/>
            </a:pPr>
            <a:r>
              <a:rPr lang="en-US" sz="1100" b="0" i="0" u="none" strike="noStrike" cap="none">
                <a:solidFill>
                  <a:srgbClr val="FFFFFF"/>
                </a:solidFill>
                <a:latin typeface="Hanken Grotesk"/>
                <a:ea typeface="Hanken Grotesk"/>
                <a:cs typeface="Hanken Grotesk"/>
                <a:sym typeface="Hanken Grotesk"/>
              </a:rPr>
              <a:t>Candlestick with ARIMA and 30-day trend forecast</a:t>
            </a:r>
            <a:endParaRPr sz="1100" b="0" i="0" u="none" strike="noStrike" cap="none">
              <a:solidFill>
                <a:schemeClr val="dk1"/>
              </a:solidFill>
              <a:latin typeface="Calibri"/>
              <a:ea typeface="Calibri"/>
              <a:cs typeface="Calibri"/>
              <a:sym typeface="Calibri"/>
            </a:endParaRPr>
          </a:p>
        </p:txBody>
      </p:sp>
      <p:pic>
        <p:nvPicPr>
          <p:cNvPr id="345" name="Google Shape;345;p25" descr="preencoded.png"/>
          <p:cNvPicPr preferRelativeResize="0"/>
          <p:nvPr/>
        </p:nvPicPr>
        <p:blipFill rotWithShape="1">
          <a:blip r:embed="rId5">
            <a:alphaModFix/>
          </a:blip>
          <a:srcRect/>
          <a:stretch/>
        </p:blipFill>
        <p:spPr>
          <a:xfrm>
            <a:off x="3924306" y="2363912"/>
            <a:ext cx="342892" cy="342900"/>
          </a:xfrm>
          <a:prstGeom prst="rect">
            <a:avLst/>
          </a:prstGeom>
          <a:noFill/>
          <a:ln>
            <a:noFill/>
          </a:ln>
        </p:spPr>
      </p:pic>
      <p:sp>
        <p:nvSpPr>
          <p:cNvPr id="346" name="Google Shape;346;p25"/>
          <p:cNvSpPr/>
          <p:nvPr/>
        </p:nvSpPr>
        <p:spPr>
          <a:xfrm>
            <a:off x="3924306" y="2815516"/>
            <a:ext cx="1473177"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FFFFFF"/>
              </a:buClr>
              <a:buSzPts val="1400"/>
              <a:buFont typeface="Hanken Grotesk"/>
              <a:buNone/>
            </a:pPr>
            <a:r>
              <a:rPr lang="en-US" sz="1400" b="1" i="0" u="none" strike="noStrike" cap="none">
                <a:solidFill>
                  <a:srgbClr val="FFFFFF"/>
                </a:solidFill>
                <a:latin typeface="Hanken Grotesk"/>
                <a:ea typeface="Hanken Grotesk"/>
                <a:cs typeface="Hanken Grotesk"/>
                <a:sym typeface="Hanken Grotesk"/>
              </a:rPr>
              <a:t>Explore</a:t>
            </a:r>
            <a:endParaRPr sz="1400" b="0" i="0" u="none" strike="noStrike" cap="none">
              <a:solidFill>
                <a:schemeClr val="dk1"/>
              </a:solidFill>
              <a:latin typeface="Calibri"/>
              <a:ea typeface="Calibri"/>
              <a:cs typeface="Calibri"/>
              <a:sym typeface="Calibri"/>
            </a:endParaRPr>
          </a:p>
        </p:txBody>
      </p:sp>
      <p:sp>
        <p:nvSpPr>
          <p:cNvPr id="347" name="Google Shape;347;p25"/>
          <p:cNvSpPr/>
          <p:nvPr/>
        </p:nvSpPr>
        <p:spPr>
          <a:xfrm>
            <a:off x="3924306" y="3138949"/>
            <a:ext cx="1473177" cy="170676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FFFFFF"/>
              </a:buClr>
              <a:buSzPts val="1200"/>
              <a:buFont typeface="Hanken Grotesk"/>
              <a:buNone/>
            </a:pPr>
            <a:r>
              <a:rPr lang="en-US" sz="1200" b="0" i="0" u="none" strike="noStrike" cap="none">
                <a:solidFill>
                  <a:srgbClr val="FFFFFF"/>
                </a:solidFill>
                <a:latin typeface="Hanken Grotesk"/>
                <a:ea typeface="Hanken Grotesk"/>
                <a:cs typeface="Hanken Grotesk"/>
                <a:sym typeface="Hanken Grotesk"/>
              </a:rPr>
              <a:t>Sector selector, time-period slider, Bollinger/volume toggles, manual and auto 5-minute refresh, market open/closed indicator.</a:t>
            </a:r>
            <a:endParaRPr sz="1200" b="0" i="0" u="none" strike="noStrike" cap="none">
              <a:solidFill>
                <a:schemeClr val="dk1"/>
              </a:solidFill>
              <a:latin typeface="Calibri"/>
              <a:ea typeface="Calibri"/>
              <a:cs typeface="Calibri"/>
              <a:sym typeface="Calibri"/>
            </a:endParaRPr>
          </a:p>
        </p:txBody>
      </p:sp>
      <p:pic>
        <p:nvPicPr>
          <p:cNvPr id="348" name="Google Shape;348;p25" descr="preencoded.png"/>
          <p:cNvPicPr preferRelativeResize="0"/>
          <p:nvPr/>
        </p:nvPicPr>
        <p:blipFill rotWithShape="1">
          <a:blip r:embed="rId6">
            <a:alphaModFix/>
          </a:blip>
          <a:srcRect/>
          <a:stretch/>
        </p:blipFill>
        <p:spPr>
          <a:xfrm>
            <a:off x="5626084" y="2363912"/>
            <a:ext cx="342892" cy="342900"/>
          </a:xfrm>
          <a:prstGeom prst="rect">
            <a:avLst/>
          </a:prstGeom>
          <a:noFill/>
          <a:ln>
            <a:noFill/>
          </a:ln>
        </p:spPr>
      </p:pic>
      <p:sp>
        <p:nvSpPr>
          <p:cNvPr id="349" name="Google Shape;349;p25"/>
          <p:cNvSpPr/>
          <p:nvPr/>
        </p:nvSpPr>
        <p:spPr>
          <a:xfrm>
            <a:off x="5626084" y="2815516"/>
            <a:ext cx="1473177"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FFFFFF"/>
              </a:buClr>
              <a:buSzPts val="1400"/>
              <a:buFont typeface="Hanken Grotesk"/>
              <a:buNone/>
            </a:pPr>
            <a:r>
              <a:rPr lang="en-US" sz="1400" b="1" i="0" u="none" strike="noStrike" cap="none">
                <a:solidFill>
                  <a:srgbClr val="FFFFFF"/>
                </a:solidFill>
                <a:latin typeface="Hanken Grotesk"/>
                <a:ea typeface="Hanken Grotesk"/>
                <a:cs typeface="Hanken Grotesk"/>
                <a:sym typeface="Hanken Grotesk"/>
              </a:rPr>
              <a:t>Measure</a:t>
            </a:r>
            <a:endParaRPr sz="1400" b="0" i="0" u="none" strike="noStrike" cap="none">
              <a:solidFill>
                <a:schemeClr val="dk1"/>
              </a:solidFill>
              <a:latin typeface="Calibri"/>
              <a:ea typeface="Calibri"/>
              <a:cs typeface="Calibri"/>
              <a:sym typeface="Calibri"/>
            </a:endParaRPr>
          </a:p>
        </p:txBody>
      </p:sp>
      <p:sp>
        <p:nvSpPr>
          <p:cNvPr id="350" name="Google Shape;350;p25"/>
          <p:cNvSpPr/>
          <p:nvPr/>
        </p:nvSpPr>
        <p:spPr>
          <a:xfrm>
            <a:off x="5626084" y="3138949"/>
            <a:ext cx="1473177" cy="85338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FFFFFF"/>
              </a:buClr>
              <a:buSzPts val="1200"/>
              <a:buFont typeface="Hanken Grotesk"/>
              <a:buNone/>
            </a:pPr>
            <a:r>
              <a:rPr lang="en-US" sz="1200" b="0" i="0" u="none" strike="noStrike" cap="none">
                <a:solidFill>
                  <a:srgbClr val="FFFFFF"/>
                </a:solidFill>
                <a:latin typeface="Hanken Grotesk"/>
                <a:ea typeface="Hanken Grotesk"/>
                <a:cs typeface="Hanken Grotesk"/>
                <a:sym typeface="Hanken Grotesk"/>
              </a:rPr>
              <a:t>Price, previous close, 52-week high/low, 20-day volume and total return.</a:t>
            </a:r>
            <a:endParaRPr sz="1200" b="0" i="0" u="none" strike="noStrike" cap="none">
              <a:solidFill>
                <a:schemeClr val="dk1"/>
              </a:solidFill>
              <a:latin typeface="Calibri"/>
              <a:ea typeface="Calibri"/>
              <a:cs typeface="Calibri"/>
              <a:sym typeface="Calibri"/>
            </a:endParaRPr>
          </a:p>
        </p:txBody>
      </p:sp>
      <p:pic>
        <p:nvPicPr>
          <p:cNvPr id="351" name="Google Shape;351;p25" descr="preencoded.png"/>
          <p:cNvPicPr preferRelativeResize="0"/>
          <p:nvPr/>
        </p:nvPicPr>
        <p:blipFill rotWithShape="1">
          <a:blip r:embed="rId7">
            <a:alphaModFix/>
          </a:blip>
          <a:srcRect/>
          <a:stretch/>
        </p:blipFill>
        <p:spPr>
          <a:xfrm>
            <a:off x="7327863" y="2363912"/>
            <a:ext cx="342892" cy="342900"/>
          </a:xfrm>
          <a:prstGeom prst="rect">
            <a:avLst/>
          </a:prstGeom>
          <a:noFill/>
          <a:ln>
            <a:noFill/>
          </a:ln>
        </p:spPr>
      </p:pic>
      <p:sp>
        <p:nvSpPr>
          <p:cNvPr id="352" name="Google Shape;352;p25"/>
          <p:cNvSpPr/>
          <p:nvPr/>
        </p:nvSpPr>
        <p:spPr>
          <a:xfrm>
            <a:off x="7327863" y="2815516"/>
            <a:ext cx="1473252"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FFFFFF"/>
              </a:buClr>
              <a:buSzPts val="1400"/>
              <a:buFont typeface="Hanken Grotesk"/>
              <a:buNone/>
            </a:pPr>
            <a:r>
              <a:rPr lang="en-US" sz="1400" b="1" i="0" u="none" strike="noStrike" cap="none">
                <a:solidFill>
                  <a:srgbClr val="FFFFFF"/>
                </a:solidFill>
                <a:latin typeface="Hanken Grotesk"/>
                <a:ea typeface="Hanken Grotesk"/>
                <a:cs typeface="Hanken Grotesk"/>
                <a:sym typeface="Hanken Grotesk"/>
              </a:rPr>
              <a:t>Act with context</a:t>
            </a:r>
            <a:endParaRPr sz="1400" b="0" i="0" u="none" strike="noStrike" cap="none">
              <a:solidFill>
                <a:schemeClr val="dk1"/>
              </a:solidFill>
              <a:latin typeface="Calibri"/>
              <a:ea typeface="Calibri"/>
              <a:cs typeface="Calibri"/>
              <a:sym typeface="Calibri"/>
            </a:endParaRPr>
          </a:p>
        </p:txBody>
      </p:sp>
      <p:sp>
        <p:nvSpPr>
          <p:cNvPr id="353" name="Google Shape;353;p25"/>
          <p:cNvSpPr/>
          <p:nvPr/>
        </p:nvSpPr>
        <p:spPr>
          <a:xfrm>
            <a:off x="7327863" y="3138949"/>
            <a:ext cx="1473252" cy="149341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FFFFFF"/>
              </a:buClr>
              <a:buSzPts val="1200"/>
              <a:buFont typeface="Hanken Grotesk"/>
              <a:buNone/>
            </a:pPr>
            <a:r>
              <a:rPr lang="en-US" sz="1200" b="0" i="0" u="none" strike="noStrike" cap="none">
                <a:solidFill>
                  <a:srgbClr val="FFFFFF"/>
                </a:solidFill>
                <a:latin typeface="Hanken Grotesk"/>
                <a:ea typeface="Hanken Grotesk"/>
                <a:cs typeface="Hanken Grotesk"/>
                <a:sym typeface="Hanken Grotesk"/>
              </a:rPr>
              <a:t>ML recommendation with confidence, RSI gauge, technical scoreboard and SHAP “Why this recommendation?” panel.</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6"/>
          <p:cNvSpPr/>
          <p:nvPr/>
        </p:nvSpPr>
        <p:spPr>
          <a:xfrm>
            <a:off x="457201" y="459169"/>
            <a:ext cx="8229614" cy="10641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700"/>
              <a:buFont typeface="Red Hat Mono Medium"/>
              <a:buNone/>
            </a:pPr>
            <a:r>
              <a:rPr lang="en-US" sz="700" b="0" i="0" u="none" strike="noStrike" cap="none">
                <a:solidFill>
                  <a:srgbClr val="16171D"/>
                </a:solidFill>
                <a:latin typeface="Red Hat Mono Medium"/>
                <a:ea typeface="Red Hat Mono Medium"/>
                <a:cs typeface="Red Hat Mono Medium"/>
                <a:sym typeface="Red Hat Mono Medium"/>
              </a:rPr>
              <a:t>09 · PRACTICAL PERFORMANCE</a:t>
            </a:r>
            <a:endParaRPr sz="700" b="0" i="0" u="none" strike="noStrike" cap="none">
              <a:solidFill>
                <a:schemeClr val="dk1"/>
              </a:solidFill>
              <a:latin typeface="Calibri"/>
              <a:ea typeface="Calibri"/>
              <a:cs typeface="Calibri"/>
              <a:sym typeface="Calibri"/>
            </a:endParaRPr>
          </a:p>
        </p:txBody>
      </p:sp>
      <p:sp>
        <p:nvSpPr>
          <p:cNvPr id="360" name="Google Shape;360;p26"/>
          <p:cNvSpPr/>
          <p:nvPr/>
        </p:nvSpPr>
        <p:spPr>
          <a:xfrm>
            <a:off x="457201" y="633620"/>
            <a:ext cx="8229614" cy="298549"/>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500"/>
              <a:buFont typeface="Big Shoulders ExtraBold"/>
              <a:buNone/>
            </a:pPr>
            <a:r>
              <a:rPr lang="en-US" sz="2500" b="0" i="0" u="none" strike="noStrike" cap="none">
                <a:solidFill>
                  <a:srgbClr val="16171D"/>
                </a:solidFill>
                <a:latin typeface="Big Shoulders ExtraBold"/>
                <a:ea typeface="Big Shoulders ExtraBold"/>
                <a:cs typeface="Big Shoulders ExtraBold"/>
                <a:sym typeface="Big Shoulders ExtraBold"/>
              </a:rPr>
              <a:t>BACKTESTING RESULTS</a:t>
            </a:r>
            <a:endParaRPr sz="2500" b="0" i="0" u="none" strike="noStrike" cap="none">
              <a:solidFill>
                <a:schemeClr val="dk1"/>
              </a:solidFill>
              <a:latin typeface="Calibri"/>
              <a:ea typeface="Calibri"/>
              <a:cs typeface="Calibri"/>
              <a:sym typeface="Calibri"/>
            </a:endParaRPr>
          </a:p>
        </p:txBody>
      </p:sp>
      <p:sp>
        <p:nvSpPr>
          <p:cNvPr id="361" name="Google Shape;361;p26"/>
          <p:cNvSpPr/>
          <p:nvPr/>
        </p:nvSpPr>
        <p:spPr>
          <a:xfrm>
            <a:off x="457201" y="981176"/>
            <a:ext cx="8229614" cy="139228"/>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16171D"/>
              </a:buClr>
              <a:buSzPts val="900"/>
              <a:buFont typeface="Hanken Grotesk"/>
              <a:buNone/>
            </a:pPr>
            <a:r>
              <a:rPr lang="en-US" sz="900" b="0" i="0" u="none" strike="noStrike" cap="none">
                <a:solidFill>
                  <a:srgbClr val="16171D"/>
                </a:solidFill>
                <a:latin typeface="Hanken Grotesk"/>
                <a:ea typeface="Hanken Grotesk"/>
                <a:cs typeface="Hanken Grotesk"/>
                <a:sym typeface="Hanken Grotesk"/>
              </a:rPr>
              <a:t>The held-out test set shows where the strategy protects capital and where it misses persistent trends.</a:t>
            </a:r>
            <a:endParaRPr sz="900" b="0" i="0" u="none" strike="noStrike" cap="none">
              <a:solidFill>
                <a:schemeClr val="dk1"/>
              </a:solidFill>
              <a:latin typeface="Calibri"/>
              <a:ea typeface="Calibri"/>
              <a:cs typeface="Calibri"/>
              <a:sym typeface="Calibri"/>
            </a:endParaRPr>
          </a:p>
        </p:txBody>
      </p:sp>
      <p:graphicFrame>
        <p:nvGraphicFramePr>
          <p:cNvPr id="362" name="Google Shape;362;p26"/>
          <p:cNvGraphicFramePr/>
          <p:nvPr/>
        </p:nvGraphicFramePr>
        <p:xfrm>
          <a:off x="457201" y="2808833"/>
          <a:ext cx="8229550" cy="1133075"/>
        </p:xfrm>
        <a:graphic>
          <a:graphicData uri="http://schemas.openxmlformats.org/drawingml/2006/table">
            <a:tbl>
              <a:tblPr>
                <a:noFill/>
                <a:tableStyleId>{3B8C08A0-D729-4379-9EE9-536BB95A4829}</a:tableStyleId>
              </a:tblPr>
              <a:tblGrid>
                <a:gridCol w="1481275">
                  <a:extLst>
                    <a:ext uri="{9D8B030D-6E8A-4147-A177-3AD203B41FA5}">
                      <a16:colId xmlns:a16="http://schemas.microsoft.com/office/drawing/2014/main" val="20000"/>
                    </a:ext>
                  </a:extLst>
                </a:gridCol>
                <a:gridCol w="1234375">
                  <a:extLst>
                    <a:ext uri="{9D8B030D-6E8A-4147-A177-3AD203B41FA5}">
                      <a16:colId xmlns:a16="http://schemas.microsoft.com/office/drawing/2014/main" val="20001"/>
                    </a:ext>
                  </a:extLst>
                </a:gridCol>
                <a:gridCol w="1234375">
                  <a:extLst>
                    <a:ext uri="{9D8B030D-6E8A-4147-A177-3AD203B41FA5}">
                      <a16:colId xmlns:a16="http://schemas.microsoft.com/office/drawing/2014/main" val="20002"/>
                    </a:ext>
                  </a:extLst>
                </a:gridCol>
                <a:gridCol w="1152075">
                  <a:extLst>
                    <a:ext uri="{9D8B030D-6E8A-4147-A177-3AD203B41FA5}">
                      <a16:colId xmlns:a16="http://schemas.microsoft.com/office/drawing/2014/main" val="20003"/>
                    </a:ext>
                  </a:extLst>
                </a:gridCol>
                <a:gridCol w="1152075">
                  <a:extLst>
                    <a:ext uri="{9D8B030D-6E8A-4147-A177-3AD203B41FA5}">
                      <a16:colId xmlns:a16="http://schemas.microsoft.com/office/drawing/2014/main" val="20004"/>
                    </a:ext>
                  </a:extLst>
                </a:gridCol>
                <a:gridCol w="905250">
                  <a:extLst>
                    <a:ext uri="{9D8B030D-6E8A-4147-A177-3AD203B41FA5}">
                      <a16:colId xmlns:a16="http://schemas.microsoft.com/office/drawing/2014/main" val="20005"/>
                    </a:ext>
                  </a:extLst>
                </a:gridCol>
                <a:gridCol w="1070125">
                  <a:extLst>
                    <a:ext uri="{9D8B030D-6E8A-4147-A177-3AD203B41FA5}">
                      <a16:colId xmlns:a16="http://schemas.microsoft.com/office/drawing/2014/main" val="20006"/>
                    </a:ext>
                  </a:extLst>
                </a:gridCol>
              </a:tblGrid>
              <a:tr h="296375">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Stock</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Start capital</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Final value</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Model return</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Buy and hold</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Trades</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Win rate</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282075">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TVS Motor</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1,00,000</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1,13,676</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+13.7%</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+14.9%</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197</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50.3%</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282075">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Solar Industries</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1,00,000</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1,03,686</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+3.7%</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+34.2%</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190</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50.5%</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272550">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HDFC Bank</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1,00,000</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Rs. 91,601</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-8.4%</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-23.4%</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71</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900"/>
                        <a:buFont typeface="Hanken Grotesk"/>
                        <a:buNone/>
                      </a:pPr>
                      <a:r>
                        <a:rPr lang="en-US" sz="900" u="none" strike="noStrike" cap="none">
                          <a:solidFill>
                            <a:srgbClr val="16171D"/>
                          </a:solidFill>
                          <a:latin typeface="Hanken Grotesk"/>
                          <a:ea typeface="Hanken Grotesk"/>
                          <a:cs typeface="Hanken Grotesk"/>
                          <a:sym typeface="Hanken Grotesk"/>
                        </a:rPr>
                        <a:t>40.8%</a:t>
                      </a:r>
                      <a:endParaRPr sz="9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63" name="Google Shape;363;p26"/>
          <p:cNvSpPr/>
          <p:nvPr/>
        </p:nvSpPr>
        <p:spPr>
          <a:xfrm>
            <a:off x="457201" y="3989264"/>
            <a:ext cx="2933705" cy="1171203"/>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4" name="Google Shape;364;p26"/>
          <p:cNvSpPr/>
          <p:nvPr/>
        </p:nvSpPr>
        <p:spPr>
          <a:xfrm>
            <a:off x="628651" y="4221191"/>
            <a:ext cx="2590805" cy="409724"/>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3500"/>
              <a:buFont typeface="Big Shoulders ExtraBold"/>
              <a:buNone/>
            </a:pPr>
            <a:r>
              <a:rPr lang="en-US" sz="3500" b="0" i="0" u="none" strike="noStrike" cap="none">
                <a:solidFill>
                  <a:srgbClr val="000000"/>
                </a:solidFill>
                <a:latin typeface="Big Shoulders ExtraBold"/>
                <a:ea typeface="Big Shoulders ExtraBold"/>
                <a:cs typeface="Big Shoulders ExtraBold"/>
                <a:sym typeface="Big Shoulders ExtraBold"/>
              </a:rPr>
              <a:t>15 PTS</a:t>
            </a:r>
            <a:endParaRPr sz="3500" b="0" i="0" u="none" strike="noStrike" cap="none">
              <a:solidFill>
                <a:schemeClr val="dk1"/>
              </a:solidFill>
              <a:latin typeface="Calibri"/>
              <a:ea typeface="Calibri"/>
              <a:cs typeface="Calibri"/>
              <a:sym typeface="Calibri"/>
            </a:endParaRPr>
          </a:p>
        </p:txBody>
      </p:sp>
      <p:sp>
        <p:nvSpPr>
          <p:cNvPr id="365" name="Google Shape;365;p26"/>
          <p:cNvSpPr/>
          <p:nvPr/>
        </p:nvSpPr>
        <p:spPr>
          <a:xfrm>
            <a:off x="628651" y="4656859"/>
            <a:ext cx="2590805" cy="278458"/>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000000"/>
              </a:buClr>
              <a:buSzPts val="900"/>
              <a:buFont typeface="Hanken Grotesk"/>
              <a:buNone/>
            </a:pPr>
            <a:r>
              <a:rPr lang="en-US" sz="900" b="0" i="0" u="none" strike="noStrike" cap="none">
                <a:solidFill>
                  <a:srgbClr val="000000"/>
                </a:solidFill>
                <a:latin typeface="Hanken Grotesk"/>
                <a:ea typeface="Hanken Grotesk"/>
                <a:cs typeface="Hanken Grotesk"/>
                <a:sym typeface="Hanken Grotesk"/>
              </a:rPr>
              <a:t>capital preserved by HDFC Bank versus buy-and-hold</a:t>
            </a:r>
            <a:endParaRPr sz="900" b="0" i="0" u="none" strike="noStrike" cap="none">
              <a:solidFill>
                <a:schemeClr val="dk1"/>
              </a:solidFill>
              <a:latin typeface="Calibri"/>
              <a:ea typeface="Calibri"/>
              <a:cs typeface="Calibri"/>
              <a:sym typeface="Calibri"/>
            </a:endParaRPr>
          </a:p>
        </p:txBody>
      </p:sp>
      <p:sp>
        <p:nvSpPr>
          <p:cNvPr id="366" name="Google Shape;366;p26"/>
          <p:cNvSpPr/>
          <p:nvPr/>
        </p:nvSpPr>
        <p:spPr>
          <a:xfrm>
            <a:off x="3619431" y="4167773"/>
            <a:ext cx="5067383" cy="16564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100"/>
              <a:buFont typeface="Hanken Grotesk"/>
              <a:buNone/>
            </a:pPr>
            <a:r>
              <a:rPr lang="en-US" sz="1100" b="1" i="0" u="none" strike="noStrike" cap="none">
                <a:solidFill>
                  <a:srgbClr val="16171D"/>
                </a:solidFill>
                <a:latin typeface="Hanken Grotesk"/>
                <a:ea typeface="Hanken Grotesk"/>
                <a:cs typeface="Hanken Grotesk"/>
                <a:sym typeface="Hanken Grotesk"/>
              </a:rPr>
              <a:t>Strategy rule</a:t>
            </a:r>
            <a:endParaRPr sz="1100" b="0" i="0" u="none" strike="noStrike" cap="none">
              <a:solidFill>
                <a:schemeClr val="dk1"/>
              </a:solidFill>
              <a:latin typeface="Calibri"/>
              <a:ea typeface="Calibri"/>
              <a:cs typeface="Calibri"/>
              <a:sym typeface="Calibri"/>
            </a:endParaRPr>
          </a:p>
        </p:txBody>
      </p:sp>
      <p:sp>
        <p:nvSpPr>
          <p:cNvPr id="367" name="Google Shape;367;p26"/>
          <p:cNvSpPr/>
          <p:nvPr/>
        </p:nvSpPr>
        <p:spPr>
          <a:xfrm>
            <a:off x="3619431" y="4384849"/>
            <a:ext cx="5067383" cy="604168"/>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16171D"/>
              </a:buClr>
              <a:buSzPts val="900"/>
              <a:buFont typeface="Hanken Grotesk"/>
              <a:buNone/>
            </a:pPr>
            <a:r>
              <a:rPr lang="en-US" sz="900" b="0" i="0" u="none" strike="noStrike" cap="none">
                <a:solidFill>
                  <a:srgbClr val="16171D"/>
                </a:solidFill>
                <a:latin typeface="Hanken Grotesk"/>
                <a:ea typeface="Hanken Grotesk"/>
                <a:cs typeface="Hanken Grotesk"/>
                <a:sym typeface="Hanken Grotesk"/>
              </a:rPr>
              <a:t>Buy when UP probability &gt; 55%; hold cash when &lt; 45%.</a:t>
            </a:r>
            <a:endParaRPr sz="900" b="0" i="0" u="none" strike="noStrike" cap="none">
              <a:solidFill>
                <a:schemeClr val="dk1"/>
              </a:solidFill>
              <a:latin typeface="Calibri"/>
              <a:ea typeface="Calibri"/>
              <a:cs typeface="Calibri"/>
              <a:sym typeface="Calibri"/>
            </a:endParaRPr>
          </a:p>
          <a:p>
            <a:pPr marL="0" marR="0" lvl="0" indent="0" algn="l" rtl="0">
              <a:lnSpc>
                <a:spcPct val="98000"/>
              </a:lnSpc>
              <a:spcBef>
                <a:spcPts val="300"/>
              </a:spcBef>
              <a:spcAft>
                <a:spcPts val="0"/>
              </a:spcAft>
              <a:buClr>
                <a:srgbClr val="16171D"/>
              </a:buClr>
              <a:buSzPts val="900"/>
              <a:buFont typeface="Hanken Grotesk"/>
              <a:buNone/>
            </a:pPr>
            <a:r>
              <a:rPr lang="en-US" sz="900" b="0" i="0" u="none" strike="noStrike" cap="none">
                <a:solidFill>
                  <a:srgbClr val="16171D"/>
                </a:solidFill>
                <a:latin typeface="Hanken Grotesk"/>
                <a:ea typeface="Hanken Grotesk"/>
                <a:cs typeface="Hanken Grotesk"/>
                <a:sym typeface="Hanken Grotesk"/>
              </a:rPr>
              <a:t>TVS Motor nearly matched buy-and-hold, only 1.2 points lower. Solar Industries lagged because cash periods missed a persistent bull run. Overall, the model is better at limiting losses in falling markets than at beating strong uptrends.</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7"/>
          <p:cNvSpPr/>
          <p:nvPr/>
        </p:nvSpPr>
        <p:spPr>
          <a:xfrm>
            <a:off x="457201" y="367308"/>
            <a:ext cx="8686814" cy="9279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600"/>
              <a:buFont typeface="Red Hat Mono Medium"/>
              <a:buNone/>
            </a:pPr>
            <a:r>
              <a:rPr lang="en-US" sz="600" b="0" i="0" u="none" strike="noStrike" cap="none">
                <a:solidFill>
                  <a:srgbClr val="16171D"/>
                </a:solidFill>
                <a:latin typeface="Red Hat Mono Medium"/>
                <a:ea typeface="Red Hat Mono Medium"/>
                <a:cs typeface="Red Hat Mono Medium"/>
                <a:sym typeface="Red Hat Mono Medium"/>
              </a:rPr>
              <a:t>10 · TROUBLESHOOTING ARC</a:t>
            </a:r>
            <a:endParaRPr sz="600" b="0" i="0" u="none" strike="noStrike" cap="none">
              <a:solidFill>
                <a:schemeClr val="dk1"/>
              </a:solidFill>
              <a:latin typeface="Calibri"/>
              <a:ea typeface="Calibri"/>
              <a:cs typeface="Calibri"/>
              <a:sym typeface="Calibri"/>
            </a:endParaRPr>
          </a:p>
        </p:txBody>
      </p:sp>
      <p:sp>
        <p:nvSpPr>
          <p:cNvPr id="374" name="Google Shape;374;p27"/>
          <p:cNvSpPr/>
          <p:nvPr/>
        </p:nvSpPr>
        <p:spPr>
          <a:xfrm>
            <a:off x="457201" y="513702"/>
            <a:ext cx="8229614" cy="260524"/>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200"/>
              <a:buFont typeface="Big Shoulders ExtraBold"/>
              <a:buNone/>
            </a:pPr>
            <a:r>
              <a:rPr lang="en-US" sz="2200" b="0" i="0" u="none" strike="noStrike" cap="none">
                <a:solidFill>
                  <a:srgbClr val="16171D"/>
                </a:solidFill>
                <a:latin typeface="Big Shoulders ExtraBold"/>
                <a:ea typeface="Big Shoulders ExtraBold"/>
                <a:cs typeface="Big Shoulders ExtraBold"/>
                <a:sym typeface="Big Shoulders ExtraBold"/>
              </a:rPr>
              <a:t>DIFFICULTIES ENCOUNTERED AND RESOLUTIONS</a:t>
            </a:r>
            <a:endParaRPr sz="2200" b="0" i="0" u="none" strike="noStrike" cap="none">
              <a:solidFill>
                <a:schemeClr val="dk1"/>
              </a:solidFill>
              <a:latin typeface="Calibri"/>
              <a:ea typeface="Calibri"/>
              <a:cs typeface="Calibri"/>
              <a:sym typeface="Calibri"/>
            </a:endParaRPr>
          </a:p>
        </p:txBody>
      </p:sp>
      <p:sp>
        <p:nvSpPr>
          <p:cNvPr id="375" name="Google Shape;375;p27"/>
          <p:cNvSpPr/>
          <p:nvPr/>
        </p:nvSpPr>
        <p:spPr>
          <a:xfrm>
            <a:off x="457201" y="807355"/>
            <a:ext cx="8686814" cy="115118"/>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16171D"/>
              </a:buClr>
              <a:buSzPts val="800"/>
              <a:buFont typeface="Hanken Grotesk"/>
              <a:buNone/>
            </a:pPr>
            <a:r>
              <a:rPr lang="en-US" sz="800" b="0" i="0" u="none" strike="noStrike" cap="none">
                <a:solidFill>
                  <a:srgbClr val="16171D"/>
                </a:solidFill>
                <a:latin typeface="Hanken Grotesk"/>
                <a:ea typeface="Hanken Grotesk"/>
                <a:cs typeface="Hanken Grotesk"/>
                <a:sym typeface="Hanken Grotesk"/>
              </a:rPr>
              <a:t>The pipeline became reliable by resolving problems phase by phase, from data preparation to model delivery.</a:t>
            </a:r>
            <a:endParaRPr sz="800" b="0" i="0" u="none" strike="noStrike" cap="none">
              <a:solidFill>
                <a:schemeClr val="dk1"/>
              </a:solidFill>
              <a:latin typeface="Calibri"/>
              <a:ea typeface="Calibri"/>
              <a:cs typeface="Calibri"/>
              <a:sym typeface="Calibri"/>
            </a:endParaRPr>
          </a:p>
        </p:txBody>
      </p:sp>
      <p:graphicFrame>
        <p:nvGraphicFramePr>
          <p:cNvPr id="376" name="Google Shape;376;p27"/>
          <p:cNvGraphicFramePr/>
          <p:nvPr/>
        </p:nvGraphicFramePr>
        <p:xfrm>
          <a:off x="351151" y="1219400"/>
          <a:ext cx="8229550" cy="2333345"/>
        </p:xfrm>
        <a:graphic>
          <a:graphicData uri="http://schemas.openxmlformats.org/drawingml/2006/table">
            <a:tbl>
              <a:tblPr>
                <a:noFill/>
                <a:tableStyleId>{3B8C08A0-D729-4379-9EE9-536BB95A4829}</a:tableStyleId>
              </a:tblPr>
              <a:tblGrid>
                <a:gridCol w="822925">
                  <a:extLst>
                    <a:ext uri="{9D8B030D-6E8A-4147-A177-3AD203B41FA5}">
                      <a16:colId xmlns:a16="http://schemas.microsoft.com/office/drawing/2014/main" val="20000"/>
                    </a:ext>
                  </a:extLst>
                </a:gridCol>
                <a:gridCol w="3538675">
                  <a:extLst>
                    <a:ext uri="{9D8B030D-6E8A-4147-A177-3AD203B41FA5}">
                      <a16:colId xmlns:a16="http://schemas.microsoft.com/office/drawing/2014/main" val="20001"/>
                    </a:ext>
                  </a:extLst>
                </a:gridCol>
                <a:gridCol w="3867950">
                  <a:extLst>
                    <a:ext uri="{9D8B030D-6E8A-4147-A177-3AD203B41FA5}">
                      <a16:colId xmlns:a16="http://schemas.microsoft.com/office/drawing/2014/main" val="20002"/>
                    </a:ext>
                  </a:extLst>
                </a:gridCol>
              </a:tblGrid>
              <a:tr h="272250">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Phase</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Problem</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Resolution</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FBFAF6"/>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3</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Close column loaded as string from yfinance metadata rows</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Custom loader with pd.to_numeric() and row filtering</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3</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Date index loaded as plain strings</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Explicit pd.to_datetime() conversion</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6</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Accuracy 32-41% due to NaN rows from MA200</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Strict dropna() before training</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6</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3-class accuracy 35-52%; HOLD class dominated</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Switched to binary UP/DOWN; HOLD from confidence band</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4"/>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7</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ARIMA: no supported index</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asfreq("B") business-day frequency</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5"/>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8</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pandas 2.x removed .last()</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Replaced with .tail()</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6"/>
                  </a:ext>
                </a:extLst>
              </a:tr>
              <a:tr h="257975">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8</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Empty data outside market hours</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len(df) checks and clear error messages</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7"/>
                  </a:ext>
                </a:extLst>
              </a:tr>
              <a:tr h="248450">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8</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ARIMA 30-day forecast too flat</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800"/>
                        <a:buFont typeface="Hanken Grotesk"/>
                        <a:buNone/>
                      </a:pPr>
                      <a:r>
                        <a:rPr lang="en-US" sz="800" u="none" strike="noStrike" cap="none">
                          <a:solidFill>
                            <a:srgbClr val="16171D"/>
                          </a:solidFill>
                          <a:latin typeface="Hanken Grotesk"/>
                          <a:ea typeface="Hanken Grotesk"/>
                          <a:cs typeface="Hanken Grotesk"/>
                          <a:sym typeface="Hanken Grotesk"/>
                        </a:rPr>
                        <a:t>Added Linear Regression trend model</a:t>
                      </a:r>
                      <a:endParaRPr sz="800" u="none" strike="noStrike" cap="none">
                        <a:latin typeface="Hanken Grotesk"/>
                        <a:ea typeface="Hanken Grotesk"/>
                        <a:cs typeface="Hanken Grotesk"/>
                        <a:sym typeface="Hanken Grotesk"/>
                      </a:endParaRPr>
                    </a:p>
                  </a:txBody>
                  <a:tcPr marL="95250" marR="95250" marT="66675" marB="66675" anchor="ctr">
                    <a:lnL w="12700" cap="flat" cmpd="sng">
                      <a:solidFill>
                        <a:srgbClr val="FBFAF6"/>
                      </a:solidFill>
                      <a:prstDash val="solid"/>
                      <a:round/>
                      <a:headEnd type="none" w="sm" len="sm"/>
                      <a:tailEnd type="none" w="sm" len="sm"/>
                    </a:lnL>
                    <a:lnR w="12700" cap="flat" cmpd="sng">
                      <a:solidFill>
                        <a:srgbClr val="FBFAF6"/>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FBFAF6"/>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377" name="Google Shape;377;p27"/>
          <p:cNvSpPr/>
          <p:nvPr/>
        </p:nvSpPr>
        <p:spPr>
          <a:xfrm>
            <a:off x="97801" y="3928529"/>
            <a:ext cx="285900" cy="28590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78" name="Google Shape;378;p27"/>
          <p:cNvSpPr/>
          <p:nvPr/>
        </p:nvSpPr>
        <p:spPr>
          <a:xfrm>
            <a:off x="160606" y="3999966"/>
            <a:ext cx="617400" cy="142800"/>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01</a:t>
            </a:r>
            <a:endParaRPr sz="1100" b="0" i="0" u="none" strike="noStrike" cap="none">
              <a:solidFill>
                <a:schemeClr val="dk1"/>
              </a:solidFill>
              <a:latin typeface="Calibri"/>
              <a:ea typeface="Calibri"/>
              <a:cs typeface="Calibri"/>
              <a:sym typeface="Calibri"/>
            </a:endParaRPr>
          </a:p>
        </p:txBody>
      </p:sp>
      <p:sp>
        <p:nvSpPr>
          <p:cNvPr id="379" name="Google Shape;379;p27"/>
          <p:cNvSpPr/>
          <p:nvPr/>
        </p:nvSpPr>
        <p:spPr>
          <a:xfrm>
            <a:off x="97801" y="4255430"/>
            <a:ext cx="2590800" cy="144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0" name="Google Shape;380;p27"/>
          <p:cNvSpPr/>
          <p:nvPr/>
        </p:nvSpPr>
        <p:spPr>
          <a:xfrm>
            <a:off x="97801" y="4336764"/>
            <a:ext cx="2590800" cy="927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600"/>
              <a:buFont typeface="Red Hat Mono Medium"/>
              <a:buNone/>
            </a:pPr>
            <a:r>
              <a:rPr lang="en-US" sz="600" b="0" i="0" u="none" strike="noStrike" cap="none">
                <a:solidFill>
                  <a:srgbClr val="16171D"/>
                </a:solidFill>
                <a:latin typeface="Red Hat Mono Medium"/>
                <a:ea typeface="Red Hat Mono Medium"/>
                <a:cs typeface="Red Hat Mono Medium"/>
                <a:sym typeface="Red Hat Mono Medium"/>
              </a:rPr>
              <a:t>DATA</a:t>
            </a:r>
            <a:endParaRPr sz="600" b="0" i="0" u="none" strike="noStrike" cap="none">
              <a:solidFill>
                <a:schemeClr val="dk1"/>
              </a:solidFill>
              <a:latin typeface="Calibri"/>
              <a:ea typeface="Calibri"/>
              <a:cs typeface="Calibri"/>
              <a:sym typeface="Calibri"/>
            </a:endParaRPr>
          </a:p>
        </p:txBody>
      </p:sp>
      <p:sp>
        <p:nvSpPr>
          <p:cNvPr id="381" name="Google Shape;381;p27"/>
          <p:cNvSpPr/>
          <p:nvPr/>
        </p:nvSpPr>
        <p:spPr>
          <a:xfrm>
            <a:off x="97801" y="4453556"/>
            <a:ext cx="2590800" cy="1248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900"/>
              <a:buFont typeface="Hanken Grotesk"/>
              <a:buNone/>
            </a:pPr>
            <a:r>
              <a:rPr lang="en-US" sz="900" b="1" i="0" u="none" strike="noStrike" cap="none">
                <a:solidFill>
                  <a:srgbClr val="16171D"/>
                </a:solidFill>
                <a:latin typeface="Hanken Grotesk"/>
                <a:ea typeface="Hanken Grotesk"/>
                <a:cs typeface="Hanken Grotesk"/>
                <a:sym typeface="Hanken Grotesk"/>
              </a:rPr>
              <a:t>Clean and index</a:t>
            </a:r>
            <a:endParaRPr sz="900" b="0" i="0" u="none" strike="noStrike" cap="none">
              <a:solidFill>
                <a:schemeClr val="dk1"/>
              </a:solidFill>
              <a:latin typeface="Calibri"/>
              <a:ea typeface="Calibri"/>
              <a:cs typeface="Calibri"/>
              <a:sym typeface="Calibri"/>
            </a:endParaRPr>
          </a:p>
        </p:txBody>
      </p:sp>
      <p:sp>
        <p:nvSpPr>
          <p:cNvPr id="382" name="Google Shape;382;p27"/>
          <p:cNvSpPr/>
          <p:nvPr/>
        </p:nvSpPr>
        <p:spPr>
          <a:xfrm>
            <a:off x="97801" y="4623965"/>
            <a:ext cx="2590800" cy="115200"/>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16171D"/>
              </a:buClr>
              <a:buSzPts val="800"/>
              <a:buFont typeface="Hanken Grotesk"/>
              <a:buNone/>
            </a:pPr>
            <a:r>
              <a:rPr lang="en-US" sz="800" b="0" i="0" u="none" strike="noStrike" cap="none">
                <a:solidFill>
                  <a:srgbClr val="16171D"/>
                </a:solidFill>
                <a:latin typeface="Hanken Grotesk"/>
                <a:ea typeface="Hanken Grotesk"/>
                <a:cs typeface="Hanken Grotesk"/>
                <a:sym typeface="Hanken Grotesk"/>
              </a:rPr>
              <a:t>Types, dates, missing values.</a:t>
            </a:r>
            <a:endParaRPr sz="800" b="0" i="0" u="none" strike="noStrike" cap="none">
              <a:solidFill>
                <a:schemeClr val="dk1"/>
              </a:solidFill>
              <a:latin typeface="Calibri"/>
              <a:ea typeface="Calibri"/>
              <a:cs typeface="Calibri"/>
              <a:sym typeface="Calibri"/>
            </a:endParaRPr>
          </a:p>
        </p:txBody>
      </p:sp>
      <p:sp>
        <p:nvSpPr>
          <p:cNvPr id="383" name="Google Shape;383;p27"/>
          <p:cNvSpPr/>
          <p:nvPr/>
        </p:nvSpPr>
        <p:spPr>
          <a:xfrm>
            <a:off x="3017356" y="3950691"/>
            <a:ext cx="285900" cy="28590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4" name="Google Shape;384;p27"/>
          <p:cNvSpPr/>
          <p:nvPr/>
        </p:nvSpPr>
        <p:spPr>
          <a:xfrm>
            <a:off x="3080161" y="4022129"/>
            <a:ext cx="617400" cy="142800"/>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02</a:t>
            </a:r>
            <a:endParaRPr sz="1100" b="0" i="0" u="none" strike="noStrike" cap="none">
              <a:solidFill>
                <a:schemeClr val="dk1"/>
              </a:solidFill>
              <a:latin typeface="Calibri"/>
              <a:ea typeface="Calibri"/>
              <a:cs typeface="Calibri"/>
              <a:sym typeface="Calibri"/>
            </a:endParaRPr>
          </a:p>
        </p:txBody>
      </p:sp>
      <p:sp>
        <p:nvSpPr>
          <p:cNvPr id="385" name="Google Shape;385;p27"/>
          <p:cNvSpPr/>
          <p:nvPr/>
        </p:nvSpPr>
        <p:spPr>
          <a:xfrm>
            <a:off x="3017356" y="4277592"/>
            <a:ext cx="2590800" cy="144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6" name="Google Shape;386;p27"/>
          <p:cNvSpPr/>
          <p:nvPr/>
        </p:nvSpPr>
        <p:spPr>
          <a:xfrm>
            <a:off x="3017356" y="4358927"/>
            <a:ext cx="2590800" cy="927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600"/>
              <a:buFont typeface="Red Hat Mono Medium"/>
              <a:buNone/>
            </a:pPr>
            <a:r>
              <a:rPr lang="en-US" sz="600" b="0" i="0" u="none" strike="noStrike" cap="none">
                <a:solidFill>
                  <a:srgbClr val="16171D"/>
                </a:solidFill>
                <a:latin typeface="Red Hat Mono Medium"/>
                <a:ea typeface="Red Hat Mono Medium"/>
                <a:cs typeface="Red Hat Mono Medium"/>
                <a:sym typeface="Red Hat Mono Medium"/>
              </a:rPr>
              <a:t>MODEL</a:t>
            </a:r>
            <a:endParaRPr sz="600" b="0" i="0" u="none" strike="noStrike" cap="none">
              <a:solidFill>
                <a:schemeClr val="dk1"/>
              </a:solidFill>
              <a:latin typeface="Calibri"/>
              <a:ea typeface="Calibri"/>
              <a:cs typeface="Calibri"/>
              <a:sym typeface="Calibri"/>
            </a:endParaRPr>
          </a:p>
        </p:txBody>
      </p:sp>
      <p:sp>
        <p:nvSpPr>
          <p:cNvPr id="387" name="Google Shape;387;p27"/>
          <p:cNvSpPr/>
          <p:nvPr/>
        </p:nvSpPr>
        <p:spPr>
          <a:xfrm>
            <a:off x="3017356" y="4475718"/>
            <a:ext cx="2590800" cy="1248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900"/>
              <a:buFont typeface="Hanken Grotesk"/>
              <a:buNone/>
            </a:pPr>
            <a:r>
              <a:rPr lang="en-US" sz="900" b="1" i="0" u="none" strike="noStrike" cap="none">
                <a:solidFill>
                  <a:srgbClr val="16171D"/>
                </a:solidFill>
                <a:latin typeface="Hanken Grotesk"/>
                <a:ea typeface="Hanken Grotesk"/>
                <a:cs typeface="Hanken Grotesk"/>
                <a:sym typeface="Hanken Grotesk"/>
              </a:rPr>
              <a:t>Prevent leakage</a:t>
            </a:r>
            <a:endParaRPr sz="900" b="0" i="0" u="none" strike="noStrike" cap="none">
              <a:solidFill>
                <a:schemeClr val="dk1"/>
              </a:solidFill>
              <a:latin typeface="Calibri"/>
              <a:ea typeface="Calibri"/>
              <a:cs typeface="Calibri"/>
              <a:sym typeface="Calibri"/>
            </a:endParaRPr>
          </a:p>
        </p:txBody>
      </p:sp>
      <p:sp>
        <p:nvSpPr>
          <p:cNvPr id="388" name="Google Shape;388;p27"/>
          <p:cNvSpPr/>
          <p:nvPr/>
        </p:nvSpPr>
        <p:spPr>
          <a:xfrm>
            <a:off x="3017356" y="4646128"/>
            <a:ext cx="2590800" cy="115200"/>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16171D"/>
              </a:buClr>
              <a:buSzPts val="800"/>
              <a:buFont typeface="Hanken Grotesk"/>
              <a:buNone/>
            </a:pPr>
            <a:r>
              <a:rPr lang="en-US" sz="800" b="0" i="0" u="none" strike="noStrike" cap="none">
                <a:solidFill>
                  <a:srgbClr val="16171D"/>
                </a:solidFill>
                <a:latin typeface="Hanken Grotesk"/>
                <a:ea typeface="Hanken Grotesk"/>
                <a:cs typeface="Hanken Grotesk"/>
                <a:sym typeface="Hanken Grotesk"/>
              </a:rPr>
              <a:t>Chronological split and balanced labels.</a:t>
            </a:r>
            <a:endParaRPr sz="800" b="0" i="0" u="none" strike="noStrike" cap="none">
              <a:solidFill>
                <a:schemeClr val="dk1"/>
              </a:solidFill>
              <a:latin typeface="Calibri"/>
              <a:ea typeface="Calibri"/>
              <a:cs typeface="Calibri"/>
              <a:sym typeface="Calibri"/>
            </a:endParaRPr>
          </a:p>
        </p:txBody>
      </p:sp>
      <p:sp>
        <p:nvSpPr>
          <p:cNvPr id="389" name="Google Shape;389;p27"/>
          <p:cNvSpPr/>
          <p:nvPr/>
        </p:nvSpPr>
        <p:spPr>
          <a:xfrm>
            <a:off x="5824975" y="3674475"/>
            <a:ext cx="2590800" cy="12741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0" name="Google Shape;390;p27"/>
          <p:cNvSpPr/>
          <p:nvPr/>
        </p:nvSpPr>
        <p:spPr>
          <a:xfrm>
            <a:off x="5867410" y="3879266"/>
            <a:ext cx="285900" cy="28590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1" name="Google Shape;391;p27"/>
          <p:cNvSpPr/>
          <p:nvPr/>
        </p:nvSpPr>
        <p:spPr>
          <a:xfrm>
            <a:off x="5930215" y="3950704"/>
            <a:ext cx="617400" cy="142800"/>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03</a:t>
            </a:r>
            <a:endParaRPr sz="1100" b="0" i="0" u="none" strike="noStrike" cap="none">
              <a:solidFill>
                <a:schemeClr val="dk1"/>
              </a:solidFill>
              <a:latin typeface="Calibri"/>
              <a:ea typeface="Calibri"/>
              <a:cs typeface="Calibri"/>
              <a:sym typeface="Calibri"/>
            </a:endParaRPr>
          </a:p>
        </p:txBody>
      </p:sp>
      <p:sp>
        <p:nvSpPr>
          <p:cNvPr id="392" name="Google Shape;392;p27"/>
          <p:cNvSpPr/>
          <p:nvPr/>
        </p:nvSpPr>
        <p:spPr>
          <a:xfrm>
            <a:off x="5867410" y="4206167"/>
            <a:ext cx="2247900" cy="144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3" name="Google Shape;393;p27"/>
          <p:cNvSpPr/>
          <p:nvPr/>
        </p:nvSpPr>
        <p:spPr>
          <a:xfrm>
            <a:off x="5867410" y="4287502"/>
            <a:ext cx="2419500" cy="927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600"/>
              <a:buFont typeface="Red Hat Mono Medium"/>
              <a:buNone/>
            </a:pPr>
            <a:r>
              <a:rPr lang="en-US" sz="600" b="0" i="0" u="none" strike="noStrike" cap="none">
                <a:solidFill>
                  <a:srgbClr val="000000"/>
                </a:solidFill>
                <a:latin typeface="Red Hat Mono Medium"/>
                <a:ea typeface="Red Hat Mono Medium"/>
                <a:cs typeface="Red Hat Mono Medium"/>
                <a:sym typeface="Red Hat Mono Medium"/>
              </a:rPr>
              <a:t>DELIVERY</a:t>
            </a:r>
            <a:endParaRPr sz="600" b="0" i="0" u="none" strike="noStrike" cap="none">
              <a:solidFill>
                <a:schemeClr val="dk1"/>
              </a:solidFill>
              <a:latin typeface="Calibri"/>
              <a:ea typeface="Calibri"/>
              <a:cs typeface="Calibri"/>
              <a:sym typeface="Calibri"/>
            </a:endParaRPr>
          </a:p>
        </p:txBody>
      </p:sp>
      <p:sp>
        <p:nvSpPr>
          <p:cNvPr id="394" name="Google Shape;394;p27"/>
          <p:cNvSpPr/>
          <p:nvPr/>
        </p:nvSpPr>
        <p:spPr>
          <a:xfrm>
            <a:off x="5867410" y="4404293"/>
            <a:ext cx="2247900" cy="1248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900"/>
              <a:buFont typeface="Hanken Grotesk"/>
              <a:buNone/>
            </a:pPr>
            <a:r>
              <a:rPr lang="en-US" sz="900" b="1" i="0" u="none" strike="noStrike" cap="none">
                <a:solidFill>
                  <a:srgbClr val="000000"/>
                </a:solidFill>
                <a:latin typeface="Hanken Grotesk"/>
                <a:ea typeface="Hanken Grotesk"/>
                <a:cs typeface="Hanken Grotesk"/>
                <a:sym typeface="Hanken Grotesk"/>
              </a:rPr>
              <a:t>Make it usable</a:t>
            </a:r>
            <a:endParaRPr sz="900" b="0" i="0" u="none" strike="noStrike" cap="none">
              <a:solidFill>
                <a:schemeClr val="dk1"/>
              </a:solidFill>
              <a:latin typeface="Calibri"/>
              <a:ea typeface="Calibri"/>
              <a:cs typeface="Calibri"/>
              <a:sym typeface="Calibri"/>
            </a:endParaRPr>
          </a:p>
        </p:txBody>
      </p:sp>
      <p:sp>
        <p:nvSpPr>
          <p:cNvPr id="395" name="Google Shape;395;p27"/>
          <p:cNvSpPr/>
          <p:nvPr/>
        </p:nvSpPr>
        <p:spPr>
          <a:xfrm>
            <a:off x="5867410" y="4574703"/>
            <a:ext cx="2419500" cy="115200"/>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000000"/>
              </a:buClr>
              <a:buSzPts val="800"/>
              <a:buFont typeface="Hanken Grotesk"/>
              <a:buNone/>
            </a:pPr>
            <a:r>
              <a:rPr lang="en-US" sz="800" b="0" i="0" u="none" strike="noStrike" cap="none">
                <a:solidFill>
                  <a:srgbClr val="000000"/>
                </a:solidFill>
                <a:latin typeface="Hanken Grotesk"/>
                <a:ea typeface="Hanken Grotesk"/>
                <a:cs typeface="Hanken Grotesk"/>
                <a:sym typeface="Hanken Grotesk"/>
              </a:rPr>
              <a:t>Clear errors, robust forecasts and a dashboard.</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8"/>
          <p:cNvSpPr/>
          <p:nvPr/>
        </p:nvSpPr>
        <p:spPr>
          <a:xfrm>
            <a:off x="457201" y="815801"/>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CLOSING REVIEW · PLATFORM ARC</a:t>
            </a:r>
            <a:endParaRPr sz="1000" b="0" i="0" u="none" strike="noStrike" cap="none">
              <a:solidFill>
                <a:schemeClr val="dk1"/>
              </a:solidFill>
              <a:latin typeface="Calibri"/>
              <a:ea typeface="Calibri"/>
              <a:cs typeface="Calibri"/>
              <a:sym typeface="Calibri"/>
            </a:endParaRPr>
          </a:p>
        </p:txBody>
      </p:sp>
      <p:sp>
        <p:nvSpPr>
          <p:cNvPr id="402" name="Google Shape;402;p28"/>
          <p:cNvSpPr/>
          <p:nvPr/>
        </p:nvSpPr>
        <p:spPr>
          <a:xfrm>
            <a:off x="457201" y="1089505"/>
            <a:ext cx="8229614" cy="43428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WHAT THE PLATFORM DELIVERS</a:t>
            </a:r>
            <a:endParaRPr sz="3600" b="0" i="0" u="none" strike="noStrike" cap="none">
              <a:solidFill>
                <a:schemeClr val="dk1"/>
              </a:solidFill>
              <a:latin typeface="Calibri"/>
              <a:ea typeface="Calibri"/>
              <a:cs typeface="Calibri"/>
              <a:sym typeface="Calibri"/>
            </a:endParaRPr>
          </a:p>
        </p:txBody>
      </p:sp>
      <p:sp>
        <p:nvSpPr>
          <p:cNvPr id="403" name="Google Shape;403;p28"/>
          <p:cNvSpPr/>
          <p:nvPr/>
        </p:nvSpPr>
        <p:spPr>
          <a:xfrm>
            <a:off x="457201" y="1638345"/>
            <a:ext cx="8686814"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From market data to an accessible decision-support workflow.</a:t>
            </a:r>
            <a:endParaRPr sz="1400" b="0" i="0" u="none" strike="noStrike" cap="none">
              <a:solidFill>
                <a:schemeClr val="dk1"/>
              </a:solidFill>
              <a:latin typeface="Calibri"/>
              <a:ea typeface="Calibri"/>
              <a:cs typeface="Calibri"/>
              <a:sym typeface="Calibri"/>
            </a:endParaRPr>
          </a:p>
        </p:txBody>
      </p:sp>
      <p:sp>
        <p:nvSpPr>
          <p:cNvPr id="404" name="Google Shape;404;p28"/>
          <p:cNvSpPr/>
          <p:nvPr/>
        </p:nvSpPr>
        <p:spPr>
          <a:xfrm>
            <a:off x="457201" y="2212538"/>
            <a:ext cx="257175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Prepare</a:t>
            </a:r>
            <a:endParaRPr sz="1400" b="0" i="0" u="none" strike="noStrike" cap="none">
              <a:solidFill>
                <a:schemeClr val="dk1"/>
              </a:solidFill>
              <a:latin typeface="Calibri"/>
              <a:ea typeface="Calibri"/>
              <a:cs typeface="Calibri"/>
              <a:sym typeface="Calibri"/>
            </a:endParaRPr>
          </a:p>
        </p:txBody>
      </p:sp>
      <p:sp>
        <p:nvSpPr>
          <p:cNvPr id="405" name="Google Shape;405;p28"/>
          <p:cNvSpPr/>
          <p:nvPr/>
        </p:nvSpPr>
        <p:spPr>
          <a:xfrm>
            <a:off x="457201" y="2535972"/>
            <a:ext cx="257175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Data preparation across historical Indian market data.</a:t>
            </a:r>
            <a:endParaRPr sz="1200" b="0" i="0" u="none" strike="noStrike" cap="none">
              <a:solidFill>
                <a:schemeClr val="dk1"/>
              </a:solidFill>
              <a:latin typeface="Calibri"/>
              <a:ea typeface="Calibri"/>
              <a:cs typeface="Calibri"/>
              <a:sym typeface="Calibri"/>
            </a:endParaRPr>
          </a:p>
        </p:txBody>
      </p:sp>
      <p:sp>
        <p:nvSpPr>
          <p:cNvPr id="406" name="Google Shape;406;p28"/>
          <p:cNvSpPr/>
          <p:nvPr/>
        </p:nvSpPr>
        <p:spPr>
          <a:xfrm>
            <a:off x="457201" y="3125897"/>
            <a:ext cx="257175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Engineer</a:t>
            </a:r>
            <a:endParaRPr sz="1400" b="0" i="0" u="none" strike="noStrike" cap="none">
              <a:solidFill>
                <a:schemeClr val="dk1"/>
              </a:solidFill>
              <a:latin typeface="Calibri"/>
              <a:ea typeface="Calibri"/>
              <a:cs typeface="Calibri"/>
              <a:sym typeface="Calibri"/>
            </a:endParaRPr>
          </a:p>
        </p:txBody>
      </p:sp>
      <p:sp>
        <p:nvSpPr>
          <p:cNvPr id="407" name="Google Shape;407;p28"/>
          <p:cNvSpPr/>
          <p:nvPr/>
        </p:nvSpPr>
        <p:spPr>
          <a:xfrm>
            <a:off x="457201" y="3449330"/>
            <a:ext cx="257175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Feature engineering turns prices into technical indicators.</a:t>
            </a:r>
            <a:endParaRPr sz="1200" b="0" i="0" u="none" strike="noStrike" cap="none">
              <a:solidFill>
                <a:schemeClr val="dk1"/>
              </a:solidFill>
              <a:latin typeface="Calibri"/>
              <a:ea typeface="Calibri"/>
              <a:cs typeface="Calibri"/>
              <a:sym typeface="Calibri"/>
            </a:endParaRPr>
          </a:p>
        </p:txBody>
      </p:sp>
      <p:sp>
        <p:nvSpPr>
          <p:cNvPr id="408" name="Google Shape;408;p28"/>
          <p:cNvSpPr/>
          <p:nvPr/>
        </p:nvSpPr>
        <p:spPr>
          <a:xfrm>
            <a:off x="3371856" y="2212538"/>
            <a:ext cx="240030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Compare</a:t>
            </a:r>
            <a:endParaRPr sz="1400" b="0" i="0" u="none" strike="noStrike" cap="none">
              <a:solidFill>
                <a:schemeClr val="dk1"/>
              </a:solidFill>
              <a:latin typeface="Calibri"/>
              <a:ea typeface="Calibri"/>
              <a:cs typeface="Calibri"/>
              <a:sym typeface="Calibri"/>
            </a:endParaRPr>
          </a:p>
        </p:txBody>
      </p:sp>
      <p:sp>
        <p:nvSpPr>
          <p:cNvPr id="409" name="Google Shape;409;p28"/>
          <p:cNvSpPr/>
          <p:nvPr/>
        </p:nvSpPr>
        <p:spPr>
          <a:xfrm>
            <a:off x="3371856" y="2535972"/>
            <a:ext cx="240030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Model comparison across Gradient Boosting, ARIMA and LSTM.</a:t>
            </a:r>
            <a:endParaRPr sz="1200" b="0" i="0" u="none" strike="noStrike" cap="none">
              <a:solidFill>
                <a:schemeClr val="dk1"/>
              </a:solidFill>
              <a:latin typeface="Calibri"/>
              <a:ea typeface="Calibri"/>
              <a:cs typeface="Calibri"/>
              <a:sym typeface="Calibri"/>
            </a:endParaRPr>
          </a:p>
        </p:txBody>
      </p:sp>
      <p:sp>
        <p:nvSpPr>
          <p:cNvPr id="410" name="Google Shape;410;p28"/>
          <p:cNvSpPr/>
          <p:nvPr/>
        </p:nvSpPr>
        <p:spPr>
          <a:xfrm>
            <a:off x="3371856" y="3125897"/>
            <a:ext cx="240030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Explain</a:t>
            </a:r>
            <a:endParaRPr sz="1400" b="0" i="0" u="none" strike="noStrike" cap="none">
              <a:solidFill>
                <a:schemeClr val="dk1"/>
              </a:solidFill>
              <a:latin typeface="Calibri"/>
              <a:ea typeface="Calibri"/>
              <a:cs typeface="Calibri"/>
              <a:sym typeface="Calibri"/>
            </a:endParaRPr>
          </a:p>
        </p:txBody>
      </p:sp>
      <p:sp>
        <p:nvSpPr>
          <p:cNvPr id="411" name="Google Shape;411;p28"/>
          <p:cNvSpPr/>
          <p:nvPr/>
        </p:nvSpPr>
        <p:spPr>
          <a:xfrm>
            <a:off x="3371856" y="3449330"/>
            <a:ext cx="240030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SHAP makes the signals inspectable.</a:t>
            </a:r>
            <a:endParaRPr sz="1200" b="0" i="0" u="none" strike="noStrike" cap="none">
              <a:solidFill>
                <a:schemeClr val="dk1"/>
              </a:solidFill>
              <a:latin typeface="Calibri"/>
              <a:ea typeface="Calibri"/>
              <a:cs typeface="Calibri"/>
              <a:sym typeface="Calibri"/>
            </a:endParaRPr>
          </a:p>
        </p:txBody>
      </p:sp>
      <p:sp>
        <p:nvSpPr>
          <p:cNvPr id="412" name="Google Shape;412;p28"/>
          <p:cNvSpPr/>
          <p:nvPr/>
        </p:nvSpPr>
        <p:spPr>
          <a:xfrm>
            <a:off x="5943610" y="2032397"/>
            <a:ext cx="2743205" cy="2014835"/>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3" name="Google Shape;413;p28"/>
          <p:cNvSpPr/>
          <p:nvPr/>
        </p:nvSpPr>
        <p:spPr>
          <a:xfrm>
            <a:off x="6115060" y="2212538"/>
            <a:ext cx="240030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Present</a:t>
            </a:r>
            <a:endParaRPr sz="1400" b="0" i="0" u="none" strike="noStrike" cap="none">
              <a:solidFill>
                <a:schemeClr val="dk1"/>
              </a:solidFill>
              <a:latin typeface="Calibri"/>
              <a:ea typeface="Calibri"/>
              <a:cs typeface="Calibri"/>
              <a:sym typeface="Calibri"/>
            </a:endParaRPr>
          </a:p>
        </p:txBody>
      </p:sp>
      <p:sp>
        <p:nvSpPr>
          <p:cNvPr id="414" name="Google Shape;414;p28"/>
          <p:cNvSpPr/>
          <p:nvPr/>
        </p:nvSpPr>
        <p:spPr>
          <a:xfrm>
            <a:off x="6115060" y="2535972"/>
            <a:ext cx="240030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Dashboard development turns outputs into a usable workflow.</a:t>
            </a:r>
            <a:endParaRPr sz="1200" b="0" i="0" u="none" strike="noStrike" cap="none">
              <a:solidFill>
                <a:schemeClr val="dk1"/>
              </a:solidFill>
              <a:latin typeface="Calibri"/>
              <a:ea typeface="Calibri"/>
              <a:cs typeface="Calibri"/>
              <a:sym typeface="Calibri"/>
            </a:endParaRPr>
          </a:p>
        </p:txBody>
      </p:sp>
      <p:sp>
        <p:nvSpPr>
          <p:cNvPr id="415" name="Google Shape;415;p28"/>
          <p:cNvSpPr/>
          <p:nvPr/>
        </p:nvSpPr>
        <p:spPr>
          <a:xfrm>
            <a:off x="6115060" y="3125897"/>
            <a:ext cx="2400304"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Backtest</a:t>
            </a:r>
            <a:endParaRPr sz="1400" b="0" i="0" u="none" strike="noStrike" cap="none">
              <a:solidFill>
                <a:schemeClr val="dk1"/>
              </a:solidFill>
              <a:latin typeface="Calibri"/>
              <a:ea typeface="Calibri"/>
              <a:cs typeface="Calibri"/>
              <a:sym typeface="Calibri"/>
            </a:endParaRPr>
          </a:p>
        </p:txBody>
      </p:sp>
      <p:sp>
        <p:nvSpPr>
          <p:cNvPr id="416" name="Google Shape;416;p28"/>
          <p:cNvSpPr/>
          <p:nvPr/>
        </p:nvSpPr>
        <p:spPr>
          <a:xfrm>
            <a:off x="6115060" y="3449330"/>
            <a:ext cx="2400304"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Backtesting connects model behaviour to decisions.</a:t>
            </a:r>
            <a:endParaRPr sz="1200" b="0" i="0" u="none" strike="noStrike" cap="none">
              <a:solidFill>
                <a:schemeClr val="dk1"/>
              </a:solidFill>
              <a:latin typeface="Calibri"/>
              <a:ea typeface="Calibri"/>
              <a:cs typeface="Calibri"/>
              <a:sym typeface="Calibri"/>
            </a:endParaRPr>
          </a:p>
        </p:txBody>
      </p:sp>
      <p:sp>
        <p:nvSpPr>
          <p:cNvPr id="417" name="Google Shape;417;p28"/>
          <p:cNvSpPr/>
          <p:nvPr/>
        </p:nvSpPr>
        <p:spPr>
          <a:xfrm>
            <a:off x="457201" y="4188321"/>
            <a:ext cx="8686814"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COMPLETED ARC · PREDICTION → INTERPRETATION → DECISION SUPPORT</a:t>
            </a:r>
            <a:endParaRPr sz="1000" b="0" i="0" u="none" strike="noStrike" cap="none">
              <a:solidFill>
                <a:schemeClr val="dk1"/>
              </a:solidFill>
              <a:latin typeface="Calibri"/>
              <a:ea typeface="Calibri"/>
              <a:cs typeface="Calibri"/>
              <a:sym typeface="Calibri"/>
            </a:endParaRPr>
          </a:p>
        </p:txBody>
      </p:sp>
      <p:sp>
        <p:nvSpPr>
          <p:cNvPr id="418" name="Google Shape;418;p28"/>
          <p:cNvSpPr/>
          <p:nvPr/>
        </p:nvSpPr>
        <p:spPr>
          <a:xfrm>
            <a:off x="3195642" y="2032397"/>
            <a:ext cx="9525" cy="20148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9" name="Google Shape;419;p28"/>
          <p:cNvSpPr/>
          <p:nvPr/>
        </p:nvSpPr>
        <p:spPr>
          <a:xfrm>
            <a:off x="5938847" y="2032397"/>
            <a:ext cx="9525" cy="20148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29"/>
          <p:cNvSpPr/>
          <p:nvPr/>
        </p:nvSpPr>
        <p:spPr>
          <a:xfrm>
            <a:off x="0" y="0"/>
            <a:ext cx="5486409" cy="51435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6" name="Google Shape;426;p29"/>
          <p:cNvSpPr/>
          <p:nvPr/>
        </p:nvSpPr>
        <p:spPr>
          <a:xfrm>
            <a:off x="457201" y="312539"/>
            <a:ext cx="5029208"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CONCLUSION</a:t>
            </a:r>
            <a:endParaRPr sz="1000" b="0" i="0" u="none" strike="noStrike" cap="none">
              <a:solidFill>
                <a:schemeClr val="dk1"/>
              </a:solidFill>
              <a:latin typeface="Calibri"/>
              <a:ea typeface="Calibri"/>
              <a:cs typeface="Calibri"/>
              <a:sym typeface="Calibri"/>
            </a:endParaRPr>
          </a:p>
        </p:txBody>
      </p:sp>
      <p:sp>
        <p:nvSpPr>
          <p:cNvPr id="427" name="Google Shape;427;p29"/>
          <p:cNvSpPr/>
          <p:nvPr/>
        </p:nvSpPr>
        <p:spPr>
          <a:xfrm>
            <a:off x="457201" y="2106151"/>
            <a:ext cx="4572008" cy="2313236"/>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Clr>
                <a:srgbClr val="000000"/>
              </a:buClr>
              <a:buSzPts val="6600"/>
              <a:buFont typeface="Big Shoulders ExtraBold"/>
              <a:buNone/>
            </a:pPr>
            <a:r>
              <a:rPr lang="en-US" sz="6600" b="0" i="0" u="none" strike="noStrike" cap="none">
                <a:solidFill>
                  <a:srgbClr val="000000"/>
                </a:solidFill>
                <a:latin typeface="Big Shoulders ExtraBold"/>
                <a:ea typeface="Big Shoulders ExtraBold"/>
                <a:cs typeface="Big Shoulders ExtraBold"/>
                <a:sym typeface="Big Shoulders ExtraBold"/>
              </a:rPr>
              <a:t>FROM MODELS</a:t>
            </a:r>
            <a:endParaRPr sz="6600" b="0" i="0" u="none" strike="noStrike" cap="none">
              <a:solidFill>
                <a:schemeClr val="dk1"/>
              </a:solidFill>
              <a:latin typeface="Calibri"/>
              <a:ea typeface="Calibri"/>
              <a:cs typeface="Calibri"/>
              <a:sym typeface="Calibri"/>
            </a:endParaRPr>
          </a:p>
          <a:p>
            <a:pPr marL="0" marR="0" lvl="0" indent="0" algn="l" rtl="0">
              <a:lnSpc>
                <a:spcPct val="77000"/>
              </a:lnSpc>
              <a:spcBef>
                <a:spcPts val="0"/>
              </a:spcBef>
              <a:spcAft>
                <a:spcPts val="0"/>
              </a:spcAft>
              <a:buClr>
                <a:srgbClr val="000000"/>
              </a:buClr>
              <a:buSzPts val="6600"/>
              <a:buFont typeface="Big Shoulders ExtraBold"/>
              <a:buNone/>
            </a:pPr>
            <a:r>
              <a:rPr lang="en-US" sz="6600" b="0" i="0" u="none" strike="noStrike" cap="none">
                <a:solidFill>
                  <a:srgbClr val="000000"/>
                </a:solidFill>
                <a:latin typeface="Big Shoulders ExtraBold"/>
                <a:ea typeface="Big Shoulders ExtraBold"/>
                <a:cs typeface="Big Shoulders ExtraBold"/>
                <a:sym typeface="Big Shoulders ExtraBold"/>
              </a:rPr>
              <a:t>TO DECISIONS</a:t>
            </a:r>
            <a:endParaRPr sz="6600" b="0" i="0" u="none" strike="noStrike" cap="none">
              <a:solidFill>
                <a:schemeClr val="dk1"/>
              </a:solidFill>
              <a:latin typeface="Calibri"/>
              <a:ea typeface="Calibri"/>
              <a:cs typeface="Calibri"/>
              <a:sym typeface="Calibri"/>
            </a:endParaRPr>
          </a:p>
        </p:txBody>
      </p:sp>
      <p:sp>
        <p:nvSpPr>
          <p:cNvPr id="428" name="Google Shape;428;p29"/>
          <p:cNvSpPr/>
          <p:nvPr/>
        </p:nvSpPr>
        <p:spPr>
          <a:xfrm>
            <a:off x="457201" y="4473744"/>
            <a:ext cx="4572008" cy="4799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400"/>
              <a:buFont typeface="Hanken Grotesk"/>
              <a:buNone/>
            </a:pPr>
            <a:r>
              <a:rPr lang="en-US" sz="1400" b="0" i="0" u="none" strike="noStrike" cap="none">
                <a:solidFill>
                  <a:srgbClr val="000000"/>
                </a:solidFill>
                <a:latin typeface="Hanken Grotesk"/>
                <a:ea typeface="Hanken Grotesk"/>
                <a:cs typeface="Hanken Grotesk"/>
                <a:sym typeface="Hanken Grotesk"/>
              </a:rPr>
              <a:t>A deployable, explainable dashboard direction for Indian retail-market analysis.</a:t>
            </a:r>
            <a:endParaRPr sz="1400" b="0" i="0" u="none" strike="noStrike" cap="none">
              <a:solidFill>
                <a:schemeClr val="dk1"/>
              </a:solidFill>
              <a:latin typeface="Calibri"/>
              <a:ea typeface="Calibri"/>
              <a:cs typeface="Calibri"/>
              <a:sym typeface="Calibri"/>
            </a:endParaRPr>
          </a:p>
        </p:txBody>
      </p:sp>
      <p:sp>
        <p:nvSpPr>
          <p:cNvPr id="429" name="Google Shape;429;p29"/>
          <p:cNvSpPr/>
          <p:nvPr/>
        </p:nvSpPr>
        <p:spPr>
          <a:xfrm>
            <a:off x="5943610" y="346271"/>
            <a:ext cx="2743205"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700"/>
              <a:buFont typeface="Big Shoulders ExtraBold"/>
              <a:buNone/>
            </a:pPr>
            <a:r>
              <a:rPr lang="en-US" sz="2700" b="0" i="0" u="none" strike="noStrike" cap="none">
                <a:solidFill>
                  <a:srgbClr val="16171D"/>
                </a:solidFill>
                <a:latin typeface="Big Shoulders ExtraBold"/>
                <a:ea typeface="Big Shoulders ExtraBold"/>
                <a:cs typeface="Big Shoulders ExtraBold"/>
                <a:sym typeface="Big Shoulders ExtraBold"/>
              </a:rPr>
              <a:t>WHAT IS COMPLETE</a:t>
            </a:r>
            <a:endParaRPr sz="2700" b="0" i="0" u="none" strike="noStrike" cap="none">
              <a:solidFill>
                <a:schemeClr val="dk1"/>
              </a:solidFill>
              <a:latin typeface="Calibri"/>
              <a:ea typeface="Calibri"/>
              <a:cs typeface="Calibri"/>
              <a:sym typeface="Calibri"/>
            </a:endParaRPr>
          </a:p>
        </p:txBody>
      </p:sp>
      <p:sp>
        <p:nvSpPr>
          <p:cNvPr id="430" name="Google Shape;430;p29"/>
          <p:cNvSpPr/>
          <p:nvPr/>
        </p:nvSpPr>
        <p:spPr>
          <a:xfrm>
            <a:off x="5943610" y="802675"/>
            <a:ext cx="2743205" cy="71995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Phases 2 to 8 are complete; Phase 9, Streamlit Cloud deployment, is in progress.</a:t>
            </a:r>
            <a:endParaRPr sz="1400" b="0" i="0" u="none" strike="noStrike" cap="none">
              <a:solidFill>
                <a:schemeClr val="dk1"/>
              </a:solidFill>
              <a:latin typeface="Calibri"/>
              <a:ea typeface="Calibri"/>
              <a:cs typeface="Calibri"/>
              <a:sym typeface="Calibri"/>
            </a:endParaRPr>
          </a:p>
        </p:txBody>
      </p:sp>
      <p:sp>
        <p:nvSpPr>
          <p:cNvPr id="431" name="Google Shape;431;p29"/>
          <p:cNvSpPr/>
          <p:nvPr/>
        </p:nvSpPr>
        <p:spPr>
          <a:xfrm>
            <a:off x="5943610" y="1718369"/>
            <a:ext cx="2743205" cy="23738"/>
          </a:xfrm>
          <a:prstGeom prst="roundRect">
            <a:avLst>
              <a:gd name="adj" fmla="val 49998"/>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2" name="Google Shape;432;p29"/>
          <p:cNvSpPr/>
          <p:nvPr/>
        </p:nvSpPr>
        <p:spPr>
          <a:xfrm>
            <a:off x="5943610" y="1946375"/>
            <a:ext cx="3200405"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The platform combines</a:t>
            </a:r>
            <a:endParaRPr sz="1000" b="0" i="0" u="none" strike="noStrike" cap="none">
              <a:solidFill>
                <a:schemeClr val="dk1"/>
              </a:solidFill>
              <a:latin typeface="Calibri"/>
              <a:ea typeface="Calibri"/>
              <a:cs typeface="Calibri"/>
              <a:sym typeface="Calibri"/>
            </a:endParaRPr>
          </a:p>
        </p:txBody>
      </p:sp>
      <p:sp>
        <p:nvSpPr>
          <p:cNvPr id="433" name="Google Shape;433;p29"/>
          <p:cNvSpPr/>
          <p:nvPr/>
        </p:nvSpPr>
        <p:spPr>
          <a:xfrm>
            <a:off x="5943610" y="2248198"/>
            <a:ext cx="2743205" cy="2048470"/>
          </a:xfrm>
          <a:prstGeom prst="rect">
            <a:avLst/>
          </a:prstGeom>
          <a:noFill/>
          <a:ln>
            <a:noFill/>
          </a:ln>
        </p:spPr>
        <p:txBody>
          <a:bodyPr spcFirstLastPara="1" wrap="square" lIns="0" tIns="0" rIns="0" bIns="0" anchor="t" anchorCtr="0">
            <a:noAutofit/>
          </a:bodyPr>
          <a:lstStyle/>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Predictive models and model comparison</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SHAP explanations for interpretable signals</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A dashboard designed for practical usability</a:t>
            </a:r>
            <a:endParaRPr sz="1400" b="0" i="0" u="none" strike="noStrike" cap="none">
              <a:solidFill>
                <a:schemeClr val="dk1"/>
              </a:solidFill>
              <a:latin typeface="Calibri"/>
              <a:ea typeface="Calibri"/>
              <a:cs typeface="Calibri"/>
              <a:sym typeface="Calibri"/>
            </a:endParaRPr>
          </a:p>
          <a:p>
            <a:pPr marL="279400" marR="0" lvl="0" indent="-279400" algn="l" rtl="0">
              <a:lnSpc>
                <a:spcPct val="117000"/>
              </a:lnSpc>
              <a:spcBef>
                <a:spcPts val="0"/>
              </a:spcBef>
              <a:spcAft>
                <a:spcPts val="0"/>
              </a:spcAft>
              <a:buClr>
                <a:srgbClr val="16171D"/>
              </a:buClr>
              <a:buSzPts val="1400"/>
              <a:buFont typeface="Hanken Grotesk"/>
              <a:buChar char="•"/>
            </a:pPr>
            <a:r>
              <a:rPr lang="en-US" sz="1400" b="0" i="0" u="none" strike="noStrike" cap="none">
                <a:solidFill>
                  <a:srgbClr val="16171D"/>
                </a:solidFill>
                <a:latin typeface="Hanken Grotesk"/>
                <a:ea typeface="Hanken Grotesk"/>
                <a:cs typeface="Hanken Grotesk"/>
                <a:sym typeface="Hanken Grotesk"/>
              </a:rPr>
              <a:t>Backtesting to examine decision behaviour</a:t>
            </a:r>
            <a:endParaRPr sz="1400" b="0" i="0" u="none" strike="noStrike" cap="none">
              <a:solidFill>
                <a:schemeClr val="dk1"/>
              </a:solidFill>
              <a:latin typeface="Calibri"/>
              <a:ea typeface="Calibri"/>
              <a:cs typeface="Calibri"/>
              <a:sym typeface="Calibri"/>
            </a:endParaRPr>
          </a:p>
        </p:txBody>
      </p:sp>
      <p:sp>
        <p:nvSpPr>
          <p:cNvPr id="434" name="Google Shape;434;p29"/>
          <p:cNvSpPr/>
          <p:nvPr/>
        </p:nvSpPr>
        <p:spPr>
          <a:xfrm>
            <a:off x="5943610" y="4496396"/>
            <a:ext cx="2743205" cy="464344"/>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PERFORMANCE IS EVIDENCE · USABILITY IS THE DELIVERY TEST</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0"/>
          <p:cNvSpPr/>
          <p:nvPr/>
        </p:nvSpPr>
        <p:spPr>
          <a:xfrm>
            <a:off x="457201" y="385927"/>
            <a:ext cx="8686814" cy="1516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00"/>
              <a:buFont typeface="Red Hat Mono Medium"/>
              <a:buNone/>
            </a:pPr>
            <a:r>
              <a:rPr lang="en-US" sz="900" b="0" i="0" u="none" strike="noStrike" cap="none">
                <a:solidFill>
                  <a:srgbClr val="16171D"/>
                </a:solidFill>
                <a:latin typeface="Red Hat Mono Medium"/>
                <a:ea typeface="Red Hat Mono Medium"/>
                <a:cs typeface="Red Hat Mono Medium"/>
                <a:sym typeface="Red Hat Mono Medium"/>
              </a:rPr>
              <a:t>INTERPRETATION BOUNDARIES</a:t>
            </a:r>
            <a:endParaRPr sz="900" b="0" i="0" u="none" strike="noStrike" cap="none">
              <a:solidFill>
                <a:schemeClr val="dk1"/>
              </a:solidFill>
              <a:latin typeface="Calibri"/>
              <a:ea typeface="Calibri"/>
              <a:cs typeface="Calibri"/>
              <a:sym typeface="Calibri"/>
            </a:endParaRPr>
          </a:p>
        </p:txBody>
      </p:sp>
      <p:sp>
        <p:nvSpPr>
          <p:cNvPr id="441" name="Google Shape;441;p30"/>
          <p:cNvSpPr/>
          <p:nvPr/>
        </p:nvSpPr>
        <p:spPr>
          <a:xfrm>
            <a:off x="457201" y="654308"/>
            <a:ext cx="8229614" cy="425723"/>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500"/>
              <a:buFont typeface="Big Shoulders ExtraBold"/>
              <a:buNone/>
            </a:pPr>
            <a:r>
              <a:rPr lang="en-US" sz="3500" b="0" i="0" u="none" strike="noStrike" cap="none">
                <a:solidFill>
                  <a:srgbClr val="16171D"/>
                </a:solidFill>
                <a:latin typeface="Big Shoulders ExtraBold"/>
                <a:ea typeface="Big Shoulders ExtraBold"/>
                <a:cs typeface="Big Shoulders ExtraBold"/>
                <a:sym typeface="Big Shoulders ExtraBold"/>
              </a:rPr>
              <a:t>LIMITATIONS THAT SHAPE INTERPRETATION</a:t>
            </a:r>
            <a:endParaRPr sz="3500" b="0" i="0" u="none" strike="noStrike" cap="none">
              <a:solidFill>
                <a:schemeClr val="dk1"/>
              </a:solidFill>
              <a:latin typeface="Calibri"/>
              <a:ea typeface="Calibri"/>
              <a:cs typeface="Calibri"/>
              <a:sym typeface="Calibri"/>
            </a:endParaRPr>
          </a:p>
        </p:txBody>
      </p:sp>
      <p:sp>
        <p:nvSpPr>
          <p:cNvPr id="442" name="Google Shape;442;p30"/>
          <p:cNvSpPr/>
          <p:nvPr/>
        </p:nvSpPr>
        <p:spPr>
          <a:xfrm>
            <a:off x="457201" y="1191906"/>
            <a:ext cx="8686814" cy="232991"/>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The results are useful within a defined historical and technical boundary.</a:t>
            </a:r>
            <a:endParaRPr sz="1300" b="0" i="0" u="none" strike="noStrike" cap="none">
              <a:solidFill>
                <a:schemeClr val="dk1"/>
              </a:solidFill>
              <a:latin typeface="Calibri"/>
              <a:ea typeface="Calibri"/>
              <a:cs typeface="Calibri"/>
              <a:sym typeface="Calibri"/>
            </a:endParaRPr>
          </a:p>
        </p:txBody>
      </p:sp>
      <p:sp>
        <p:nvSpPr>
          <p:cNvPr id="443" name="Google Shape;443;p30"/>
          <p:cNvSpPr/>
          <p:nvPr/>
        </p:nvSpPr>
        <p:spPr>
          <a:xfrm>
            <a:off x="590551" y="1685479"/>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4" name="Google Shape;444;p30"/>
          <p:cNvSpPr/>
          <p:nvPr/>
        </p:nvSpPr>
        <p:spPr>
          <a:xfrm>
            <a:off x="693391" y="1756916"/>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1</a:t>
            </a:r>
            <a:endParaRPr sz="1100" b="0" i="0" u="none" strike="noStrike" cap="none">
              <a:solidFill>
                <a:schemeClr val="dk1"/>
              </a:solidFill>
              <a:latin typeface="Calibri"/>
              <a:ea typeface="Calibri"/>
              <a:cs typeface="Calibri"/>
              <a:sym typeface="Calibri"/>
            </a:endParaRPr>
          </a:p>
        </p:txBody>
      </p:sp>
      <p:sp>
        <p:nvSpPr>
          <p:cNvPr id="445" name="Google Shape;445;p30"/>
          <p:cNvSpPr/>
          <p:nvPr/>
        </p:nvSpPr>
        <p:spPr>
          <a:xfrm>
            <a:off x="590551" y="2114293"/>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No tick-by-tick data</a:t>
            </a:r>
            <a:endParaRPr sz="1400" b="0" i="0" u="none" strike="noStrike" cap="none">
              <a:solidFill>
                <a:schemeClr val="dk1"/>
              </a:solidFill>
              <a:latin typeface="Calibri"/>
              <a:ea typeface="Calibri"/>
              <a:cs typeface="Calibri"/>
              <a:sym typeface="Calibri"/>
            </a:endParaRPr>
          </a:p>
        </p:txBody>
      </p:sp>
      <p:sp>
        <p:nvSpPr>
          <p:cNvPr id="446" name="Google Shape;446;p30"/>
          <p:cNvSpPr/>
          <p:nvPr/>
        </p:nvSpPr>
        <p:spPr>
          <a:xfrm>
            <a:off x="590551" y="2429335"/>
            <a:ext cx="2476504" cy="828377"/>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The platform uses end-of-day market data, not tick-by-tick streaming; paid APIs would be needed for that layer.</a:t>
            </a:r>
            <a:endParaRPr sz="1200" b="0" i="0" u="none" strike="noStrike" cap="none">
              <a:solidFill>
                <a:schemeClr val="dk1"/>
              </a:solidFill>
              <a:latin typeface="Calibri"/>
              <a:ea typeface="Calibri"/>
              <a:cs typeface="Calibri"/>
              <a:sym typeface="Calibri"/>
            </a:endParaRPr>
          </a:p>
        </p:txBody>
      </p:sp>
      <p:sp>
        <p:nvSpPr>
          <p:cNvPr id="447" name="Google Shape;447;p30"/>
          <p:cNvSpPr/>
          <p:nvPr/>
        </p:nvSpPr>
        <p:spPr>
          <a:xfrm>
            <a:off x="3333756" y="1685479"/>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8" name="Google Shape;448;p30"/>
          <p:cNvSpPr/>
          <p:nvPr/>
        </p:nvSpPr>
        <p:spPr>
          <a:xfrm>
            <a:off x="3436596" y="1756916"/>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2</a:t>
            </a:r>
            <a:endParaRPr sz="1100" b="0" i="0" u="none" strike="noStrike" cap="none">
              <a:solidFill>
                <a:schemeClr val="dk1"/>
              </a:solidFill>
              <a:latin typeface="Calibri"/>
              <a:ea typeface="Calibri"/>
              <a:cs typeface="Calibri"/>
              <a:sym typeface="Calibri"/>
            </a:endParaRPr>
          </a:p>
        </p:txBody>
      </p:sp>
      <p:sp>
        <p:nvSpPr>
          <p:cNvPr id="449" name="Google Shape;449;p30"/>
          <p:cNvSpPr/>
          <p:nvPr/>
        </p:nvSpPr>
        <p:spPr>
          <a:xfrm>
            <a:off x="3333756" y="2114293"/>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No news or sentiment</a:t>
            </a:r>
            <a:endParaRPr sz="1400" b="0" i="0" u="none" strike="noStrike" cap="none">
              <a:solidFill>
                <a:schemeClr val="dk1"/>
              </a:solidFill>
              <a:latin typeface="Calibri"/>
              <a:ea typeface="Calibri"/>
              <a:cs typeface="Calibri"/>
              <a:sym typeface="Calibri"/>
            </a:endParaRPr>
          </a:p>
        </p:txBody>
      </p:sp>
      <p:sp>
        <p:nvSpPr>
          <p:cNvPr id="450" name="Google Shape;450;p30"/>
          <p:cNvSpPr/>
          <p:nvPr/>
        </p:nvSpPr>
        <p:spPr>
          <a:xfrm>
            <a:off x="3333756" y="2429336"/>
            <a:ext cx="2476504" cy="621283"/>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News sentiment and fundamental data are outside the current technical-analysis scope.</a:t>
            </a:r>
            <a:endParaRPr sz="1200" b="0" i="0" u="none" strike="noStrike" cap="none">
              <a:solidFill>
                <a:schemeClr val="dk1"/>
              </a:solidFill>
              <a:latin typeface="Calibri"/>
              <a:ea typeface="Calibri"/>
              <a:cs typeface="Calibri"/>
              <a:sym typeface="Calibri"/>
            </a:endParaRPr>
          </a:p>
        </p:txBody>
      </p:sp>
      <p:sp>
        <p:nvSpPr>
          <p:cNvPr id="451" name="Google Shape;451;p30"/>
          <p:cNvSpPr/>
          <p:nvPr/>
        </p:nvSpPr>
        <p:spPr>
          <a:xfrm>
            <a:off x="6076960" y="1685479"/>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 name="Google Shape;452;p30"/>
          <p:cNvSpPr/>
          <p:nvPr/>
        </p:nvSpPr>
        <p:spPr>
          <a:xfrm>
            <a:off x="6179800" y="1756916"/>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3</a:t>
            </a:r>
            <a:endParaRPr sz="1100" b="0" i="0" u="none" strike="noStrike" cap="none">
              <a:solidFill>
                <a:schemeClr val="dk1"/>
              </a:solidFill>
              <a:latin typeface="Calibri"/>
              <a:ea typeface="Calibri"/>
              <a:cs typeface="Calibri"/>
              <a:sym typeface="Calibri"/>
            </a:endParaRPr>
          </a:p>
        </p:txBody>
      </p:sp>
      <p:sp>
        <p:nvSpPr>
          <p:cNvPr id="453" name="Google Shape;453;p30"/>
          <p:cNvSpPr/>
          <p:nvPr/>
        </p:nvSpPr>
        <p:spPr>
          <a:xfrm>
            <a:off x="6076960" y="2114293"/>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No transaction-cost modelling</a:t>
            </a:r>
            <a:endParaRPr sz="1400" b="0" i="0" u="none" strike="noStrike" cap="none">
              <a:solidFill>
                <a:schemeClr val="dk1"/>
              </a:solidFill>
              <a:latin typeface="Calibri"/>
              <a:ea typeface="Calibri"/>
              <a:cs typeface="Calibri"/>
              <a:sym typeface="Calibri"/>
            </a:endParaRPr>
          </a:p>
        </p:txBody>
      </p:sp>
      <p:sp>
        <p:nvSpPr>
          <p:cNvPr id="454" name="Google Shape;454;p30"/>
          <p:cNvSpPr/>
          <p:nvPr/>
        </p:nvSpPr>
        <p:spPr>
          <a:xfrm>
            <a:off x="6076960" y="2429335"/>
            <a:ext cx="2476504" cy="828377"/>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Backtesting does not model transaction costs; returns should not be read as realised investment outcomes.</a:t>
            </a:r>
            <a:endParaRPr sz="1200" b="0" i="0" u="none" strike="noStrike" cap="none">
              <a:solidFill>
                <a:schemeClr val="dk1"/>
              </a:solidFill>
              <a:latin typeface="Calibri"/>
              <a:ea typeface="Calibri"/>
              <a:cs typeface="Calibri"/>
              <a:sym typeface="Calibri"/>
            </a:endParaRPr>
          </a:p>
        </p:txBody>
      </p:sp>
      <p:sp>
        <p:nvSpPr>
          <p:cNvPr id="455" name="Google Shape;455;p30"/>
          <p:cNvSpPr/>
          <p:nvPr/>
        </p:nvSpPr>
        <p:spPr>
          <a:xfrm>
            <a:off x="590551" y="3484513"/>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6" name="Google Shape;456;p30"/>
          <p:cNvSpPr/>
          <p:nvPr/>
        </p:nvSpPr>
        <p:spPr>
          <a:xfrm>
            <a:off x="693391" y="3555950"/>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4</a:t>
            </a:r>
            <a:endParaRPr sz="1100" b="0" i="0" u="none" strike="noStrike" cap="none">
              <a:solidFill>
                <a:schemeClr val="dk1"/>
              </a:solidFill>
              <a:latin typeface="Calibri"/>
              <a:ea typeface="Calibri"/>
              <a:cs typeface="Calibri"/>
              <a:sym typeface="Calibri"/>
            </a:endParaRPr>
          </a:p>
        </p:txBody>
      </p:sp>
      <p:sp>
        <p:nvSpPr>
          <p:cNvPr id="457" name="Google Shape;457;p30"/>
          <p:cNvSpPr/>
          <p:nvPr/>
        </p:nvSpPr>
        <p:spPr>
          <a:xfrm>
            <a:off x="590551" y="3913327"/>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Limited stock coverage</a:t>
            </a:r>
            <a:endParaRPr sz="1400" b="0" i="0" u="none" strike="noStrike" cap="none">
              <a:solidFill>
                <a:schemeClr val="dk1"/>
              </a:solidFill>
              <a:latin typeface="Calibri"/>
              <a:ea typeface="Calibri"/>
              <a:cs typeface="Calibri"/>
              <a:sym typeface="Calibri"/>
            </a:endParaRPr>
          </a:p>
        </p:txBody>
      </p:sp>
      <p:sp>
        <p:nvSpPr>
          <p:cNvPr id="458" name="Google Shape;458;p30"/>
          <p:cNvSpPr/>
          <p:nvPr/>
        </p:nvSpPr>
        <p:spPr>
          <a:xfrm>
            <a:off x="590551" y="4228370"/>
            <a:ext cx="2476504" cy="621283"/>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The current platform covers three stocks; findings do not represent the full Indian market.</a:t>
            </a:r>
            <a:endParaRPr sz="1200" b="0" i="0" u="none" strike="noStrike" cap="none">
              <a:solidFill>
                <a:schemeClr val="dk1"/>
              </a:solidFill>
              <a:latin typeface="Calibri"/>
              <a:ea typeface="Calibri"/>
              <a:cs typeface="Calibri"/>
              <a:sym typeface="Calibri"/>
            </a:endParaRPr>
          </a:p>
        </p:txBody>
      </p:sp>
      <p:sp>
        <p:nvSpPr>
          <p:cNvPr id="459" name="Google Shape;459;p30"/>
          <p:cNvSpPr/>
          <p:nvPr/>
        </p:nvSpPr>
        <p:spPr>
          <a:xfrm>
            <a:off x="3333756" y="3484513"/>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0" name="Google Shape;460;p30"/>
          <p:cNvSpPr/>
          <p:nvPr/>
        </p:nvSpPr>
        <p:spPr>
          <a:xfrm>
            <a:off x="3436596" y="3555950"/>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5</a:t>
            </a:r>
            <a:endParaRPr sz="1100" b="0" i="0" u="none" strike="noStrike" cap="none">
              <a:solidFill>
                <a:schemeClr val="dk1"/>
              </a:solidFill>
              <a:latin typeface="Calibri"/>
              <a:ea typeface="Calibri"/>
              <a:cs typeface="Calibri"/>
              <a:sym typeface="Calibri"/>
            </a:endParaRPr>
          </a:p>
        </p:txBody>
      </p:sp>
      <p:sp>
        <p:nvSpPr>
          <p:cNvPr id="461" name="Google Shape;461;p30"/>
          <p:cNvSpPr/>
          <p:nvPr/>
        </p:nvSpPr>
        <p:spPr>
          <a:xfrm>
            <a:off x="3333756" y="3913327"/>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Limited historical scope</a:t>
            </a:r>
            <a:endParaRPr sz="1400" b="0" i="0" u="none" strike="noStrike" cap="none">
              <a:solidFill>
                <a:schemeClr val="dk1"/>
              </a:solidFill>
              <a:latin typeface="Calibri"/>
              <a:ea typeface="Calibri"/>
              <a:cs typeface="Calibri"/>
              <a:sym typeface="Calibri"/>
            </a:endParaRPr>
          </a:p>
        </p:txBody>
      </p:sp>
      <p:sp>
        <p:nvSpPr>
          <p:cNvPr id="462" name="Google Shape;462;p30"/>
          <p:cNvSpPr/>
          <p:nvPr/>
        </p:nvSpPr>
        <p:spPr>
          <a:xfrm>
            <a:off x="3333756" y="4228370"/>
            <a:ext cx="2476504" cy="828377"/>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The evidence comes from a limited historical window and cannot establish performance across every market regime.</a:t>
            </a:r>
            <a:endParaRPr sz="1200" b="0" i="0" u="none" strike="noStrike" cap="none">
              <a:solidFill>
                <a:schemeClr val="dk1"/>
              </a:solidFill>
              <a:latin typeface="Calibri"/>
              <a:ea typeface="Calibri"/>
              <a:cs typeface="Calibri"/>
              <a:sym typeface="Calibri"/>
            </a:endParaRPr>
          </a:p>
        </p:txBody>
      </p:sp>
      <p:sp>
        <p:nvSpPr>
          <p:cNvPr id="463" name="Google Shape;463;p30"/>
          <p:cNvSpPr/>
          <p:nvPr/>
        </p:nvSpPr>
        <p:spPr>
          <a:xfrm>
            <a:off x="5943610" y="3370213"/>
            <a:ext cx="2743205" cy="1799035"/>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4" name="Google Shape;464;p30"/>
          <p:cNvSpPr/>
          <p:nvPr/>
        </p:nvSpPr>
        <p:spPr>
          <a:xfrm>
            <a:off x="6076960" y="3484513"/>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5" name="Google Shape;465;p30"/>
          <p:cNvSpPr/>
          <p:nvPr/>
        </p:nvSpPr>
        <p:spPr>
          <a:xfrm>
            <a:off x="6179800" y="3555950"/>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6</a:t>
            </a:r>
            <a:endParaRPr sz="1100" b="0" i="0" u="none" strike="noStrike" cap="none">
              <a:solidFill>
                <a:schemeClr val="dk1"/>
              </a:solidFill>
              <a:latin typeface="Calibri"/>
              <a:ea typeface="Calibri"/>
              <a:cs typeface="Calibri"/>
              <a:sym typeface="Calibri"/>
            </a:endParaRPr>
          </a:p>
        </p:txBody>
      </p:sp>
      <p:sp>
        <p:nvSpPr>
          <p:cNvPr id="466" name="Google Shape;466;p30"/>
          <p:cNvSpPr/>
          <p:nvPr/>
        </p:nvSpPr>
        <p:spPr>
          <a:xfrm>
            <a:off x="6076960" y="3913327"/>
            <a:ext cx="2476504" cy="203969"/>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Deployment still in progress</a:t>
            </a:r>
            <a:endParaRPr sz="1400" b="0" i="0" u="none" strike="noStrike" cap="none">
              <a:solidFill>
                <a:schemeClr val="dk1"/>
              </a:solidFill>
              <a:latin typeface="Calibri"/>
              <a:ea typeface="Calibri"/>
              <a:cs typeface="Calibri"/>
              <a:sym typeface="Calibri"/>
            </a:endParaRPr>
          </a:p>
        </p:txBody>
      </p:sp>
      <p:sp>
        <p:nvSpPr>
          <p:cNvPr id="467" name="Google Shape;467;p30"/>
          <p:cNvSpPr/>
          <p:nvPr/>
        </p:nvSpPr>
        <p:spPr>
          <a:xfrm>
            <a:off x="6076960" y="4228370"/>
            <a:ext cx="2476504" cy="828377"/>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There is no live deployment yet. The LSTM model is not saved; the dashboard currently uses a linear estimate.</a:t>
            </a:r>
            <a:endParaRPr sz="1200" b="0" i="0" u="none" strike="noStrike" cap="none">
              <a:solidFill>
                <a:schemeClr val="dk1"/>
              </a:solidFill>
              <a:latin typeface="Calibri"/>
              <a:ea typeface="Calibri"/>
              <a:cs typeface="Calibri"/>
              <a:sym typeface="Calibri"/>
            </a:endParaRPr>
          </a:p>
        </p:txBody>
      </p:sp>
      <p:sp>
        <p:nvSpPr>
          <p:cNvPr id="468" name="Google Shape;468;p30"/>
          <p:cNvSpPr/>
          <p:nvPr/>
        </p:nvSpPr>
        <p:spPr>
          <a:xfrm>
            <a:off x="3195642" y="1571179"/>
            <a:ext cx="9525" cy="17990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9" name="Google Shape;469;p30"/>
          <p:cNvSpPr/>
          <p:nvPr/>
        </p:nvSpPr>
        <p:spPr>
          <a:xfrm>
            <a:off x="5938847" y="1571179"/>
            <a:ext cx="9525" cy="17990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0" name="Google Shape;470;p30"/>
          <p:cNvSpPr/>
          <p:nvPr/>
        </p:nvSpPr>
        <p:spPr>
          <a:xfrm>
            <a:off x="457201" y="3365450"/>
            <a:ext cx="2743205" cy="952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1" name="Google Shape;471;p30"/>
          <p:cNvSpPr/>
          <p:nvPr/>
        </p:nvSpPr>
        <p:spPr>
          <a:xfrm>
            <a:off x="3195642" y="3370213"/>
            <a:ext cx="9525" cy="17990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2" name="Google Shape;472;p30"/>
          <p:cNvSpPr/>
          <p:nvPr/>
        </p:nvSpPr>
        <p:spPr>
          <a:xfrm>
            <a:off x="3200405" y="3365450"/>
            <a:ext cx="2743205" cy="952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3" name="Google Shape;473;p30"/>
          <p:cNvSpPr/>
          <p:nvPr/>
        </p:nvSpPr>
        <p:spPr>
          <a:xfrm>
            <a:off x="5938847" y="3370213"/>
            <a:ext cx="9525" cy="179903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4" name="Google Shape;474;p30"/>
          <p:cNvSpPr/>
          <p:nvPr/>
        </p:nvSpPr>
        <p:spPr>
          <a:xfrm>
            <a:off x="5943610" y="3365450"/>
            <a:ext cx="2743205" cy="9525"/>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1"/>
          <p:cNvSpPr/>
          <p:nvPr/>
        </p:nvSpPr>
        <p:spPr>
          <a:xfrm>
            <a:off x="457201" y="407789"/>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NEXT BUILD CYCLE</a:t>
            </a:r>
            <a:endParaRPr sz="1000" b="0" i="0" u="none" strike="noStrike" cap="none">
              <a:solidFill>
                <a:schemeClr val="dk1"/>
              </a:solidFill>
              <a:latin typeface="Calibri"/>
              <a:ea typeface="Calibri"/>
              <a:cs typeface="Calibri"/>
              <a:sym typeface="Calibri"/>
            </a:endParaRPr>
          </a:p>
        </p:txBody>
      </p:sp>
      <p:sp>
        <p:nvSpPr>
          <p:cNvPr id="481" name="Google Shape;481;p31"/>
          <p:cNvSpPr/>
          <p:nvPr/>
        </p:nvSpPr>
        <p:spPr>
          <a:xfrm>
            <a:off x="457201" y="681492"/>
            <a:ext cx="8229614" cy="43428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FUTURE SCOPE: THE NEXT BUILD CYCLE</a:t>
            </a:r>
            <a:endParaRPr sz="3600" b="0" i="0" u="none" strike="noStrike" cap="none">
              <a:solidFill>
                <a:schemeClr val="dk1"/>
              </a:solidFill>
              <a:latin typeface="Calibri"/>
              <a:ea typeface="Calibri"/>
              <a:cs typeface="Calibri"/>
              <a:sym typeface="Calibri"/>
            </a:endParaRPr>
          </a:p>
        </p:txBody>
      </p:sp>
      <p:sp>
        <p:nvSpPr>
          <p:cNvPr id="482" name="Google Shape;482;p31"/>
          <p:cNvSpPr/>
          <p:nvPr/>
        </p:nvSpPr>
        <p:spPr>
          <a:xfrm>
            <a:off x="457201" y="1230332"/>
            <a:ext cx="8686814"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A practical sequence from current prototype to broader decision support.</a:t>
            </a:r>
            <a:endParaRPr sz="1400" b="0" i="0" u="none" strike="noStrike" cap="none">
              <a:solidFill>
                <a:schemeClr val="dk1"/>
              </a:solidFill>
              <a:latin typeface="Calibri"/>
              <a:ea typeface="Calibri"/>
              <a:cs typeface="Calibri"/>
              <a:sym typeface="Calibri"/>
            </a:endParaRPr>
          </a:p>
        </p:txBody>
      </p:sp>
      <p:sp>
        <p:nvSpPr>
          <p:cNvPr id="483" name="Google Shape;483;p31"/>
          <p:cNvSpPr/>
          <p:nvPr/>
        </p:nvSpPr>
        <p:spPr>
          <a:xfrm>
            <a:off x="628651" y="1814885"/>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84" name="Google Shape;484;p31"/>
          <p:cNvSpPr/>
          <p:nvPr/>
        </p:nvSpPr>
        <p:spPr>
          <a:xfrm>
            <a:off x="691457" y="1886322"/>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01</a:t>
            </a:r>
            <a:endParaRPr sz="1100" b="0" i="0" u="none" strike="noStrike" cap="none">
              <a:solidFill>
                <a:schemeClr val="dk1"/>
              </a:solidFill>
              <a:latin typeface="Calibri"/>
              <a:ea typeface="Calibri"/>
              <a:cs typeface="Calibri"/>
              <a:sym typeface="Calibri"/>
            </a:endParaRPr>
          </a:p>
        </p:txBody>
      </p:sp>
      <p:sp>
        <p:nvSpPr>
          <p:cNvPr id="485" name="Google Shape;485;p31"/>
          <p:cNvSpPr/>
          <p:nvPr/>
        </p:nvSpPr>
        <p:spPr>
          <a:xfrm>
            <a:off x="628651" y="2212166"/>
            <a:ext cx="17145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Deploy</a:t>
            </a:r>
            <a:endParaRPr sz="1400" b="0" i="0" u="none" strike="noStrike" cap="none">
              <a:solidFill>
                <a:schemeClr val="dk1"/>
              </a:solidFill>
              <a:latin typeface="Calibri"/>
              <a:ea typeface="Calibri"/>
              <a:cs typeface="Calibri"/>
              <a:sym typeface="Calibri"/>
            </a:endParaRPr>
          </a:p>
        </p:txBody>
      </p:sp>
      <p:sp>
        <p:nvSpPr>
          <p:cNvPr id="486" name="Google Shape;486;p31"/>
          <p:cNvSpPr/>
          <p:nvPr/>
        </p:nvSpPr>
        <p:spPr>
          <a:xfrm>
            <a:off x="628651" y="2535599"/>
            <a:ext cx="1714503"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Finish cloud deployment and move the dashboard toward live access.</a:t>
            </a:r>
            <a:endParaRPr sz="1200" b="0" i="0" u="none" strike="noStrike" cap="none">
              <a:solidFill>
                <a:schemeClr val="dk1"/>
              </a:solidFill>
              <a:latin typeface="Calibri"/>
              <a:ea typeface="Calibri"/>
              <a:cs typeface="Calibri"/>
              <a:sym typeface="Calibri"/>
            </a:endParaRPr>
          </a:p>
        </p:txBody>
      </p:sp>
      <p:sp>
        <p:nvSpPr>
          <p:cNvPr id="487" name="Google Shape;487;p31"/>
          <p:cNvSpPr/>
          <p:nvPr/>
        </p:nvSpPr>
        <p:spPr>
          <a:xfrm>
            <a:off x="2686054" y="1814885"/>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88" name="Google Shape;488;p31"/>
          <p:cNvSpPr/>
          <p:nvPr/>
        </p:nvSpPr>
        <p:spPr>
          <a:xfrm>
            <a:off x="2748860" y="1886322"/>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02</a:t>
            </a:r>
            <a:endParaRPr sz="1100" b="0" i="0" u="none" strike="noStrike" cap="none">
              <a:solidFill>
                <a:schemeClr val="dk1"/>
              </a:solidFill>
              <a:latin typeface="Calibri"/>
              <a:ea typeface="Calibri"/>
              <a:cs typeface="Calibri"/>
              <a:sym typeface="Calibri"/>
            </a:endParaRPr>
          </a:p>
        </p:txBody>
      </p:sp>
      <p:sp>
        <p:nvSpPr>
          <p:cNvPr id="489" name="Google Shape;489;p31"/>
          <p:cNvSpPr/>
          <p:nvPr/>
        </p:nvSpPr>
        <p:spPr>
          <a:xfrm>
            <a:off x="2686054" y="2212166"/>
            <a:ext cx="17145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Enrich</a:t>
            </a:r>
            <a:endParaRPr sz="1400" b="0" i="0" u="none" strike="noStrike" cap="none">
              <a:solidFill>
                <a:schemeClr val="dk1"/>
              </a:solidFill>
              <a:latin typeface="Calibri"/>
              <a:ea typeface="Calibri"/>
              <a:cs typeface="Calibri"/>
              <a:sym typeface="Calibri"/>
            </a:endParaRPr>
          </a:p>
        </p:txBody>
      </p:sp>
      <p:sp>
        <p:nvSpPr>
          <p:cNvPr id="490" name="Google Shape;490;p31"/>
          <p:cNvSpPr/>
          <p:nvPr/>
        </p:nvSpPr>
        <p:spPr>
          <a:xfrm>
            <a:off x="2686054" y="2535599"/>
            <a:ext cx="1714503"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Add richer sentiment or news signals, including FinBERT news sentiment.</a:t>
            </a:r>
            <a:endParaRPr sz="1200" b="0" i="0" u="none" strike="noStrike" cap="none">
              <a:solidFill>
                <a:schemeClr val="dk1"/>
              </a:solidFill>
              <a:latin typeface="Calibri"/>
              <a:ea typeface="Calibri"/>
              <a:cs typeface="Calibri"/>
              <a:sym typeface="Calibri"/>
            </a:endParaRPr>
          </a:p>
        </p:txBody>
      </p:sp>
      <p:sp>
        <p:nvSpPr>
          <p:cNvPr id="491" name="Google Shape;491;p31"/>
          <p:cNvSpPr/>
          <p:nvPr/>
        </p:nvSpPr>
        <p:spPr>
          <a:xfrm>
            <a:off x="4743458" y="1814885"/>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2" name="Google Shape;492;p31"/>
          <p:cNvSpPr/>
          <p:nvPr/>
        </p:nvSpPr>
        <p:spPr>
          <a:xfrm>
            <a:off x="4806263" y="1886322"/>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03</a:t>
            </a:r>
            <a:endParaRPr sz="1100" b="0" i="0" u="none" strike="noStrike" cap="none">
              <a:solidFill>
                <a:schemeClr val="dk1"/>
              </a:solidFill>
              <a:latin typeface="Calibri"/>
              <a:ea typeface="Calibri"/>
              <a:cs typeface="Calibri"/>
              <a:sym typeface="Calibri"/>
            </a:endParaRPr>
          </a:p>
        </p:txBody>
      </p:sp>
      <p:sp>
        <p:nvSpPr>
          <p:cNvPr id="493" name="Google Shape;493;p31"/>
          <p:cNvSpPr/>
          <p:nvPr/>
        </p:nvSpPr>
        <p:spPr>
          <a:xfrm>
            <a:off x="4743458" y="2212166"/>
            <a:ext cx="17145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400"/>
              <a:buFont typeface="Hanken Grotesk"/>
              <a:buNone/>
            </a:pPr>
            <a:r>
              <a:rPr lang="en-US" sz="1400" b="1" i="0" u="none" strike="noStrike" cap="none">
                <a:solidFill>
                  <a:srgbClr val="16171D"/>
                </a:solidFill>
                <a:latin typeface="Hanken Grotesk"/>
                <a:ea typeface="Hanken Grotesk"/>
                <a:cs typeface="Hanken Grotesk"/>
                <a:sym typeface="Hanken Grotesk"/>
              </a:rPr>
              <a:t>Broaden</a:t>
            </a:r>
            <a:endParaRPr sz="1400" b="0" i="0" u="none" strike="noStrike" cap="none">
              <a:solidFill>
                <a:schemeClr val="dk1"/>
              </a:solidFill>
              <a:latin typeface="Calibri"/>
              <a:ea typeface="Calibri"/>
              <a:cs typeface="Calibri"/>
              <a:sym typeface="Calibri"/>
            </a:endParaRPr>
          </a:p>
        </p:txBody>
      </p:sp>
      <p:sp>
        <p:nvSpPr>
          <p:cNvPr id="494" name="Google Shape;494;p31"/>
          <p:cNvSpPr/>
          <p:nvPr/>
        </p:nvSpPr>
        <p:spPr>
          <a:xfrm>
            <a:off x="4743458" y="2535599"/>
            <a:ext cx="1714503"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Expand stock coverage beyond the current three-stock scope.</a:t>
            </a:r>
            <a:endParaRPr sz="1200" b="0" i="0" u="none" strike="noStrike" cap="none">
              <a:solidFill>
                <a:schemeClr val="dk1"/>
              </a:solidFill>
              <a:latin typeface="Calibri"/>
              <a:ea typeface="Calibri"/>
              <a:cs typeface="Calibri"/>
              <a:sym typeface="Calibri"/>
            </a:endParaRPr>
          </a:p>
        </p:txBody>
      </p:sp>
      <p:sp>
        <p:nvSpPr>
          <p:cNvPr id="495" name="Google Shape;495;p31"/>
          <p:cNvSpPr/>
          <p:nvPr/>
        </p:nvSpPr>
        <p:spPr>
          <a:xfrm>
            <a:off x="6629411" y="1624385"/>
            <a:ext cx="2057403" cy="2830934"/>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6" name="Google Shape;496;p31"/>
          <p:cNvSpPr/>
          <p:nvPr/>
        </p:nvSpPr>
        <p:spPr>
          <a:xfrm>
            <a:off x="6800861" y="1814885"/>
            <a:ext cx="285750" cy="285750"/>
          </a:xfrm>
          <a:prstGeom prst="ellipse">
            <a:avLst/>
          </a:prstGeom>
          <a:solidFill>
            <a:srgbClr val="16171D"/>
          </a:solidFill>
          <a:ln w="952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7" name="Google Shape;497;p31"/>
          <p:cNvSpPr/>
          <p:nvPr/>
        </p:nvSpPr>
        <p:spPr>
          <a:xfrm>
            <a:off x="6863667" y="1886322"/>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04</a:t>
            </a:r>
            <a:endParaRPr sz="1100" b="0" i="0" u="none" strike="noStrike" cap="none">
              <a:solidFill>
                <a:schemeClr val="dk1"/>
              </a:solidFill>
              <a:latin typeface="Calibri"/>
              <a:ea typeface="Calibri"/>
              <a:cs typeface="Calibri"/>
              <a:sym typeface="Calibri"/>
            </a:endParaRPr>
          </a:p>
        </p:txBody>
      </p:sp>
      <p:sp>
        <p:nvSpPr>
          <p:cNvPr id="498" name="Google Shape;498;p31"/>
          <p:cNvSpPr/>
          <p:nvPr/>
        </p:nvSpPr>
        <p:spPr>
          <a:xfrm>
            <a:off x="6800861" y="2212166"/>
            <a:ext cx="17145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Improve</a:t>
            </a:r>
            <a:endParaRPr sz="1400" b="0" i="0" u="none" strike="noStrike" cap="none">
              <a:solidFill>
                <a:schemeClr val="dk1"/>
              </a:solidFill>
              <a:latin typeface="Calibri"/>
              <a:ea typeface="Calibri"/>
              <a:cs typeface="Calibri"/>
              <a:sym typeface="Calibri"/>
            </a:endParaRPr>
          </a:p>
        </p:txBody>
      </p:sp>
      <p:sp>
        <p:nvSpPr>
          <p:cNvPr id="499" name="Google Shape;499;p31"/>
          <p:cNvSpPr/>
          <p:nvPr/>
        </p:nvSpPr>
        <p:spPr>
          <a:xfrm>
            <a:off x="6800861" y="2535599"/>
            <a:ext cx="1714503" cy="106672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Continue improving the modelling and dashboard, including LSTM inference and P/E and earnings data.</a:t>
            </a:r>
            <a:endParaRPr sz="1200" b="0" i="0" u="none" strike="noStrike" cap="none">
              <a:solidFill>
                <a:schemeClr val="dk1"/>
              </a:solidFill>
              <a:latin typeface="Calibri"/>
              <a:ea typeface="Calibri"/>
              <a:cs typeface="Calibri"/>
              <a:sym typeface="Calibri"/>
            </a:endParaRPr>
          </a:p>
        </p:txBody>
      </p:sp>
      <p:sp>
        <p:nvSpPr>
          <p:cNvPr id="500" name="Google Shape;500;p31"/>
          <p:cNvSpPr/>
          <p:nvPr/>
        </p:nvSpPr>
        <p:spPr>
          <a:xfrm>
            <a:off x="457201" y="4615458"/>
            <a:ext cx="8686814"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PHASE 9 IN PROGRESS · THE NEXT BUILD EXTENDS THE SAME EXPLAINABILITY PRINCIPLE</a:t>
            </a:r>
            <a:endParaRPr sz="1000" b="0" i="0" u="none" strike="noStrike" cap="none">
              <a:solidFill>
                <a:schemeClr val="dk1"/>
              </a:solidFill>
              <a:latin typeface="Calibri"/>
              <a:ea typeface="Calibri"/>
              <a:cs typeface="Calibri"/>
              <a:sym typeface="Calibri"/>
            </a:endParaRPr>
          </a:p>
        </p:txBody>
      </p:sp>
      <p:sp>
        <p:nvSpPr>
          <p:cNvPr id="501" name="Google Shape;501;p31"/>
          <p:cNvSpPr/>
          <p:nvPr/>
        </p:nvSpPr>
        <p:spPr>
          <a:xfrm>
            <a:off x="2509841" y="1624385"/>
            <a:ext cx="9525" cy="2830934"/>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02" name="Google Shape;502;p31"/>
          <p:cNvSpPr/>
          <p:nvPr/>
        </p:nvSpPr>
        <p:spPr>
          <a:xfrm>
            <a:off x="4567245" y="1624385"/>
            <a:ext cx="9525" cy="2830934"/>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03" name="Google Shape;503;p31"/>
          <p:cNvSpPr/>
          <p:nvPr/>
        </p:nvSpPr>
        <p:spPr>
          <a:xfrm>
            <a:off x="6624648" y="1624385"/>
            <a:ext cx="9525" cy="2830934"/>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2"/>
          <p:cNvSpPr/>
          <p:nvPr/>
        </p:nvSpPr>
        <p:spPr>
          <a:xfrm>
            <a:off x="457201" y="407789"/>
            <a:ext cx="3200405"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OUTPUT SCREENSHOTS</a:t>
            </a:r>
            <a:endParaRPr sz="1000" b="0" i="0" u="none" strike="noStrike" cap="none">
              <a:solidFill>
                <a:schemeClr val="dk1"/>
              </a:solidFill>
              <a:latin typeface="Calibri"/>
              <a:ea typeface="Calibri"/>
              <a:cs typeface="Calibri"/>
              <a:sym typeface="Calibri"/>
            </a:endParaRPr>
          </a:p>
        </p:txBody>
      </p:sp>
      <p:sp>
        <p:nvSpPr>
          <p:cNvPr id="510" name="Google Shape;510;p32"/>
          <p:cNvSpPr/>
          <p:nvPr/>
        </p:nvSpPr>
        <p:spPr>
          <a:xfrm>
            <a:off x="457201" y="681492"/>
            <a:ext cx="2895604" cy="1737122"/>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OUTPUT SCREENSHOTS AND FINAL TAKEAWAY</a:t>
            </a:r>
            <a:endParaRPr sz="3600" b="0" i="0" u="none" strike="noStrike" cap="none">
              <a:solidFill>
                <a:schemeClr val="dk1"/>
              </a:solidFill>
              <a:latin typeface="Calibri"/>
              <a:ea typeface="Calibri"/>
              <a:cs typeface="Calibri"/>
              <a:sym typeface="Calibri"/>
            </a:endParaRPr>
          </a:p>
        </p:txBody>
      </p:sp>
      <p:sp>
        <p:nvSpPr>
          <p:cNvPr id="511" name="Google Shape;511;p32"/>
          <p:cNvSpPr/>
          <p:nvPr/>
        </p:nvSpPr>
        <p:spPr>
          <a:xfrm>
            <a:off x="457201" y="2533174"/>
            <a:ext cx="2895604" cy="1199927"/>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The output area is shown through the dashboard views produced for the project. The screenshots remain evidence of the interface, not a substitute for the underlying analysis.</a:t>
            </a:r>
            <a:endParaRPr sz="1400" b="0" i="0" u="none" strike="noStrike" cap="none">
              <a:solidFill>
                <a:schemeClr val="dk1"/>
              </a:solidFill>
              <a:latin typeface="Calibri"/>
              <a:ea typeface="Calibri"/>
              <a:cs typeface="Calibri"/>
              <a:sym typeface="Calibri"/>
            </a:endParaRPr>
          </a:p>
        </p:txBody>
      </p:sp>
      <p:sp>
        <p:nvSpPr>
          <p:cNvPr id="512" name="Google Shape;512;p32"/>
          <p:cNvSpPr/>
          <p:nvPr/>
        </p:nvSpPr>
        <p:spPr>
          <a:xfrm>
            <a:off x="3657606" y="0"/>
            <a:ext cx="5486409" cy="514350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13" name="Google Shape;513;p32"/>
          <p:cNvSpPr/>
          <p:nvPr/>
        </p:nvSpPr>
        <p:spPr>
          <a:xfrm>
            <a:off x="3905257" y="361950"/>
            <a:ext cx="2305054" cy="1296516"/>
          </a:xfrm>
          <a:prstGeom prst="rect">
            <a:avLst/>
          </a:prstGeom>
          <a:noFill/>
          <a:ln w="12700" cap="flat" cmpd="sng">
            <a:solidFill>
              <a:srgbClr val="FBFAF6">
                <a:alpha val="21961"/>
              </a:srgbClr>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14" name="Google Shape;514;p32" descr="preencoded.png"/>
          <p:cNvPicPr preferRelativeResize="0"/>
          <p:nvPr/>
        </p:nvPicPr>
        <p:blipFill rotWithShape="1">
          <a:blip r:embed="rId3">
            <a:alphaModFix/>
          </a:blip>
          <a:srcRect/>
          <a:stretch/>
        </p:blipFill>
        <p:spPr>
          <a:xfrm>
            <a:off x="3905257" y="361950"/>
            <a:ext cx="2304992" cy="1296516"/>
          </a:xfrm>
          <a:prstGeom prst="rect">
            <a:avLst/>
          </a:prstGeom>
          <a:noFill/>
          <a:ln>
            <a:noFill/>
          </a:ln>
        </p:spPr>
      </p:pic>
      <p:sp>
        <p:nvSpPr>
          <p:cNvPr id="515" name="Google Shape;515;p32"/>
          <p:cNvSpPr/>
          <p:nvPr/>
        </p:nvSpPr>
        <p:spPr>
          <a:xfrm>
            <a:off x="3905257" y="1794912"/>
            <a:ext cx="2305054" cy="17331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FFFFFF"/>
              </a:buClr>
              <a:buSzPts val="1100"/>
              <a:buFont typeface="Hanken Grotesk"/>
              <a:buNone/>
            </a:pPr>
            <a:r>
              <a:rPr lang="en-US" sz="1100" b="0" i="0" u="none" strike="noStrike" cap="none">
                <a:solidFill>
                  <a:srgbClr val="FFFFFF"/>
                </a:solidFill>
                <a:latin typeface="Hanken Grotesk"/>
                <a:ea typeface="Hanken Grotesk"/>
                <a:cs typeface="Hanken Grotesk"/>
                <a:sym typeface="Hanken Grotesk"/>
              </a:rPr>
              <a:t>Main dashboard view</a:t>
            </a:r>
            <a:endParaRPr sz="1100" b="0" i="0" u="none" strike="noStrike" cap="none">
              <a:solidFill>
                <a:schemeClr val="dk1"/>
              </a:solidFill>
              <a:latin typeface="Calibri"/>
              <a:ea typeface="Calibri"/>
              <a:cs typeface="Calibri"/>
              <a:sym typeface="Calibri"/>
            </a:endParaRPr>
          </a:p>
        </p:txBody>
      </p:sp>
      <p:sp>
        <p:nvSpPr>
          <p:cNvPr id="516" name="Google Shape;516;p32"/>
          <p:cNvSpPr/>
          <p:nvPr/>
        </p:nvSpPr>
        <p:spPr>
          <a:xfrm>
            <a:off x="6438910" y="361950"/>
            <a:ext cx="2305054" cy="1296516"/>
          </a:xfrm>
          <a:prstGeom prst="rect">
            <a:avLst/>
          </a:prstGeom>
          <a:noFill/>
          <a:ln w="12700" cap="flat" cmpd="sng">
            <a:solidFill>
              <a:srgbClr val="FBFAF6">
                <a:alpha val="21961"/>
              </a:srgbClr>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17" name="Google Shape;517;p32" descr="preencoded.png"/>
          <p:cNvPicPr preferRelativeResize="0"/>
          <p:nvPr/>
        </p:nvPicPr>
        <p:blipFill rotWithShape="1">
          <a:blip r:embed="rId4">
            <a:alphaModFix/>
          </a:blip>
          <a:srcRect/>
          <a:stretch/>
        </p:blipFill>
        <p:spPr>
          <a:xfrm>
            <a:off x="6438910" y="361950"/>
            <a:ext cx="2304992" cy="1296516"/>
          </a:xfrm>
          <a:prstGeom prst="rect">
            <a:avLst/>
          </a:prstGeom>
          <a:noFill/>
          <a:ln>
            <a:noFill/>
          </a:ln>
        </p:spPr>
      </p:pic>
      <p:sp>
        <p:nvSpPr>
          <p:cNvPr id="518" name="Google Shape;518;p32"/>
          <p:cNvSpPr/>
          <p:nvPr/>
        </p:nvSpPr>
        <p:spPr>
          <a:xfrm>
            <a:off x="6438910" y="1794912"/>
            <a:ext cx="2305054" cy="346621"/>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FFFFFF"/>
              </a:buClr>
              <a:buSzPts val="1100"/>
              <a:buFont typeface="Hanken Grotesk"/>
              <a:buNone/>
            </a:pPr>
            <a:r>
              <a:rPr lang="en-US" sz="1100" b="0" i="0" u="none" strike="noStrike" cap="none">
                <a:solidFill>
                  <a:srgbClr val="FFFFFF"/>
                </a:solidFill>
                <a:latin typeface="Hanken Grotesk"/>
                <a:ea typeface="Hanken Grotesk"/>
                <a:cs typeface="Hanken Grotesk"/>
                <a:sym typeface="Hanken Grotesk"/>
              </a:rPr>
              <a:t>Candlestick with ARIMA and 30-day trend forecast</a:t>
            </a:r>
            <a:endParaRPr sz="1100" b="0" i="0" u="none" strike="noStrike" cap="none">
              <a:solidFill>
                <a:schemeClr val="dk1"/>
              </a:solidFill>
              <a:latin typeface="Calibri"/>
              <a:ea typeface="Calibri"/>
              <a:cs typeface="Calibri"/>
              <a:sym typeface="Calibri"/>
            </a:endParaRPr>
          </a:p>
        </p:txBody>
      </p:sp>
      <p:sp>
        <p:nvSpPr>
          <p:cNvPr id="519" name="Google Shape;519;p32"/>
          <p:cNvSpPr/>
          <p:nvPr/>
        </p:nvSpPr>
        <p:spPr>
          <a:xfrm>
            <a:off x="3905257" y="2279526"/>
            <a:ext cx="5238758" cy="154781"/>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FFFFFF"/>
              </a:buClr>
              <a:buSzPts val="1000"/>
              <a:buFont typeface="Red Hat Mono Medium"/>
              <a:buNone/>
            </a:pPr>
            <a:r>
              <a:rPr lang="en-US" sz="1000" b="0" i="0" u="none" strike="noStrike" cap="none">
                <a:solidFill>
                  <a:srgbClr val="FFFFFF"/>
                </a:solidFill>
                <a:latin typeface="Red Hat Mono Medium"/>
                <a:ea typeface="Red Hat Mono Medium"/>
                <a:cs typeface="Red Hat Mono Medium"/>
                <a:sym typeface="Red Hat Mono Medium"/>
              </a:rPr>
              <a:t>OUTPUT EVIDENCE · DASHBOARD + FORECAST VIEW</a:t>
            </a:r>
            <a:endParaRPr sz="1000" b="0" i="0" u="none" strike="noStrike" cap="none">
              <a:solidFill>
                <a:schemeClr val="dk1"/>
              </a:solidFill>
              <a:latin typeface="Calibri"/>
              <a:ea typeface="Calibri"/>
              <a:cs typeface="Calibri"/>
              <a:sym typeface="Calibri"/>
            </a:endParaRPr>
          </a:p>
        </p:txBody>
      </p:sp>
      <p:sp>
        <p:nvSpPr>
          <p:cNvPr id="520" name="Google Shape;520;p32"/>
          <p:cNvSpPr/>
          <p:nvPr/>
        </p:nvSpPr>
        <p:spPr>
          <a:xfrm>
            <a:off x="4114807" y="2775221"/>
            <a:ext cx="4419608" cy="65142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FFFFFF"/>
              </a:buClr>
              <a:buSzPts val="2700"/>
              <a:buFont typeface="Big Shoulders ExtraBold"/>
              <a:buNone/>
            </a:pPr>
            <a:r>
              <a:rPr lang="en-US" sz="2700" b="0" i="0" u="none" strike="noStrike" cap="none">
                <a:solidFill>
                  <a:srgbClr val="FFFFFF"/>
                </a:solidFill>
                <a:latin typeface="Big Shoulders ExtraBold"/>
                <a:ea typeface="Big Shoulders ExtraBold"/>
                <a:cs typeface="Big Shoulders ExtraBold"/>
                <a:sym typeface="Big Shoulders ExtraBold"/>
              </a:rPr>
              <a:t>EXPLAINABLE AI-BASED SUPPORT PLATFORM</a:t>
            </a:r>
            <a:endParaRPr sz="2700" b="0" i="0" u="none" strike="noStrike" cap="none">
              <a:solidFill>
                <a:schemeClr val="dk1"/>
              </a:solidFill>
              <a:latin typeface="Calibri"/>
              <a:ea typeface="Calibri"/>
              <a:cs typeface="Calibri"/>
              <a:sym typeface="Calibri"/>
            </a:endParaRPr>
          </a:p>
        </p:txBody>
      </p:sp>
      <p:sp>
        <p:nvSpPr>
          <p:cNvPr id="521" name="Google Shape;521;p32"/>
          <p:cNvSpPr/>
          <p:nvPr/>
        </p:nvSpPr>
        <p:spPr>
          <a:xfrm>
            <a:off x="4114807" y="3557335"/>
            <a:ext cx="4629158"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FFFFFF"/>
              </a:buClr>
              <a:buSzPts val="1400"/>
              <a:buFont typeface="Hanken Grotesk"/>
              <a:buNone/>
            </a:pPr>
            <a:r>
              <a:rPr lang="en-US" sz="1400" b="0" i="0" u="none" strike="noStrike" cap="none">
                <a:solidFill>
                  <a:srgbClr val="FFFFFF"/>
                </a:solidFill>
                <a:latin typeface="Hanken Grotesk"/>
                <a:ea typeface="Hanken Grotesk"/>
                <a:cs typeface="Hanken Grotesk"/>
                <a:sym typeface="Hanken Grotesk"/>
              </a:rPr>
              <a:t>For Indian retail-market analysis.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33"/>
          <p:cNvSpPr/>
          <p:nvPr/>
        </p:nvSpPr>
        <p:spPr>
          <a:xfrm>
            <a:off x="0" y="0"/>
            <a:ext cx="7010411" cy="5143500"/>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8" name="Google Shape;528;p33"/>
          <p:cNvSpPr/>
          <p:nvPr/>
        </p:nvSpPr>
        <p:spPr>
          <a:xfrm>
            <a:off x="342901" y="217289"/>
            <a:ext cx="6667511"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TECHNICAL APPENDIX · FEATURE ENGINEERING</a:t>
            </a:r>
            <a:endParaRPr sz="1000" b="0" i="0" u="none" strike="noStrike" cap="none">
              <a:solidFill>
                <a:schemeClr val="dk1"/>
              </a:solidFill>
              <a:latin typeface="Calibri"/>
              <a:ea typeface="Calibri"/>
              <a:cs typeface="Calibri"/>
              <a:sym typeface="Calibri"/>
            </a:endParaRPr>
          </a:p>
        </p:txBody>
      </p:sp>
      <p:sp>
        <p:nvSpPr>
          <p:cNvPr id="529" name="Google Shape;529;p33"/>
          <p:cNvSpPr/>
          <p:nvPr/>
        </p:nvSpPr>
        <p:spPr>
          <a:xfrm>
            <a:off x="342901" y="474859"/>
            <a:ext cx="6400811" cy="65142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000000"/>
              </a:buClr>
              <a:buSzPts val="2700"/>
              <a:buFont typeface="Big Shoulders ExtraBold"/>
              <a:buNone/>
            </a:pPr>
            <a:r>
              <a:rPr lang="en-US" sz="2700" b="0" i="0" u="none" strike="noStrike" cap="none">
                <a:solidFill>
                  <a:srgbClr val="000000"/>
                </a:solidFill>
                <a:latin typeface="Big Shoulders ExtraBold"/>
                <a:ea typeface="Big Shoulders ExtraBold"/>
                <a:cs typeface="Big Shoulders ExtraBold"/>
                <a:sym typeface="Big Shoulders ExtraBold"/>
              </a:rPr>
              <a:t>TECHNICAL INDICATORS: THE FORMULAS BEHIND THE SIGNALS</a:t>
            </a:r>
            <a:endParaRPr sz="2700" b="0" i="0" u="none" strike="noStrike" cap="none">
              <a:solidFill>
                <a:schemeClr val="dk1"/>
              </a:solidFill>
              <a:latin typeface="Calibri"/>
              <a:ea typeface="Calibri"/>
              <a:cs typeface="Calibri"/>
              <a:sym typeface="Calibri"/>
            </a:endParaRPr>
          </a:p>
        </p:txBody>
      </p:sp>
      <p:sp>
        <p:nvSpPr>
          <p:cNvPr id="530" name="Google Shape;530;p33"/>
          <p:cNvSpPr/>
          <p:nvPr/>
        </p:nvSpPr>
        <p:spPr>
          <a:xfrm>
            <a:off x="342901" y="1256258"/>
            <a:ext cx="2057403" cy="3560713"/>
          </a:xfrm>
          <a:prstGeom prst="rect">
            <a:avLst/>
          </a:prstGeom>
          <a:solidFill>
            <a:srgbClr val="FF8424"/>
          </a:solidFill>
          <a:ln w="2537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1" name="Google Shape;531;p33"/>
          <p:cNvSpPr/>
          <p:nvPr/>
        </p:nvSpPr>
        <p:spPr>
          <a:xfrm>
            <a:off x="457201" y="1359247"/>
            <a:ext cx="194310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TREND</a:t>
            </a:r>
            <a:endParaRPr sz="1000" b="0" i="0" u="none" strike="noStrike" cap="none">
              <a:solidFill>
                <a:schemeClr val="dk1"/>
              </a:solidFill>
              <a:latin typeface="Calibri"/>
              <a:ea typeface="Calibri"/>
              <a:cs typeface="Calibri"/>
              <a:sym typeface="Calibri"/>
            </a:endParaRPr>
          </a:p>
        </p:txBody>
      </p:sp>
      <p:sp>
        <p:nvSpPr>
          <p:cNvPr id="532" name="Google Shape;532;p33"/>
          <p:cNvSpPr/>
          <p:nvPr/>
        </p:nvSpPr>
        <p:spPr>
          <a:xfrm>
            <a:off x="457201" y="1584037"/>
            <a:ext cx="1828803" cy="41612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Simple moving average</a:t>
            </a:r>
            <a:endParaRPr sz="1400" b="0" i="0" u="none" strike="noStrike" cap="none">
              <a:solidFill>
                <a:schemeClr val="dk1"/>
              </a:solidFill>
              <a:latin typeface="Calibri"/>
              <a:ea typeface="Calibri"/>
              <a:cs typeface="Calibri"/>
              <a:sym typeface="Calibri"/>
            </a:endParaRPr>
          </a:p>
        </p:txBody>
      </p:sp>
      <p:pic>
        <p:nvPicPr>
          <p:cNvPr id="533" name="Google Shape;533;p33" descr="preencoded.png"/>
          <p:cNvPicPr preferRelativeResize="0"/>
          <p:nvPr/>
        </p:nvPicPr>
        <p:blipFill rotWithShape="1">
          <a:blip r:embed="rId3">
            <a:alphaModFix/>
          </a:blip>
          <a:srcRect/>
          <a:stretch/>
        </p:blipFill>
        <p:spPr>
          <a:xfrm>
            <a:off x="457201" y="2091481"/>
            <a:ext cx="1828754" cy="1186979"/>
          </a:xfrm>
          <a:prstGeom prst="rect">
            <a:avLst/>
          </a:prstGeom>
          <a:noFill/>
          <a:ln>
            <a:noFill/>
          </a:ln>
        </p:spPr>
      </p:pic>
      <p:sp>
        <p:nvSpPr>
          <p:cNvPr id="534" name="Google Shape;534;p33"/>
          <p:cNvSpPr/>
          <p:nvPr/>
        </p:nvSpPr>
        <p:spPr>
          <a:xfrm>
            <a:off x="457201" y="3378711"/>
            <a:ext cx="1828803" cy="106672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Close is the closing price; </a:t>
            </a:r>
            <a:r>
              <a:rPr lang="en-US" sz="1200" b="0" i="1" u="none" strike="noStrike" cap="none">
                <a:solidFill>
                  <a:srgbClr val="000000"/>
                </a:solidFill>
                <a:latin typeface="Hanken Grotesk"/>
                <a:ea typeface="Hanken Grotesk"/>
                <a:cs typeface="Hanken Grotesk"/>
                <a:sym typeface="Hanken Grotesk"/>
              </a:rPr>
              <a:t>n</a:t>
            </a:r>
            <a:r>
              <a:rPr lang="en-US" sz="1200" b="0" i="0" u="none" strike="noStrike" cap="none">
                <a:solidFill>
                  <a:srgbClr val="000000"/>
                </a:solidFill>
                <a:latin typeface="Hanken Grotesk"/>
                <a:ea typeface="Hanken Grotesk"/>
                <a:cs typeface="Hanken Grotesk"/>
                <a:sym typeface="Hanken Grotesk"/>
              </a:rPr>
              <a:t> is the lookback window. MA50 and MA200 smooth medium- and long-horizon movement.</a:t>
            </a:r>
            <a:endParaRPr sz="1200" b="0" i="0" u="none" strike="noStrike" cap="none">
              <a:solidFill>
                <a:schemeClr val="dk1"/>
              </a:solidFill>
              <a:latin typeface="Calibri"/>
              <a:ea typeface="Calibri"/>
              <a:cs typeface="Calibri"/>
              <a:sym typeface="Calibri"/>
            </a:endParaRPr>
          </a:p>
        </p:txBody>
      </p:sp>
      <p:sp>
        <p:nvSpPr>
          <p:cNvPr id="535" name="Google Shape;535;p33"/>
          <p:cNvSpPr/>
          <p:nvPr/>
        </p:nvSpPr>
        <p:spPr>
          <a:xfrm>
            <a:off x="2514604" y="1256258"/>
            <a:ext cx="2057403" cy="3560713"/>
          </a:xfrm>
          <a:prstGeom prst="rect">
            <a:avLst/>
          </a:prstGeom>
          <a:solidFill>
            <a:srgbClr val="FF8424"/>
          </a:solidFill>
          <a:ln w="2537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6" name="Google Shape;536;p33"/>
          <p:cNvSpPr/>
          <p:nvPr/>
        </p:nvSpPr>
        <p:spPr>
          <a:xfrm>
            <a:off x="2628904" y="1359247"/>
            <a:ext cx="194310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VOLATILITY</a:t>
            </a:r>
            <a:endParaRPr sz="1000" b="0" i="0" u="none" strike="noStrike" cap="none">
              <a:solidFill>
                <a:schemeClr val="dk1"/>
              </a:solidFill>
              <a:latin typeface="Calibri"/>
              <a:ea typeface="Calibri"/>
              <a:cs typeface="Calibri"/>
              <a:sym typeface="Calibri"/>
            </a:endParaRPr>
          </a:p>
        </p:txBody>
      </p:sp>
      <p:sp>
        <p:nvSpPr>
          <p:cNvPr id="537" name="Google Shape;537;p33"/>
          <p:cNvSpPr/>
          <p:nvPr/>
        </p:nvSpPr>
        <p:spPr>
          <a:xfrm>
            <a:off x="2628904" y="1584038"/>
            <a:ext cx="18288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Bollinger Bands</a:t>
            </a:r>
            <a:endParaRPr sz="1400" b="0" i="0" u="none" strike="noStrike" cap="none">
              <a:solidFill>
                <a:schemeClr val="dk1"/>
              </a:solidFill>
              <a:latin typeface="Calibri"/>
              <a:ea typeface="Calibri"/>
              <a:cs typeface="Calibri"/>
              <a:sym typeface="Calibri"/>
            </a:endParaRPr>
          </a:p>
        </p:txBody>
      </p:sp>
      <p:pic>
        <p:nvPicPr>
          <p:cNvPr id="538" name="Google Shape;538;p33" descr="preencoded.png"/>
          <p:cNvPicPr preferRelativeResize="0"/>
          <p:nvPr/>
        </p:nvPicPr>
        <p:blipFill rotWithShape="1">
          <a:blip r:embed="rId4">
            <a:alphaModFix/>
          </a:blip>
          <a:srcRect/>
          <a:stretch/>
        </p:blipFill>
        <p:spPr>
          <a:xfrm>
            <a:off x="2628904" y="1883420"/>
            <a:ext cx="1828754" cy="294308"/>
          </a:xfrm>
          <a:prstGeom prst="rect">
            <a:avLst/>
          </a:prstGeom>
          <a:noFill/>
          <a:ln>
            <a:noFill/>
          </a:ln>
        </p:spPr>
      </p:pic>
      <p:pic>
        <p:nvPicPr>
          <p:cNvPr id="539" name="Google Shape;539;p33" descr="preencoded.png"/>
          <p:cNvPicPr preferRelativeResize="0"/>
          <p:nvPr/>
        </p:nvPicPr>
        <p:blipFill rotWithShape="1">
          <a:blip r:embed="rId5">
            <a:alphaModFix/>
          </a:blip>
          <a:srcRect/>
          <a:stretch/>
        </p:blipFill>
        <p:spPr>
          <a:xfrm>
            <a:off x="2628904" y="2277740"/>
            <a:ext cx="1828754" cy="588615"/>
          </a:xfrm>
          <a:prstGeom prst="rect">
            <a:avLst/>
          </a:prstGeom>
          <a:noFill/>
          <a:ln>
            <a:noFill/>
          </a:ln>
        </p:spPr>
      </p:pic>
      <p:pic>
        <p:nvPicPr>
          <p:cNvPr id="540" name="Google Shape;540;p33" descr="preencoded.png"/>
          <p:cNvPicPr preferRelativeResize="0"/>
          <p:nvPr/>
        </p:nvPicPr>
        <p:blipFill rotWithShape="1">
          <a:blip r:embed="rId6">
            <a:alphaModFix/>
          </a:blip>
          <a:srcRect/>
          <a:stretch/>
        </p:blipFill>
        <p:spPr>
          <a:xfrm>
            <a:off x="2628904" y="2966368"/>
            <a:ext cx="1828754" cy="588615"/>
          </a:xfrm>
          <a:prstGeom prst="rect">
            <a:avLst/>
          </a:prstGeom>
          <a:noFill/>
          <a:ln>
            <a:noFill/>
          </a:ln>
        </p:spPr>
      </p:pic>
      <p:sp>
        <p:nvSpPr>
          <p:cNvPr id="541" name="Google Shape;541;p33"/>
          <p:cNvSpPr/>
          <p:nvPr/>
        </p:nvSpPr>
        <p:spPr>
          <a:xfrm>
            <a:off x="2628904" y="3655234"/>
            <a:ext cx="1828803" cy="106672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1" u="none" strike="noStrike" cap="none">
                <a:solidFill>
                  <a:srgbClr val="000000"/>
                </a:solidFill>
                <a:latin typeface="Hanken Grotesk"/>
                <a:ea typeface="Hanken Grotesk"/>
                <a:cs typeface="Hanken Grotesk"/>
                <a:sym typeface="Hanken Grotesk"/>
              </a:rPr>
              <a:t>\sigma</a:t>
            </a:r>
            <a:r>
              <a:rPr lang="en-US" sz="1200" b="0" i="0" u="none" strike="noStrike" cap="none">
                <a:solidFill>
                  <a:srgbClr val="000000"/>
                </a:solidFill>
                <a:latin typeface="Hanken Grotesk"/>
                <a:ea typeface="Hanken Grotesk"/>
                <a:cs typeface="Hanken Grotesk"/>
                <a:sym typeface="Hanken Grotesk"/>
              </a:rPr>
              <a:t> is the standard deviation of price over the window. The bands expand and contract with volatility.</a:t>
            </a:r>
            <a:endParaRPr sz="1200" b="0" i="0" u="none" strike="noStrike" cap="none">
              <a:solidFill>
                <a:schemeClr val="dk1"/>
              </a:solidFill>
              <a:latin typeface="Calibri"/>
              <a:ea typeface="Calibri"/>
              <a:cs typeface="Calibri"/>
              <a:sym typeface="Calibri"/>
            </a:endParaRPr>
          </a:p>
        </p:txBody>
      </p:sp>
      <p:sp>
        <p:nvSpPr>
          <p:cNvPr id="542" name="Google Shape;542;p33"/>
          <p:cNvSpPr/>
          <p:nvPr/>
        </p:nvSpPr>
        <p:spPr>
          <a:xfrm>
            <a:off x="4686308" y="1256258"/>
            <a:ext cx="2057403" cy="3560713"/>
          </a:xfrm>
          <a:prstGeom prst="rect">
            <a:avLst/>
          </a:prstGeom>
          <a:solidFill>
            <a:srgbClr val="FF8424"/>
          </a:solidFill>
          <a:ln w="25375" cap="flat" cmpd="sng">
            <a:solidFill>
              <a:srgbClr val="D5D3C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43" name="Google Shape;543;p33"/>
          <p:cNvSpPr/>
          <p:nvPr/>
        </p:nvSpPr>
        <p:spPr>
          <a:xfrm>
            <a:off x="4800608" y="1359247"/>
            <a:ext cx="194310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RETURN</a:t>
            </a:r>
            <a:endParaRPr sz="1000" b="0" i="0" u="none" strike="noStrike" cap="none">
              <a:solidFill>
                <a:schemeClr val="dk1"/>
              </a:solidFill>
              <a:latin typeface="Calibri"/>
              <a:ea typeface="Calibri"/>
              <a:cs typeface="Calibri"/>
              <a:sym typeface="Calibri"/>
            </a:endParaRPr>
          </a:p>
        </p:txBody>
      </p:sp>
      <p:sp>
        <p:nvSpPr>
          <p:cNvPr id="544" name="Google Shape;544;p33"/>
          <p:cNvSpPr/>
          <p:nvPr/>
        </p:nvSpPr>
        <p:spPr>
          <a:xfrm>
            <a:off x="4800608" y="1584038"/>
            <a:ext cx="1828803" cy="208062"/>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000000"/>
              </a:buClr>
              <a:buSzPts val="1400"/>
              <a:buFont typeface="Hanken Grotesk"/>
              <a:buNone/>
            </a:pPr>
            <a:r>
              <a:rPr lang="en-US" sz="1400" b="1" i="0" u="none" strike="noStrike" cap="none">
                <a:solidFill>
                  <a:srgbClr val="000000"/>
                </a:solidFill>
                <a:latin typeface="Hanken Grotesk"/>
                <a:ea typeface="Hanken Grotesk"/>
                <a:cs typeface="Hanken Grotesk"/>
                <a:sym typeface="Hanken Grotesk"/>
              </a:rPr>
              <a:t>Daily return</a:t>
            </a:r>
            <a:endParaRPr sz="1400" b="0" i="0" u="none" strike="noStrike" cap="none">
              <a:solidFill>
                <a:schemeClr val="dk1"/>
              </a:solidFill>
              <a:latin typeface="Calibri"/>
              <a:ea typeface="Calibri"/>
              <a:cs typeface="Calibri"/>
              <a:sym typeface="Calibri"/>
            </a:endParaRPr>
          </a:p>
        </p:txBody>
      </p:sp>
      <p:pic>
        <p:nvPicPr>
          <p:cNvPr id="545" name="Google Shape;545;p33" descr="preencoded.png"/>
          <p:cNvPicPr preferRelativeResize="0"/>
          <p:nvPr/>
        </p:nvPicPr>
        <p:blipFill rotWithShape="1">
          <a:blip r:embed="rId7">
            <a:alphaModFix/>
          </a:blip>
          <a:srcRect/>
          <a:stretch/>
        </p:blipFill>
        <p:spPr>
          <a:xfrm>
            <a:off x="4800608" y="1883420"/>
            <a:ext cx="1828754" cy="528786"/>
          </a:xfrm>
          <a:prstGeom prst="rect">
            <a:avLst/>
          </a:prstGeom>
          <a:noFill/>
          <a:ln>
            <a:noFill/>
          </a:ln>
        </p:spPr>
      </p:pic>
      <p:sp>
        <p:nvSpPr>
          <p:cNvPr id="546" name="Google Shape;546;p33"/>
          <p:cNvSpPr/>
          <p:nvPr/>
        </p:nvSpPr>
        <p:spPr>
          <a:xfrm>
            <a:off x="4800608" y="2512457"/>
            <a:ext cx="1828803" cy="106672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1" u="none" strike="noStrike" cap="none">
                <a:solidFill>
                  <a:srgbClr val="000000"/>
                </a:solidFill>
                <a:latin typeface="Hanken Grotesk"/>
                <a:ea typeface="Hanken Grotesk"/>
                <a:cs typeface="Hanken Grotesk"/>
                <a:sym typeface="Hanken Grotesk"/>
              </a:rPr>
              <a:t>r</a:t>
            </a:r>
            <a:r>
              <a:rPr lang="en-US" sz="1200" b="0" i="0" u="none" strike="noStrike" cap="none">
                <a:solidFill>
                  <a:srgbClr val="000000"/>
                </a:solidFill>
                <a:latin typeface="Hanken Grotesk"/>
                <a:ea typeface="Hanken Grotesk"/>
                <a:cs typeface="Hanken Grotesk"/>
                <a:sym typeface="Hanken Grotesk"/>
              </a:rPr>
              <a:t>t compares today’s close with the prior close. Rolling return statistics support performance and risk comparisons.</a:t>
            </a:r>
            <a:endParaRPr sz="1200" b="0" i="0" u="none" strike="noStrike" cap="none">
              <a:solidFill>
                <a:schemeClr val="dk1"/>
              </a:solidFill>
              <a:latin typeface="Calibri"/>
              <a:ea typeface="Calibri"/>
              <a:cs typeface="Calibri"/>
              <a:sym typeface="Calibri"/>
            </a:endParaRPr>
          </a:p>
        </p:txBody>
      </p:sp>
      <p:pic>
        <p:nvPicPr>
          <p:cNvPr id="547" name="Google Shape;547;p33" descr="preencoded.png"/>
          <p:cNvPicPr preferRelativeResize="0"/>
          <p:nvPr/>
        </p:nvPicPr>
        <p:blipFill rotWithShape="1">
          <a:blip r:embed="rId8">
            <a:alphaModFix/>
          </a:blip>
          <a:srcRect/>
          <a:stretch/>
        </p:blipFill>
        <p:spPr>
          <a:xfrm>
            <a:off x="7010411" y="0"/>
            <a:ext cx="2133547"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4"/>
          <p:cNvSpPr/>
          <p:nvPr/>
        </p:nvSpPr>
        <p:spPr>
          <a:xfrm>
            <a:off x="457201" y="464939"/>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TECHNICAL APPENDIX · MODEL INPUTS</a:t>
            </a:r>
            <a:endParaRPr sz="1000" b="0" i="0" u="none" strike="noStrike" cap="none">
              <a:solidFill>
                <a:schemeClr val="dk1"/>
              </a:solidFill>
              <a:latin typeface="Calibri"/>
              <a:ea typeface="Calibri"/>
              <a:cs typeface="Calibri"/>
              <a:sym typeface="Calibri"/>
            </a:endParaRPr>
          </a:p>
        </p:txBody>
      </p:sp>
      <p:sp>
        <p:nvSpPr>
          <p:cNvPr id="554" name="Google Shape;554;p34"/>
          <p:cNvSpPr/>
          <p:nvPr/>
        </p:nvSpPr>
        <p:spPr>
          <a:xfrm>
            <a:off x="457201" y="738642"/>
            <a:ext cx="8229614"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MOMENTUM, VOLATILITY</a:t>
            </a:r>
            <a:endParaRPr sz="36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AND MODEL INPUTS</a:t>
            </a:r>
            <a:endParaRPr sz="3600" b="0" i="0" u="none" strike="noStrike" cap="none">
              <a:solidFill>
                <a:schemeClr val="dk1"/>
              </a:solidFill>
              <a:latin typeface="Calibri"/>
              <a:ea typeface="Calibri"/>
              <a:cs typeface="Calibri"/>
              <a:sym typeface="Calibri"/>
            </a:endParaRPr>
          </a:p>
        </p:txBody>
      </p:sp>
      <p:sp>
        <p:nvSpPr>
          <p:cNvPr id="555" name="Google Shape;555;p34"/>
          <p:cNvSpPr/>
          <p:nvPr/>
        </p:nvSpPr>
        <p:spPr>
          <a:xfrm>
            <a:off x="457201" y="1892498"/>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56" name="Google Shape;556;p34"/>
          <p:cNvSpPr/>
          <p:nvPr/>
        </p:nvSpPr>
        <p:spPr>
          <a:xfrm>
            <a:off x="520006" y="1963936"/>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01</a:t>
            </a:r>
            <a:endParaRPr sz="1100" b="0" i="0" u="none" strike="noStrike" cap="none">
              <a:solidFill>
                <a:schemeClr val="dk1"/>
              </a:solidFill>
              <a:latin typeface="Calibri"/>
              <a:ea typeface="Calibri"/>
              <a:cs typeface="Calibri"/>
              <a:sym typeface="Calibri"/>
            </a:endParaRPr>
          </a:p>
        </p:txBody>
      </p:sp>
      <p:sp>
        <p:nvSpPr>
          <p:cNvPr id="557" name="Google Shape;557;p34"/>
          <p:cNvSpPr/>
          <p:nvPr/>
        </p:nvSpPr>
        <p:spPr>
          <a:xfrm>
            <a:off x="876302" y="1900238"/>
            <a:ext cx="232410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MOMENTUM</a:t>
            </a:r>
            <a:endParaRPr sz="1000" b="0" i="0" u="none" strike="noStrike" cap="none">
              <a:solidFill>
                <a:schemeClr val="dk1"/>
              </a:solidFill>
              <a:latin typeface="Calibri"/>
              <a:ea typeface="Calibri"/>
              <a:cs typeface="Calibri"/>
              <a:sym typeface="Calibri"/>
            </a:endParaRPr>
          </a:p>
        </p:txBody>
      </p:sp>
      <p:sp>
        <p:nvSpPr>
          <p:cNvPr id="558" name="Google Shape;558;p34"/>
          <p:cNvSpPr/>
          <p:nvPr/>
        </p:nvSpPr>
        <p:spPr>
          <a:xfrm>
            <a:off x="876302" y="2157807"/>
            <a:ext cx="2152653"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700"/>
              <a:buFont typeface="Big Shoulders ExtraBold"/>
              <a:buNone/>
            </a:pPr>
            <a:r>
              <a:rPr lang="en-US" sz="2700" b="0" i="0" u="none" strike="noStrike" cap="none">
                <a:solidFill>
                  <a:srgbClr val="16171D"/>
                </a:solidFill>
                <a:latin typeface="Big Shoulders ExtraBold"/>
                <a:ea typeface="Big Shoulders ExtraBold"/>
                <a:cs typeface="Big Shoulders ExtraBold"/>
                <a:sym typeface="Big Shoulders ExtraBold"/>
              </a:rPr>
              <a:t>RSI</a:t>
            </a:r>
            <a:endParaRPr sz="2700" b="0" i="0" u="none" strike="noStrike" cap="none">
              <a:solidFill>
                <a:schemeClr val="dk1"/>
              </a:solidFill>
              <a:latin typeface="Calibri"/>
              <a:ea typeface="Calibri"/>
              <a:cs typeface="Calibri"/>
              <a:sym typeface="Calibri"/>
            </a:endParaRPr>
          </a:p>
        </p:txBody>
      </p:sp>
      <p:sp>
        <p:nvSpPr>
          <p:cNvPr id="559" name="Google Shape;559;p34"/>
          <p:cNvSpPr/>
          <p:nvPr/>
        </p:nvSpPr>
        <p:spPr>
          <a:xfrm>
            <a:off x="876302" y="2614211"/>
            <a:ext cx="2324103" cy="243706"/>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00"/>
              <a:buFont typeface="Hanken Grotesk"/>
              <a:buNone/>
            </a:pPr>
            <a:r>
              <a:rPr lang="en-US" sz="1300" b="0" i="1" u="none" strike="noStrike" cap="none">
                <a:solidFill>
                  <a:srgbClr val="16171D"/>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60" name="Google Shape;560;p34" descr="preencoded.png"/>
          <p:cNvPicPr preferRelativeResize="0"/>
          <p:nvPr/>
        </p:nvPicPr>
        <p:blipFill rotWithShape="1">
          <a:blip r:embed="rId3">
            <a:alphaModFix/>
          </a:blip>
          <a:srcRect/>
          <a:stretch/>
        </p:blipFill>
        <p:spPr>
          <a:xfrm>
            <a:off x="876302" y="2637309"/>
            <a:ext cx="1318212" cy="219893"/>
          </a:xfrm>
          <a:prstGeom prst="rect">
            <a:avLst/>
          </a:prstGeom>
          <a:noFill/>
          <a:ln>
            <a:noFill/>
          </a:ln>
        </p:spPr>
      </p:pic>
      <p:sp>
        <p:nvSpPr>
          <p:cNvPr id="561" name="Google Shape;561;p34"/>
          <p:cNvSpPr/>
          <p:nvPr/>
        </p:nvSpPr>
        <p:spPr>
          <a:xfrm>
            <a:off x="876302" y="2957930"/>
            <a:ext cx="2324103" cy="256803"/>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00"/>
              <a:buFont typeface="Hanken Grotesk"/>
              <a:buNone/>
            </a:pPr>
            <a:r>
              <a:rPr lang="en-US" sz="1300" b="0" i="1" u="none" strike="noStrike" cap="none">
                <a:solidFill>
                  <a:srgbClr val="16171D"/>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62" name="Google Shape;562;p34" descr="preencoded.png"/>
          <p:cNvPicPr preferRelativeResize="0"/>
          <p:nvPr/>
        </p:nvPicPr>
        <p:blipFill rotWithShape="1">
          <a:blip r:embed="rId4">
            <a:alphaModFix/>
          </a:blip>
          <a:srcRect/>
          <a:stretch/>
        </p:blipFill>
        <p:spPr>
          <a:xfrm>
            <a:off x="876302" y="2980432"/>
            <a:ext cx="1132554" cy="233586"/>
          </a:xfrm>
          <a:prstGeom prst="rect">
            <a:avLst/>
          </a:prstGeom>
          <a:noFill/>
          <a:ln>
            <a:noFill/>
          </a:ln>
        </p:spPr>
      </p:pic>
      <p:sp>
        <p:nvSpPr>
          <p:cNvPr id="563" name="Google Shape;563;p34"/>
          <p:cNvSpPr/>
          <p:nvPr/>
        </p:nvSpPr>
        <p:spPr>
          <a:xfrm>
            <a:off x="876302" y="3314268"/>
            <a:ext cx="2152653" cy="64003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1" u="none" strike="noStrike" cap="none">
                <a:solidFill>
                  <a:srgbClr val="16171D"/>
                </a:solidFill>
                <a:latin typeface="Hanken Grotesk"/>
                <a:ea typeface="Hanken Grotesk"/>
                <a:cs typeface="Hanken Grotesk"/>
                <a:sym typeface="Hanken Grotesk"/>
              </a:rPr>
              <a:t>RS</a:t>
            </a:r>
            <a:r>
              <a:rPr lang="en-US" sz="1200" b="0" i="0" u="none" strike="noStrike" cap="none">
                <a:solidFill>
                  <a:srgbClr val="16171D"/>
                </a:solidFill>
                <a:latin typeface="Hanken Grotesk"/>
                <a:ea typeface="Hanken Grotesk"/>
                <a:cs typeface="Hanken Grotesk"/>
                <a:sym typeface="Hanken Grotesk"/>
              </a:rPr>
              <a:t> is the average gain / average loss over the chosen window.</a:t>
            </a:r>
            <a:endParaRPr sz="1200" b="0" i="0" u="none" strike="noStrike" cap="none">
              <a:solidFill>
                <a:schemeClr val="dk1"/>
              </a:solidFill>
              <a:latin typeface="Calibri"/>
              <a:ea typeface="Calibri"/>
              <a:cs typeface="Calibri"/>
              <a:sym typeface="Calibri"/>
            </a:endParaRPr>
          </a:p>
        </p:txBody>
      </p:sp>
      <p:sp>
        <p:nvSpPr>
          <p:cNvPr id="564" name="Google Shape;564;p34"/>
          <p:cNvSpPr/>
          <p:nvPr/>
        </p:nvSpPr>
        <p:spPr>
          <a:xfrm>
            <a:off x="3371856" y="1892498"/>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65" name="Google Shape;565;p34"/>
          <p:cNvSpPr/>
          <p:nvPr/>
        </p:nvSpPr>
        <p:spPr>
          <a:xfrm>
            <a:off x="3434661" y="1963936"/>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02</a:t>
            </a:r>
            <a:endParaRPr sz="1100" b="0" i="0" u="none" strike="noStrike" cap="none">
              <a:solidFill>
                <a:schemeClr val="dk1"/>
              </a:solidFill>
              <a:latin typeface="Calibri"/>
              <a:ea typeface="Calibri"/>
              <a:cs typeface="Calibri"/>
              <a:sym typeface="Calibri"/>
            </a:endParaRPr>
          </a:p>
        </p:txBody>
      </p:sp>
      <p:sp>
        <p:nvSpPr>
          <p:cNvPr id="566" name="Google Shape;566;p34"/>
          <p:cNvSpPr/>
          <p:nvPr/>
        </p:nvSpPr>
        <p:spPr>
          <a:xfrm>
            <a:off x="3790957" y="1900238"/>
            <a:ext cx="215265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MOMENTUM</a:t>
            </a:r>
            <a:endParaRPr sz="1000" b="0" i="0" u="none" strike="noStrike" cap="none">
              <a:solidFill>
                <a:schemeClr val="dk1"/>
              </a:solidFill>
              <a:latin typeface="Calibri"/>
              <a:ea typeface="Calibri"/>
              <a:cs typeface="Calibri"/>
              <a:sym typeface="Calibri"/>
            </a:endParaRPr>
          </a:p>
        </p:txBody>
      </p:sp>
      <p:sp>
        <p:nvSpPr>
          <p:cNvPr id="567" name="Google Shape;567;p34"/>
          <p:cNvSpPr/>
          <p:nvPr/>
        </p:nvSpPr>
        <p:spPr>
          <a:xfrm>
            <a:off x="3790957" y="2157807"/>
            <a:ext cx="1981203"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2700"/>
              <a:buFont typeface="Big Shoulders ExtraBold"/>
              <a:buNone/>
            </a:pPr>
            <a:r>
              <a:rPr lang="en-US" sz="2700" b="0" i="0" u="none" strike="noStrike" cap="none">
                <a:solidFill>
                  <a:srgbClr val="16171D"/>
                </a:solidFill>
                <a:latin typeface="Big Shoulders ExtraBold"/>
                <a:ea typeface="Big Shoulders ExtraBold"/>
                <a:cs typeface="Big Shoulders ExtraBold"/>
                <a:sym typeface="Big Shoulders ExtraBold"/>
              </a:rPr>
              <a:t>MACD</a:t>
            </a:r>
            <a:endParaRPr sz="2700" b="0" i="0" u="none" strike="noStrike" cap="none">
              <a:solidFill>
                <a:schemeClr val="dk1"/>
              </a:solidFill>
              <a:latin typeface="Calibri"/>
              <a:ea typeface="Calibri"/>
              <a:cs typeface="Calibri"/>
              <a:sym typeface="Calibri"/>
            </a:endParaRPr>
          </a:p>
        </p:txBody>
      </p:sp>
      <p:sp>
        <p:nvSpPr>
          <p:cNvPr id="568" name="Google Shape;568;p34"/>
          <p:cNvSpPr/>
          <p:nvPr/>
        </p:nvSpPr>
        <p:spPr>
          <a:xfrm>
            <a:off x="3790957" y="2614211"/>
            <a:ext cx="1981203" cy="41716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00"/>
              <a:buFont typeface="Hanken Grotesk"/>
              <a:buNone/>
            </a:pPr>
            <a:r>
              <a:rPr lang="en-US" sz="1300" b="0" i="1" u="none" strike="noStrike" cap="none">
                <a:solidFill>
                  <a:srgbClr val="16171D"/>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69" name="Google Shape;569;p34" descr="preencoded.png"/>
          <p:cNvPicPr preferRelativeResize="0"/>
          <p:nvPr/>
        </p:nvPicPr>
        <p:blipFill rotWithShape="1">
          <a:blip r:embed="rId5">
            <a:alphaModFix/>
          </a:blip>
          <a:srcRect/>
          <a:stretch/>
        </p:blipFill>
        <p:spPr>
          <a:xfrm>
            <a:off x="3790957" y="2613497"/>
            <a:ext cx="1981150" cy="401985"/>
          </a:xfrm>
          <a:prstGeom prst="rect">
            <a:avLst/>
          </a:prstGeom>
          <a:noFill/>
          <a:ln>
            <a:noFill/>
          </a:ln>
        </p:spPr>
      </p:pic>
      <p:sp>
        <p:nvSpPr>
          <p:cNvPr id="570" name="Google Shape;570;p34"/>
          <p:cNvSpPr/>
          <p:nvPr/>
        </p:nvSpPr>
        <p:spPr>
          <a:xfrm>
            <a:off x="3790957" y="3131389"/>
            <a:ext cx="2152653"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00"/>
              <a:buFont typeface="Hanken Grotesk"/>
              <a:buNone/>
            </a:pPr>
            <a:r>
              <a:rPr lang="en-US" sz="1300" b="0" i="1" u="none" strike="noStrike" cap="none">
                <a:solidFill>
                  <a:srgbClr val="16171D"/>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71" name="Google Shape;571;p34" descr="preencoded.png"/>
          <p:cNvPicPr preferRelativeResize="0"/>
          <p:nvPr/>
        </p:nvPicPr>
        <p:blipFill rotWithShape="1">
          <a:blip r:embed="rId6">
            <a:alphaModFix/>
          </a:blip>
          <a:srcRect/>
          <a:stretch/>
        </p:blipFill>
        <p:spPr>
          <a:xfrm>
            <a:off x="3790957" y="3154487"/>
            <a:ext cx="1825927" cy="200993"/>
          </a:xfrm>
          <a:prstGeom prst="rect">
            <a:avLst/>
          </a:prstGeom>
          <a:noFill/>
          <a:ln>
            <a:noFill/>
          </a:ln>
        </p:spPr>
      </p:pic>
      <p:sp>
        <p:nvSpPr>
          <p:cNvPr id="572" name="Google Shape;572;p34"/>
          <p:cNvSpPr/>
          <p:nvPr/>
        </p:nvSpPr>
        <p:spPr>
          <a:xfrm>
            <a:off x="3790957" y="3471386"/>
            <a:ext cx="1981203" cy="41716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300"/>
              <a:buFont typeface="Hanken Grotesk"/>
              <a:buNone/>
            </a:pPr>
            <a:r>
              <a:rPr lang="en-US" sz="1300" b="0" i="1" u="none" strike="noStrike" cap="none">
                <a:solidFill>
                  <a:srgbClr val="16171D"/>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73" name="Google Shape;573;p34" descr="preencoded.png"/>
          <p:cNvPicPr preferRelativeResize="0"/>
          <p:nvPr/>
        </p:nvPicPr>
        <p:blipFill rotWithShape="1">
          <a:blip r:embed="rId7">
            <a:alphaModFix/>
          </a:blip>
          <a:srcRect/>
          <a:stretch/>
        </p:blipFill>
        <p:spPr>
          <a:xfrm>
            <a:off x="3790957" y="3470672"/>
            <a:ext cx="1981150" cy="401985"/>
          </a:xfrm>
          <a:prstGeom prst="rect">
            <a:avLst/>
          </a:prstGeom>
          <a:noFill/>
          <a:ln>
            <a:noFill/>
          </a:ln>
        </p:spPr>
      </p:pic>
      <p:sp>
        <p:nvSpPr>
          <p:cNvPr id="574" name="Google Shape;574;p34"/>
          <p:cNvSpPr/>
          <p:nvPr/>
        </p:nvSpPr>
        <p:spPr>
          <a:xfrm>
            <a:off x="3790957" y="3988088"/>
            <a:ext cx="1981203" cy="42669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EMA is an exponential moving average.</a:t>
            </a:r>
            <a:endParaRPr sz="1200" b="0" i="0" u="none" strike="noStrike" cap="none">
              <a:solidFill>
                <a:schemeClr val="dk1"/>
              </a:solidFill>
              <a:latin typeface="Calibri"/>
              <a:ea typeface="Calibri"/>
              <a:cs typeface="Calibri"/>
              <a:sym typeface="Calibri"/>
            </a:endParaRPr>
          </a:p>
        </p:txBody>
      </p:sp>
      <p:sp>
        <p:nvSpPr>
          <p:cNvPr id="575" name="Google Shape;575;p34"/>
          <p:cNvSpPr/>
          <p:nvPr/>
        </p:nvSpPr>
        <p:spPr>
          <a:xfrm>
            <a:off x="5943610" y="1721048"/>
            <a:ext cx="2743205" cy="2965252"/>
          </a:xfrm>
          <a:prstGeom prst="rect">
            <a:avLst/>
          </a:prstGeom>
          <a:solidFill>
            <a:srgbClr val="FF842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6" name="Google Shape;576;p34"/>
          <p:cNvSpPr/>
          <p:nvPr/>
        </p:nvSpPr>
        <p:spPr>
          <a:xfrm>
            <a:off x="6115060" y="1892498"/>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7" name="Google Shape;577;p34"/>
          <p:cNvSpPr/>
          <p:nvPr/>
        </p:nvSpPr>
        <p:spPr>
          <a:xfrm>
            <a:off x="6177866" y="1963936"/>
            <a:ext cx="617266"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03</a:t>
            </a:r>
            <a:endParaRPr sz="1100" b="0" i="0" u="none" strike="noStrike" cap="none">
              <a:solidFill>
                <a:schemeClr val="dk1"/>
              </a:solidFill>
              <a:latin typeface="Calibri"/>
              <a:ea typeface="Calibri"/>
              <a:cs typeface="Calibri"/>
              <a:sym typeface="Calibri"/>
            </a:endParaRPr>
          </a:p>
        </p:txBody>
      </p:sp>
      <p:sp>
        <p:nvSpPr>
          <p:cNvPr id="578" name="Google Shape;578;p34"/>
          <p:cNvSpPr/>
          <p:nvPr/>
        </p:nvSpPr>
        <p:spPr>
          <a:xfrm>
            <a:off x="6534161" y="1900238"/>
            <a:ext cx="2152653"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DISPERSION</a:t>
            </a:r>
            <a:endParaRPr sz="1000" b="0" i="0" u="none" strike="noStrike" cap="none">
              <a:solidFill>
                <a:schemeClr val="dk1"/>
              </a:solidFill>
              <a:latin typeface="Calibri"/>
              <a:ea typeface="Calibri"/>
              <a:cs typeface="Calibri"/>
              <a:sym typeface="Calibri"/>
            </a:endParaRPr>
          </a:p>
        </p:txBody>
      </p:sp>
      <p:sp>
        <p:nvSpPr>
          <p:cNvPr id="579" name="Google Shape;579;p34"/>
          <p:cNvSpPr/>
          <p:nvPr/>
        </p:nvSpPr>
        <p:spPr>
          <a:xfrm>
            <a:off x="6534161" y="2157807"/>
            <a:ext cx="1981203" cy="325710"/>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000000"/>
              </a:buClr>
              <a:buSzPts val="2700"/>
              <a:buFont typeface="Big Shoulders ExtraBold"/>
              <a:buNone/>
            </a:pPr>
            <a:r>
              <a:rPr lang="en-US" sz="2700" b="0" i="0" u="none" strike="noStrike" cap="none">
                <a:solidFill>
                  <a:srgbClr val="000000"/>
                </a:solidFill>
                <a:latin typeface="Big Shoulders ExtraBold"/>
                <a:ea typeface="Big Shoulders ExtraBold"/>
                <a:cs typeface="Big Shoulders ExtraBold"/>
                <a:sym typeface="Big Shoulders ExtraBold"/>
              </a:rPr>
              <a:t>VOLATILITY</a:t>
            </a:r>
            <a:endParaRPr sz="2700" b="0" i="0" u="none" strike="noStrike" cap="none">
              <a:solidFill>
                <a:schemeClr val="dk1"/>
              </a:solidFill>
              <a:latin typeface="Calibri"/>
              <a:ea typeface="Calibri"/>
              <a:cs typeface="Calibri"/>
              <a:sym typeface="Calibri"/>
            </a:endParaRPr>
          </a:p>
        </p:txBody>
      </p:sp>
      <p:sp>
        <p:nvSpPr>
          <p:cNvPr id="580" name="Google Shape;580;p34"/>
          <p:cNvSpPr/>
          <p:nvPr/>
        </p:nvSpPr>
        <p:spPr>
          <a:xfrm>
            <a:off x="6534161" y="2614210"/>
            <a:ext cx="2152653"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300"/>
              <a:buFont typeface="Hanken Grotesk"/>
              <a:buNone/>
            </a:pPr>
            <a:r>
              <a:rPr lang="en-US" sz="1300" b="0" i="1" u="none" strike="noStrike" cap="none">
                <a:solidFill>
                  <a:srgbClr val="000000"/>
                </a:solidFill>
                <a:latin typeface="Hanken Grotesk"/>
                <a:ea typeface="Hanken Grotesk"/>
                <a:cs typeface="Hanken Grotesk"/>
                <a:sym typeface="Hanken Grotesk"/>
              </a:rPr>
              <a:t>           </a:t>
            </a:r>
            <a:endParaRPr sz="1400" b="0" i="0" u="none" strike="noStrike" cap="none">
              <a:solidFill>
                <a:schemeClr val="dk1"/>
              </a:solidFill>
              <a:latin typeface="Calibri"/>
              <a:ea typeface="Calibri"/>
              <a:cs typeface="Calibri"/>
              <a:sym typeface="Calibri"/>
            </a:endParaRPr>
          </a:p>
        </p:txBody>
      </p:sp>
      <p:pic>
        <p:nvPicPr>
          <p:cNvPr id="581" name="Google Shape;581;p34" descr="preencoded.png"/>
          <p:cNvPicPr preferRelativeResize="0"/>
          <p:nvPr/>
        </p:nvPicPr>
        <p:blipFill rotWithShape="1">
          <a:blip r:embed="rId8">
            <a:alphaModFix/>
          </a:blip>
          <a:srcRect/>
          <a:stretch/>
        </p:blipFill>
        <p:spPr>
          <a:xfrm>
            <a:off x="6534161" y="2637309"/>
            <a:ext cx="1709843" cy="215280"/>
          </a:xfrm>
          <a:prstGeom prst="rect">
            <a:avLst/>
          </a:prstGeom>
          <a:noFill/>
          <a:ln>
            <a:noFill/>
          </a:ln>
        </p:spPr>
      </p:pic>
      <p:sp>
        <p:nvSpPr>
          <p:cNvPr id="582" name="Google Shape;582;p34"/>
          <p:cNvSpPr/>
          <p:nvPr/>
        </p:nvSpPr>
        <p:spPr>
          <a:xfrm>
            <a:off x="6534161" y="2953732"/>
            <a:ext cx="1981203" cy="1280071"/>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200"/>
              <a:buFont typeface="Hanken Grotesk"/>
              <a:buNone/>
            </a:pPr>
            <a:r>
              <a:rPr lang="en-US" sz="1200" b="0" i="0" u="none" strike="noStrike" cap="none">
                <a:solidFill>
                  <a:srgbClr val="000000"/>
                </a:solidFill>
                <a:latin typeface="Hanken Grotesk"/>
                <a:ea typeface="Hanken Grotesk"/>
                <a:cs typeface="Hanken Grotesk"/>
                <a:sym typeface="Hanken Grotesk"/>
              </a:rPr>
              <a:t>Volatility is the standard deviation of the last </a:t>
            </a:r>
            <a:r>
              <a:rPr lang="en-US" sz="1200" b="0" i="1" u="none" strike="noStrike" cap="none">
                <a:solidFill>
                  <a:srgbClr val="000000"/>
                </a:solidFill>
                <a:latin typeface="Hanken Grotesk"/>
                <a:ea typeface="Hanken Grotesk"/>
                <a:cs typeface="Hanken Grotesk"/>
                <a:sym typeface="Hanken Grotesk"/>
              </a:rPr>
              <a:t>n</a:t>
            </a:r>
            <a:r>
              <a:rPr lang="en-US" sz="1200" b="0" i="0" u="none" strike="noStrike" cap="none">
                <a:solidFill>
                  <a:srgbClr val="000000"/>
                </a:solidFill>
                <a:latin typeface="Hanken Grotesk"/>
                <a:ea typeface="Hanken Grotesk"/>
                <a:cs typeface="Hanken Grotesk"/>
                <a:sym typeface="Hanken Grotesk"/>
              </a:rPr>
              <a:t> returns. Together with volume and return features, these indicators feed the comparison models.</a:t>
            </a:r>
            <a:endParaRPr sz="1200" b="0" i="0" u="none" strike="noStrike" cap="none">
              <a:solidFill>
                <a:schemeClr val="dk1"/>
              </a:solidFill>
              <a:latin typeface="Calibri"/>
              <a:ea typeface="Calibri"/>
              <a:cs typeface="Calibri"/>
              <a:sym typeface="Calibri"/>
            </a:endParaRPr>
          </a:p>
        </p:txBody>
      </p:sp>
      <p:sp>
        <p:nvSpPr>
          <p:cNvPr id="583" name="Google Shape;583;p34"/>
          <p:cNvSpPr/>
          <p:nvPr/>
        </p:nvSpPr>
        <p:spPr>
          <a:xfrm>
            <a:off x="3195642" y="1721048"/>
            <a:ext cx="9525" cy="2965252"/>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84" name="Google Shape;584;p34"/>
          <p:cNvSpPr/>
          <p:nvPr/>
        </p:nvSpPr>
        <p:spPr>
          <a:xfrm>
            <a:off x="5938847" y="1721048"/>
            <a:ext cx="9525" cy="2965252"/>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35"/>
          <p:cNvSpPr/>
          <p:nvPr/>
        </p:nvSpPr>
        <p:spPr>
          <a:xfrm>
            <a:off x="457201" y="384442"/>
            <a:ext cx="8686814" cy="14339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00"/>
              <a:buFont typeface="Red Hat Mono Medium"/>
              <a:buNone/>
            </a:pPr>
            <a:r>
              <a:rPr lang="en-US" sz="900" b="0" i="0" u="none" strike="noStrike" cap="none">
                <a:solidFill>
                  <a:srgbClr val="16171D"/>
                </a:solidFill>
                <a:latin typeface="Red Hat Mono Medium"/>
                <a:ea typeface="Red Hat Mono Medium"/>
                <a:cs typeface="Red Hat Mono Medium"/>
                <a:sym typeface="Red Hat Mono Medium"/>
              </a:rPr>
              <a:t>TECHNICAL APPENDIX · ENGINEERING REVIEW</a:t>
            </a:r>
            <a:endParaRPr sz="900" b="0" i="0" u="none" strike="noStrike" cap="none">
              <a:solidFill>
                <a:schemeClr val="dk1"/>
              </a:solidFill>
              <a:latin typeface="Calibri"/>
              <a:ea typeface="Calibri"/>
              <a:cs typeface="Calibri"/>
              <a:sym typeface="Calibri"/>
            </a:endParaRPr>
          </a:p>
        </p:txBody>
      </p:sp>
      <p:sp>
        <p:nvSpPr>
          <p:cNvPr id="591" name="Google Shape;591;p35"/>
          <p:cNvSpPr/>
          <p:nvPr/>
        </p:nvSpPr>
        <p:spPr>
          <a:xfrm>
            <a:off x="457201" y="636234"/>
            <a:ext cx="8229614" cy="804714"/>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300"/>
              <a:buFont typeface="Big Shoulders ExtraBold"/>
              <a:buNone/>
            </a:pPr>
            <a:r>
              <a:rPr lang="en-US" sz="3300" b="0" i="0" u="none" strike="noStrike" cap="none">
                <a:solidFill>
                  <a:srgbClr val="16171D"/>
                </a:solidFill>
                <a:latin typeface="Big Shoulders ExtraBold"/>
                <a:ea typeface="Big Shoulders ExtraBold"/>
                <a:cs typeface="Big Shoulders ExtraBold"/>
                <a:sym typeface="Big Shoulders ExtraBold"/>
              </a:rPr>
              <a:t>CHALLENGES FACED</a:t>
            </a:r>
            <a:endParaRPr sz="33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Clr>
                <a:srgbClr val="16171D"/>
              </a:buClr>
              <a:buSzPts val="3300"/>
              <a:buFont typeface="Big Shoulders ExtraBold"/>
              <a:buNone/>
            </a:pPr>
            <a:r>
              <a:rPr lang="en-US" sz="3300" b="0" i="0" u="none" strike="noStrike" cap="none">
                <a:solidFill>
                  <a:srgbClr val="16171D"/>
                </a:solidFill>
                <a:latin typeface="Big Shoulders ExtraBold"/>
                <a:ea typeface="Big Shoulders ExtraBold"/>
                <a:cs typeface="Big Shoulders ExtraBold"/>
                <a:sym typeface="Big Shoulders ExtraBold"/>
              </a:rPr>
              <a:t>ACROSS THE PROJECT</a:t>
            </a:r>
            <a:endParaRPr sz="3300" b="0" i="0" u="none" strike="noStrike" cap="none">
              <a:solidFill>
                <a:schemeClr val="dk1"/>
              </a:solidFill>
              <a:latin typeface="Calibri"/>
              <a:ea typeface="Calibri"/>
              <a:cs typeface="Calibri"/>
              <a:sym typeface="Calibri"/>
            </a:endParaRPr>
          </a:p>
        </p:txBody>
      </p:sp>
      <p:sp>
        <p:nvSpPr>
          <p:cNvPr id="592" name="Google Shape;592;p35"/>
          <p:cNvSpPr/>
          <p:nvPr/>
        </p:nvSpPr>
        <p:spPr>
          <a:xfrm>
            <a:off x="457201" y="1535489"/>
            <a:ext cx="8686814" cy="214238"/>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16171D"/>
              </a:buClr>
              <a:buSzPts val="1200"/>
              <a:buFont typeface="Hanken Grotesk"/>
              <a:buNone/>
            </a:pPr>
            <a:r>
              <a:rPr lang="en-US" sz="1200" b="0" i="0" u="none" strike="noStrike" cap="none">
                <a:solidFill>
                  <a:srgbClr val="16171D"/>
                </a:solidFill>
                <a:latin typeface="Hanken Grotesk"/>
                <a:ea typeface="Hanken Grotesk"/>
                <a:cs typeface="Hanken Grotesk"/>
                <a:sym typeface="Hanken Grotesk"/>
              </a:rPr>
              <a:t>Each difficulty required a concrete control in the data, modeling or delivery layer.</a:t>
            </a:r>
            <a:endParaRPr sz="1200" b="0" i="0" u="none" strike="noStrike" cap="none">
              <a:solidFill>
                <a:schemeClr val="dk1"/>
              </a:solidFill>
              <a:latin typeface="Calibri"/>
              <a:ea typeface="Calibri"/>
              <a:cs typeface="Calibri"/>
              <a:sym typeface="Calibri"/>
            </a:endParaRPr>
          </a:p>
        </p:txBody>
      </p:sp>
      <p:graphicFrame>
        <p:nvGraphicFramePr>
          <p:cNvPr id="593" name="Google Shape;593;p35"/>
          <p:cNvGraphicFramePr/>
          <p:nvPr/>
        </p:nvGraphicFramePr>
        <p:xfrm>
          <a:off x="457201" y="1883048"/>
          <a:ext cx="3000000" cy="3000000"/>
        </p:xfrm>
        <a:graphic>
          <a:graphicData uri="http://schemas.openxmlformats.org/drawingml/2006/table">
            <a:tbl>
              <a:tblPr>
                <a:noFill/>
                <a:tableStyleId>{3B8C08A0-D729-4379-9EE9-536BB95A4829}</a:tableStyleId>
              </a:tblPr>
              <a:tblGrid>
                <a:gridCol w="960525">
                  <a:extLst>
                    <a:ext uri="{9D8B030D-6E8A-4147-A177-3AD203B41FA5}">
                      <a16:colId xmlns:a16="http://schemas.microsoft.com/office/drawing/2014/main" val="20000"/>
                    </a:ext>
                  </a:extLst>
                </a:gridCol>
                <a:gridCol w="3315300">
                  <a:extLst>
                    <a:ext uri="{9D8B030D-6E8A-4147-A177-3AD203B41FA5}">
                      <a16:colId xmlns:a16="http://schemas.microsoft.com/office/drawing/2014/main" val="20001"/>
                    </a:ext>
                  </a:extLst>
                </a:gridCol>
                <a:gridCol w="33617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215900">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tblGrid>
              <a:tr h="371400">
                <a:tc>
                  <a:txBody>
                    <a:bodyPr/>
                    <a:lstStyle/>
                    <a:p>
                      <a:pPr marL="0" marR="0" lvl="0" indent="0" algn="l" rtl="0">
                        <a:spcBef>
                          <a:spcPts val="0"/>
                        </a:spcBef>
                        <a:spcAft>
                          <a:spcPts val="0"/>
                        </a:spcAft>
                        <a:buClr>
                          <a:srgbClr val="FFFFFF"/>
                        </a:buClr>
                        <a:buSzPts val="1200"/>
                        <a:buFont typeface="Hanken Grotesk"/>
                        <a:buNone/>
                      </a:pPr>
                      <a:r>
                        <a:rPr lang="en-US" sz="1200" u="none" strike="noStrike" cap="none">
                          <a:solidFill>
                            <a:srgbClr val="FFFFFF"/>
                          </a:solidFill>
                          <a:latin typeface="Hanken Grotesk"/>
                          <a:ea typeface="Hanken Grotesk"/>
                          <a:cs typeface="Hanken Grotesk"/>
                          <a:sym typeface="Hanken Grotesk"/>
                        </a:rPr>
                        <a:t>Phase</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16171D"/>
                    </a:solidFill>
                  </a:tcPr>
                </a:tc>
                <a:tc>
                  <a:txBody>
                    <a:bodyPr/>
                    <a:lstStyle/>
                    <a:p>
                      <a:pPr marL="0" marR="0" lvl="0" indent="0" algn="l" rtl="0">
                        <a:spcBef>
                          <a:spcPts val="0"/>
                        </a:spcBef>
                        <a:spcAft>
                          <a:spcPts val="0"/>
                        </a:spcAft>
                        <a:buClr>
                          <a:srgbClr val="FFFFFF"/>
                        </a:buClr>
                        <a:buSzPts val="1200"/>
                        <a:buFont typeface="Hanken Grotesk"/>
                        <a:buNone/>
                      </a:pPr>
                      <a:r>
                        <a:rPr lang="en-US" sz="1200" u="none" strike="noStrike" cap="none">
                          <a:solidFill>
                            <a:srgbClr val="FFFFFF"/>
                          </a:solidFill>
                          <a:latin typeface="Hanken Grotesk"/>
                          <a:ea typeface="Hanken Grotesk"/>
                          <a:cs typeface="Hanken Grotesk"/>
                          <a:sym typeface="Hanken Grotesk"/>
                        </a:rPr>
                        <a:t>Problem</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16171D"/>
                    </a:solidFill>
                  </a:tcPr>
                </a:tc>
                <a:tc>
                  <a:txBody>
                    <a:bodyPr/>
                    <a:lstStyle/>
                    <a:p>
                      <a:pPr marL="0" marR="0" lvl="0" indent="0" algn="l" rtl="0">
                        <a:spcBef>
                          <a:spcPts val="0"/>
                        </a:spcBef>
                        <a:spcAft>
                          <a:spcPts val="0"/>
                        </a:spcAft>
                        <a:buClr>
                          <a:srgbClr val="000000"/>
                        </a:buClr>
                        <a:buSzPts val="1200"/>
                        <a:buFont typeface="Hanken Grotesk"/>
                        <a:buNone/>
                      </a:pPr>
                      <a:r>
                        <a:rPr lang="en-US" sz="1200" u="none" strike="noStrike" cap="none">
                          <a:solidFill>
                            <a:srgbClr val="000000"/>
                          </a:solidFill>
                          <a:latin typeface="Hanken Grotesk"/>
                          <a:ea typeface="Hanken Grotesk"/>
                          <a:cs typeface="Hanken Grotesk"/>
                          <a:sym typeface="Hanken Grotesk"/>
                        </a:rPr>
                        <a:t>Practical response</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FF8424"/>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0"/>
                  </a:ext>
                </a:extLst>
              </a:tr>
              <a:tr h="999800">
                <a:tc>
                  <a:txBody>
                    <a:bodyPr/>
                    <a:lstStyle/>
                    <a:p>
                      <a:pPr marL="0" marR="0" lvl="0" indent="0" algn="l" rtl="0">
                        <a:spcBef>
                          <a:spcPts val="0"/>
                        </a:spcBef>
                        <a:spcAft>
                          <a:spcPts val="0"/>
                        </a:spcAft>
                        <a:buClr>
                          <a:srgbClr val="16171D"/>
                        </a:buClr>
                        <a:buSzPts val="900"/>
                        <a:buFont typeface="Red Hat Mono"/>
                        <a:buNone/>
                      </a:pPr>
                      <a:r>
                        <a:rPr lang="en-US" sz="900" u="none" strike="noStrike" cap="none">
                          <a:solidFill>
                            <a:srgbClr val="16171D"/>
                          </a:solidFill>
                          <a:latin typeface="Red Hat Mono"/>
                          <a:ea typeface="Red Hat Mono"/>
                          <a:cs typeface="Red Hat Mono"/>
                          <a:sym typeface="Red Hat Mono"/>
                        </a:rPr>
                        <a:t>DATA</a:t>
                      </a:r>
                      <a:endParaRPr sz="900" u="none" strike="noStrike" cap="none">
                        <a:latin typeface="Red Hat Mono"/>
                        <a:ea typeface="Red Hat Mono"/>
                        <a:cs typeface="Red Hat Mono"/>
                        <a:sym typeface="Red Hat Mono"/>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Inconsistent data types, date indexes, missing values and empty datasets interrupted analysis.</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Convert types explicitly, normalize the datetime index, apply missing-value handling, and check dataset length before analysis.</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1"/>
                  </a:ext>
                </a:extLst>
              </a:tr>
              <a:tr h="785550">
                <a:tc>
                  <a:txBody>
                    <a:bodyPr/>
                    <a:lstStyle/>
                    <a:p>
                      <a:pPr marL="0" marR="0" lvl="0" indent="0" algn="l" rtl="0">
                        <a:spcBef>
                          <a:spcPts val="0"/>
                        </a:spcBef>
                        <a:spcAft>
                          <a:spcPts val="0"/>
                        </a:spcAft>
                        <a:buClr>
                          <a:srgbClr val="16171D"/>
                        </a:buClr>
                        <a:buSzPts val="900"/>
                        <a:buFont typeface="Red Hat Mono"/>
                        <a:buNone/>
                      </a:pPr>
                      <a:r>
                        <a:rPr lang="en-US" sz="900" u="none" strike="noStrike" cap="none">
                          <a:solidFill>
                            <a:srgbClr val="16171D"/>
                          </a:solidFill>
                          <a:latin typeface="Red Hat Mono"/>
                          <a:ea typeface="Red Hat Mono"/>
                          <a:cs typeface="Red Hat Mono"/>
                          <a:sym typeface="Red Hat Mono"/>
                        </a:rPr>
                        <a:t>FEATURES</a:t>
                      </a:r>
                      <a:endParaRPr sz="900" u="none" strike="noStrike" cap="none">
                        <a:latin typeface="Red Hat Mono"/>
                        <a:ea typeface="Red Hat Mono"/>
                        <a:cs typeface="Red Hat Mono"/>
                        <a:sym typeface="Red Hat Mono"/>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Rolling indicators create early missing rows, while future information can leak into the present.</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Drop invalid rows after feature creation and preserve chronological train/test splits to prevent look-ahead leakage.</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2"/>
                  </a:ext>
                </a:extLst>
              </a:tr>
              <a:tr h="776025">
                <a:tc>
                  <a:txBody>
                    <a:bodyPr/>
                    <a:lstStyle/>
                    <a:p>
                      <a:pPr marL="0" marR="0" lvl="0" indent="0" algn="l" rtl="0">
                        <a:spcBef>
                          <a:spcPts val="0"/>
                        </a:spcBef>
                        <a:spcAft>
                          <a:spcPts val="0"/>
                        </a:spcAft>
                        <a:buClr>
                          <a:srgbClr val="16171D"/>
                        </a:buClr>
                        <a:buSzPts val="900"/>
                        <a:buFont typeface="Red Hat Mono"/>
                        <a:buNone/>
                      </a:pPr>
                      <a:r>
                        <a:rPr lang="en-US" sz="900" u="none" strike="noStrike" cap="none">
                          <a:solidFill>
                            <a:srgbClr val="16171D"/>
                          </a:solidFill>
                          <a:latin typeface="Red Hat Mono"/>
                          <a:ea typeface="Red Hat Mono"/>
                          <a:cs typeface="Red Hat Mono"/>
                          <a:sym typeface="Red Hat Mono"/>
                        </a:rPr>
                        <a:t>LABELS</a:t>
                      </a:r>
                      <a:endParaRPr sz="900" u="none" strike="noStrike" cap="none">
                        <a:latin typeface="Red Hat Mono"/>
                        <a:ea typeface="Red Hat Mono"/>
                        <a:cs typeface="Red Hat Mono"/>
                        <a:sym typeface="Red Hat Mono"/>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Class imbalance made modest multi-class accuracy difficult to interpret without overstating the result.</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200"/>
                        <a:buFont typeface="Hanken Grotesk"/>
                        <a:buNone/>
                      </a:pPr>
                      <a:r>
                        <a:rPr lang="en-US" sz="1200" u="none" strike="noStrike" cap="none">
                          <a:solidFill>
                            <a:srgbClr val="16171D"/>
                          </a:solidFill>
                          <a:latin typeface="Hanken Grotesk"/>
                          <a:ea typeface="Hanken Grotesk"/>
                          <a:cs typeface="Hanken Grotesk"/>
                          <a:sym typeface="Hanken Grotesk"/>
                        </a:rPr>
                        <a:t>Use the binary UP/DOWN framing for training and treat HOLD as a confidence-band recommendation.</a:t>
                      </a: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36"/>
          <p:cNvSpPr/>
          <p:nvPr/>
        </p:nvSpPr>
        <p:spPr>
          <a:xfrm>
            <a:off x="457201" y="388739"/>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1000"/>
              <a:buFont typeface="Red Hat Mono Medium"/>
              <a:buNone/>
            </a:pPr>
            <a:r>
              <a:rPr lang="en-US" sz="1000" b="0" i="0" u="none" strike="noStrike" cap="none">
                <a:solidFill>
                  <a:srgbClr val="16171D"/>
                </a:solidFill>
                <a:latin typeface="Red Hat Mono Medium"/>
                <a:ea typeface="Red Hat Mono Medium"/>
                <a:cs typeface="Red Hat Mono Medium"/>
                <a:sym typeface="Red Hat Mono Medium"/>
              </a:rPr>
              <a:t>TECHNICAL APPENDIX · ENGINEERING REVIEW</a:t>
            </a:r>
            <a:endParaRPr sz="1000" b="0" i="0" u="none" strike="noStrike" cap="none">
              <a:solidFill>
                <a:schemeClr val="dk1"/>
              </a:solidFill>
              <a:latin typeface="Calibri"/>
              <a:ea typeface="Calibri"/>
              <a:cs typeface="Calibri"/>
              <a:sym typeface="Calibri"/>
            </a:endParaRPr>
          </a:p>
        </p:txBody>
      </p:sp>
      <p:sp>
        <p:nvSpPr>
          <p:cNvPr id="600" name="Google Shape;600;p36"/>
          <p:cNvSpPr/>
          <p:nvPr/>
        </p:nvSpPr>
        <p:spPr>
          <a:xfrm>
            <a:off x="457201" y="662442"/>
            <a:ext cx="8229614" cy="868561"/>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CHALLENGES FACED</a:t>
            </a:r>
            <a:endParaRPr sz="36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Clr>
                <a:srgbClr val="16171D"/>
              </a:buClr>
              <a:buSzPts val="3600"/>
              <a:buFont typeface="Big Shoulders ExtraBold"/>
              <a:buNone/>
            </a:pPr>
            <a:r>
              <a:rPr lang="en-US" sz="3600" b="0" i="0" u="none" strike="noStrike" cap="none">
                <a:solidFill>
                  <a:srgbClr val="16171D"/>
                </a:solidFill>
                <a:latin typeface="Big Shoulders ExtraBold"/>
                <a:ea typeface="Big Shoulders ExtraBold"/>
                <a:cs typeface="Big Shoulders ExtraBold"/>
                <a:sym typeface="Big Shoulders ExtraBold"/>
              </a:rPr>
              <a:t>(CONTINUED)</a:t>
            </a:r>
            <a:endParaRPr sz="3600" b="0" i="0" u="none" strike="noStrike" cap="none">
              <a:solidFill>
                <a:schemeClr val="dk1"/>
              </a:solidFill>
              <a:latin typeface="Calibri"/>
              <a:ea typeface="Calibri"/>
              <a:cs typeface="Calibri"/>
              <a:sym typeface="Calibri"/>
            </a:endParaRPr>
          </a:p>
        </p:txBody>
      </p:sp>
      <p:sp>
        <p:nvSpPr>
          <p:cNvPr id="601" name="Google Shape;601;p36"/>
          <p:cNvSpPr/>
          <p:nvPr/>
        </p:nvSpPr>
        <p:spPr>
          <a:xfrm>
            <a:off x="457201" y="1645563"/>
            <a:ext cx="8686814"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16171D"/>
              </a:buClr>
              <a:buSzPts val="1400"/>
              <a:buFont typeface="Hanken Grotesk"/>
              <a:buNone/>
            </a:pPr>
            <a:r>
              <a:rPr lang="en-US" sz="1400" b="0" i="0" u="none" strike="noStrike" cap="none">
                <a:solidFill>
                  <a:srgbClr val="16171D"/>
                </a:solidFill>
                <a:latin typeface="Hanken Grotesk"/>
                <a:ea typeface="Hanken Grotesk"/>
                <a:cs typeface="Hanken Grotesk"/>
                <a:sym typeface="Hanken Grotesk"/>
              </a:rPr>
              <a:t>Model and delivery difficulties needed controls that keep forecasts and dashboard outputs readable.</a:t>
            </a:r>
            <a:endParaRPr sz="1400" b="0" i="0" u="none" strike="noStrike" cap="none">
              <a:solidFill>
                <a:schemeClr val="dk1"/>
              </a:solidFill>
              <a:latin typeface="Calibri"/>
              <a:ea typeface="Calibri"/>
              <a:cs typeface="Calibri"/>
              <a:sym typeface="Calibri"/>
            </a:endParaRPr>
          </a:p>
        </p:txBody>
      </p:sp>
      <p:graphicFrame>
        <p:nvGraphicFramePr>
          <p:cNvPr id="602" name="Google Shape;602;p36"/>
          <p:cNvGraphicFramePr/>
          <p:nvPr/>
        </p:nvGraphicFramePr>
        <p:xfrm>
          <a:off x="457201" y="2018184"/>
          <a:ext cx="3000000" cy="3000000"/>
        </p:xfrm>
        <a:graphic>
          <a:graphicData uri="http://schemas.openxmlformats.org/drawingml/2006/table">
            <a:tbl>
              <a:tblPr>
                <a:noFill/>
                <a:tableStyleId>{3B8C08A0-D729-4379-9EE9-536BB95A4829}</a:tableStyleId>
              </a:tblPr>
              <a:tblGrid>
                <a:gridCol w="987525">
                  <a:extLst>
                    <a:ext uri="{9D8B030D-6E8A-4147-A177-3AD203B41FA5}">
                      <a16:colId xmlns:a16="http://schemas.microsoft.com/office/drawing/2014/main" val="20000"/>
                    </a:ext>
                  </a:extLst>
                </a:gridCol>
                <a:gridCol w="3620950">
                  <a:extLst>
                    <a:ext uri="{9D8B030D-6E8A-4147-A177-3AD203B41FA5}">
                      <a16:colId xmlns:a16="http://schemas.microsoft.com/office/drawing/2014/main" val="20001"/>
                    </a:ext>
                  </a:extLst>
                </a:gridCol>
                <a:gridCol w="3621100">
                  <a:extLst>
                    <a:ext uri="{9D8B030D-6E8A-4147-A177-3AD203B41FA5}">
                      <a16:colId xmlns:a16="http://schemas.microsoft.com/office/drawing/2014/main" val="20002"/>
                    </a:ext>
                  </a:extLst>
                </a:gridCol>
              </a:tblGrid>
              <a:tr h="397125">
                <a:tc>
                  <a:txBody>
                    <a:bodyPr/>
                    <a:lstStyle/>
                    <a:p>
                      <a:pPr marL="0" marR="0" lvl="0" indent="0" algn="l" rtl="0">
                        <a:spcBef>
                          <a:spcPts val="0"/>
                        </a:spcBef>
                        <a:spcAft>
                          <a:spcPts val="0"/>
                        </a:spcAft>
                        <a:buClr>
                          <a:srgbClr val="FFFFFF"/>
                        </a:buClr>
                        <a:buSzPts val="1400"/>
                        <a:buFont typeface="Hanken Grotesk"/>
                        <a:buNone/>
                      </a:pPr>
                      <a:r>
                        <a:rPr lang="en-US" sz="1400" u="none" strike="noStrike" cap="none">
                          <a:solidFill>
                            <a:srgbClr val="FFFFFF"/>
                          </a:solidFill>
                          <a:latin typeface="Hanken Grotesk"/>
                          <a:ea typeface="Hanken Grotesk"/>
                          <a:cs typeface="Hanken Grotesk"/>
                          <a:sym typeface="Hanken Grotesk"/>
                        </a:rPr>
                        <a:t>Phase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16171D"/>
                    </a:solidFill>
                  </a:tcPr>
                </a:tc>
                <a:tc>
                  <a:txBody>
                    <a:bodyPr/>
                    <a:lstStyle/>
                    <a:p>
                      <a:pPr marL="0" marR="0" lvl="0" indent="0" algn="l" rtl="0">
                        <a:spcBef>
                          <a:spcPts val="0"/>
                        </a:spcBef>
                        <a:spcAft>
                          <a:spcPts val="0"/>
                        </a:spcAft>
                        <a:buClr>
                          <a:srgbClr val="FFFFFF"/>
                        </a:buClr>
                        <a:buSzPts val="1400"/>
                        <a:buFont typeface="Hanken Grotesk"/>
                        <a:buNone/>
                      </a:pPr>
                      <a:r>
                        <a:rPr lang="en-US" sz="1400" u="none" strike="noStrike" cap="none">
                          <a:solidFill>
                            <a:srgbClr val="FFFFFF"/>
                          </a:solidFill>
                          <a:latin typeface="Hanken Grotesk"/>
                          <a:ea typeface="Hanken Grotesk"/>
                          <a:cs typeface="Hanken Grotesk"/>
                          <a:sym typeface="Hanken Grotesk"/>
                        </a:rPr>
                        <a:t>Problem</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16171D"/>
                    </a:solidFill>
                  </a:tcPr>
                </a:tc>
                <a:tc>
                  <a:txBody>
                    <a:bodyPr/>
                    <a:lstStyle/>
                    <a:p>
                      <a:pPr marL="0" marR="0" lvl="0" indent="0" algn="l" rtl="0">
                        <a:spcBef>
                          <a:spcPts val="0"/>
                        </a:spcBef>
                        <a:spcAft>
                          <a:spcPts val="0"/>
                        </a:spcAft>
                        <a:buClr>
                          <a:srgbClr val="000000"/>
                        </a:buClr>
                        <a:buSzPts val="1400"/>
                        <a:buFont typeface="Hanken Grotesk"/>
                        <a:buNone/>
                      </a:pPr>
                      <a:r>
                        <a:rPr lang="en-US" sz="1400" u="none" strike="noStrike" cap="none">
                          <a:solidFill>
                            <a:srgbClr val="000000"/>
                          </a:solidFill>
                          <a:latin typeface="Hanken Grotesk"/>
                          <a:ea typeface="Hanken Grotesk"/>
                          <a:cs typeface="Hanken Grotesk"/>
                          <a:sym typeface="Hanken Grotesk"/>
                        </a:rPr>
                        <a:t>Practical response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FF8424"/>
                    </a:solidFill>
                  </a:tcPr>
                </a:tc>
                <a:extLst>
                  <a:ext uri="{0D108BD9-81ED-4DB2-BD59-A6C34878D82A}">
                    <a16:rowId xmlns:a16="http://schemas.microsoft.com/office/drawing/2014/main" val="10000"/>
                  </a:ext>
                </a:extLst>
              </a:tr>
              <a:tr h="862800">
                <a:tc>
                  <a:txBody>
                    <a:bodyPr/>
                    <a:lstStyle/>
                    <a:p>
                      <a:pPr marL="0" marR="0" lvl="0" indent="0" algn="l" rtl="0">
                        <a:spcBef>
                          <a:spcPts val="0"/>
                        </a:spcBef>
                        <a:spcAft>
                          <a:spcPts val="0"/>
                        </a:spcAft>
                        <a:buClr>
                          <a:srgbClr val="16171D"/>
                        </a:buClr>
                        <a:buSzPts val="1000"/>
                        <a:buFont typeface="Red Hat Mono"/>
                        <a:buNone/>
                      </a:pPr>
                      <a:r>
                        <a:rPr lang="en-US" sz="1000" u="none" strike="noStrike" cap="none">
                          <a:solidFill>
                            <a:srgbClr val="16171D"/>
                          </a:solidFill>
                          <a:latin typeface="Red Hat Mono"/>
                          <a:ea typeface="Red Hat Mono"/>
                          <a:cs typeface="Red Hat Mono"/>
                          <a:sym typeface="Red Hat Mono"/>
                        </a:rPr>
                        <a:t>MODELS</a:t>
                      </a:r>
                      <a:endParaRPr sz="1000" u="none" strike="noStrike" cap="none">
                        <a:latin typeface="Red Hat Mono"/>
                        <a:ea typeface="Red Hat Mono"/>
                        <a:cs typeface="Red Hat Mono"/>
                        <a:sym typeface="Red Hat Mono"/>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ARIMA produced index warnings and short-horizon forecasts that were too flat.</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Use a supported business-day frequency, constrain the short forecast horizon, and add a linear trend model for the longer view.</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extLst>
                  <a:ext uri="{0D108BD9-81ED-4DB2-BD59-A6C34878D82A}">
                    <a16:rowId xmlns:a16="http://schemas.microsoft.com/office/drawing/2014/main" val="10001"/>
                  </a:ext>
                </a:extLst>
              </a:tr>
              <a:tr h="1093250">
                <a:tc>
                  <a:txBody>
                    <a:bodyPr/>
                    <a:lstStyle/>
                    <a:p>
                      <a:pPr marL="0" marR="0" lvl="0" indent="0" algn="l" rtl="0">
                        <a:spcBef>
                          <a:spcPts val="0"/>
                        </a:spcBef>
                        <a:spcAft>
                          <a:spcPts val="0"/>
                        </a:spcAft>
                        <a:buClr>
                          <a:srgbClr val="16171D"/>
                        </a:buClr>
                        <a:buSzPts val="1000"/>
                        <a:buFont typeface="Red Hat Mono"/>
                        <a:buNone/>
                      </a:pPr>
                      <a:r>
                        <a:rPr lang="en-US" sz="1000" u="none" strike="noStrike" cap="none">
                          <a:solidFill>
                            <a:srgbClr val="16171D"/>
                          </a:solidFill>
                          <a:latin typeface="Red Hat Mono"/>
                          <a:ea typeface="Red Hat Mono"/>
                          <a:cs typeface="Red Hat Mono"/>
                          <a:sym typeface="Red Hat Mono"/>
                        </a:rPr>
                        <a:t>DELIVERY</a:t>
                      </a:r>
                      <a:endParaRPr sz="1000" u="none" strike="noStrike" cap="none">
                        <a:latin typeface="Red Hat Mono"/>
                        <a:ea typeface="Red Hat Mono"/>
                        <a:cs typeface="Red Hat Mono"/>
                        <a:sym typeface="Red Hat Mono"/>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Connecting trained models to a usable Streamlit + Plotly dashboard risked making metrics and recommendations hard to read.</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tcPr>
                </a:tc>
                <a:tc>
                  <a:txBody>
                    <a:bodyPr/>
                    <a:lstStyle/>
                    <a:p>
                      <a:pPr marL="0" marR="0" lvl="0" indent="0" algn="l" rtl="0">
                        <a:spcBef>
                          <a:spcPts val="0"/>
                        </a:spcBef>
                        <a:spcAft>
                          <a:spcPts val="0"/>
                        </a:spcAft>
                        <a:buClr>
                          <a:srgbClr val="16171D"/>
                        </a:buClr>
                        <a:buSzPts val="1400"/>
                        <a:buFont typeface="Hanken Grotesk"/>
                        <a:buNone/>
                      </a:pPr>
                      <a:r>
                        <a:rPr lang="en-US" sz="1400" u="none" strike="noStrike" cap="none">
                          <a:solidFill>
                            <a:srgbClr val="16171D"/>
                          </a:solidFill>
                          <a:latin typeface="Hanken Grotesk"/>
                          <a:ea typeface="Hanken Grotesk"/>
                          <a:cs typeface="Hanken Grotesk"/>
                          <a:sym typeface="Hanken Grotesk"/>
                        </a:rPr>
                        <a:t>Keep the dashboard layers explicit: model output, evaluation metrics and recommendations remain visible and understandable.</a:t>
                      </a:r>
                      <a:endParaRPr sz="1400" u="none" strike="noStrike" cap="none">
                        <a:latin typeface="Hanken Grotesk"/>
                        <a:ea typeface="Hanken Grotesk"/>
                        <a:cs typeface="Hanken Grotesk"/>
                        <a:sym typeface="Hanken Grotesk"/>
                      </a:endParaRPr>
                    </a:p>
                  </a:txBody>
                  <a:tcPr marL="95250" marR="95250" marT="66675" marB="66675" anchor="ctr">
                    <a:lnL w="12700" cap="flat" cmpd="sng">
                      <a:solidFill>
                        <a:srgbClr val="16171D"/>
                      </a:solidFill>
                      <a:prstDash val="solid"/>
                      <a:round/>
                      <a:headEnd type="none" w="sm" len="sm"/>
                      <a:tailEnd type="none" w="sm" len="sm"/>
                    </a:lnL>
                    <a:lnR w="12700" cap="flat" cmpd="sng">
                      <a:solidFill>
                        <a:srgbClr val="16171D"/>
                      </a:solidFill>
                      <a:prstDash val="solid"/>
                      <a:round/>
                      <a:headEnd type="none" w="sm" len="sm"/>
                      <a:tailEnd type="none" w="sm" len="sm"/>
                    </a:lnR>
                    <a:lnT w="12700" cap="flat" cmpd="sng">
                      <a:solidFill>
                        <a:srgbClr val="16171D"/>
                      </a:solidFill>
                      <a:prstDash val="solid"/>
                      <a:round/>
                      <a:headEnd type="none" w="sm" len="sm"/>
                      <a:tailEnd type="none" w="sm" len="sm"/>
                    </a:lnT>
                    <a:lnB w="12700" cap="flat" cmpd="sng">
                      <a:solidFill>
                        <a:srgbClr val="16171D"/>
                      </a:solidFill>
                      <a:prstDash val="solid"/>
                      <a:round/>
                      <a:headEnd type="none" w="sm" len="sm"/>
                      <a:tailEnd type="none" w="sm" len="sm"/>
                    </a:lnB>
                    <a:solidFill>
                      <a:srgbClr val="EFEDE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37"/>
          <p:cNvSpPr/>
          <p:nvPr/>
        </p:nvSpPr>
        <p:spPr>
          <a:xfrm>
            <a:off x="457201" y="387157"/>
            <a:ext cx="3200405" cy="14674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6171D"/>
              </a:buClr>
              <a:buSzPts val="900"/>
              <a:buFont typeface="Red Hat Mono Medium"/>
              <a:buNone/>
            </a:pPr>
            <a:r>
              <a:rPr lang="en-US" sz="900" b="0" i="0" u="none" strike="noStrike" cap="none">
                <a:solidFill>
                  <a:srgbClr val="16171D"/>
                </a:solidFill>
                <a:latin typeface="Red Hat Mono Medium"/>
                <a:ea typeface="Red Hat Mono Medium"/>
                <a:cs typeface="Red Hat Mono Medium"/>
                <a:sym typeface="Red Hat Mono Medium"/>
              </a:rPr>
              <a:t>TECHNICAL APPENDIX · NEXT STEPS</a:t>
            </a:r>
            <a:endParaRPr sz="900" b="0" i="0" u="none" strike="noStrike" cap="none">
              <a:solidFill>
                <a:schemeClr val="dk1"/>
              </a:solidFill>
              <a:latin typeface="Calibri"/>
              <a:ea typeface="Calibri"/>
              <a:cs typeface="Calibri"/>
              <a:sym typeface="Calibri"/>
            </a:endParaRPr>
          </a:p>
        </p:txBody>
      </p:sp>
      <p:sp>
        <p:nvSpPr>
          <p:cNvPr id="609" name="Google Shape;609;p37"/>
          <p:cNvSpPr/>
          <p:nvPr/>
        </p:nvSpPr>
        <p:spPr>
          <a:xfrm>
            <a:off x="457201" y="644434"/>
            <a:ext cx="2857505" cy="411956"/>
          </a:xfrm>
          <a:prstGeom prst="rect">
            <a:avLst/>
          </a:prstGeom>
          <a:noFill/>
          <a:ln>
            <a:noFill/>
          </a:ln>
        </p:spPr>
        <p:txBody>
          <a:bodyPr spcFirstLastPara="1" wrap="square" lIns="0" tIns="0" rIns="0" bIns="0" anchor="t" anchorCtr="0">
            <a:noAutofit/>
          </a:bodyPr>
          <a:lstStyle/>
          <a:p>
            <a:pPr marL="0" marR="0" lvl="0" indent="0" algn="l" rtl="0">
              <a:lnSpc>
                <a:spcPct val="79000"/>
              </a:lnSpc>
              <a:spcBef>
                <a:spcPts val="0"/>
              </a:spcBef>
              <a:spcAft>
                <a:spcPts val="0"/>
              </a:spcAft>
              <a:buClr>
                <a:srgbClr val="16171D"/>
              </a:buClr>
              <a:buSzPts val="3400"/>
              <a:buFont typeface="Big Shoulders ExtraBold"/>
              <a:buNone/>
            </a:pPr>
            <a:r>
              <a:rPr lang="en-US" sz="3400" b="0" i="0" u="none" strike="noStrike" cap="none">
                <a:solidFill>
                  <a:srgbClr val="16171D"/>
                </a:solidFill>
                <a:latin typeface="Big Shoulders ExtraBold"/>
                <a:ea typeface="Big Shoulders ExtraBold"/>
                <a:cs typeface="Big Shoulders ExtraBold"/>
                <a:sym typeface="Big Shoulders ExtraBold"/>
              </a:rPr>
              <a:t>FUTURE OUTLOOK</a:t>
            </a:r>
            <a:endParaRPr sz="3400" b="0" i="0" u="none" strike="noStrike" cap="none">
              <a:solidFill>
                <a:schemeClr val="dk1"/>
              </a:solidFill>
              <a:latin typeface="Calibri"/>
              <a:ea typeface="Calibri"/>
              <a:cs typeface="Calibri"/>
              <a:sym typeface="Calibri"/>
            </a:endParaRPr>
          </a:p>
        </p:txBody>
      </p:sp>
      <p:sp>
        <p:nvSpPr>
          <p:cNvPr id="610" name="Google Shape;610;p37"/>
          <p:cNvSpPr/>
          <p:nvPr/>
        </p:nvSpPr>
        <p:spPr>
          <a:xfrm>
            <a:off x="457201" y="1157789"/>
            <a:ext cx="2857505" cy="665485"/>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Turning the analysis prototype into a dependable research tool for stock analysis.</a:t>
            </a:r>
            <a:endParaRPr sz="1300" b="0" i="0" u="none" strike="noStrike" cap="none">
              <a:solidFill>
                <a:schemeClr val="dk1"/>
              </a:solidFill>
              <a:latin typeface="Calibri"/>
              <a:ea typeface="Calibri"/>
              <a:cs typeface="Calibri"/>
              <a:sym typeface="Calibri"/>
            </a:endParaRPr>
          </a:p>
        </p:txBody>
      </p:sp>
      <p:sp>
        <p:nvSpPr>
          <p:cNvPr id="611" name="Google Shape;611;p37"/>
          <p:cNvSpPr/>
          <p:nvPr/>
        </p:nvSpPr>
        <p:spPr>
          <a:xfrm>
            <a:off x="4343407" y="514350"/>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12" name="Google Shape;612;p37"/>
          <p:cNvSpPr/>
          <p:nvPr/>
        </p:nvSpPr>
        <p:spPr>
          <a:xfrm>
            <a:off x="4446248" y="585788"/>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1</a:t>
            </a:r>
            <a:endParaRPr sz="1100" b="0" i="0" u="none" strike="noStrike" cap="none">
              <a:solidFill>
                <a:schemeClr val="dk1"/>
              </a:solidFill>
              <a:latin typeface="Calibri"/>
              <a:ea typeface="Calibri"/>
              <a:cs typeface="Calibri"/>
              <a:sym typeface="Calibri"/>
            </a:endParaRPr>
          </a:p>
        </p:txBody>
      </p:sp>
      <p:sp>
        <p:nvSpPr>
          <p:cNvPr id="613" name="Google Shape;613;p37"/>
          <p:cNvSpPr/>
          <p:nvPr/>
        </p:nvSpPr>
        <p:spPr>
          <a:xfrm>
            <a:off x="4762508" y="524498"/>
            <a:ext cx="3467105" cy="22852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600"/>
              <a:buFont typeface="Hanken Grotesk"/>
              <a:buNone/>
            </a:pPr>
            <a:r>
              <a:rPr lang="en-US" sz="1600" b="1" i="0" u="none" strike="noStrike" cap="none">
                <a:solidFill>
                  <a:srgbClr val="16171D"/>
                </a:solidFill>
                <a:latin typeface="Hanken Grotesk"/>
                <a:ea typeface="Hanken Grotesk"/>
                <a:cs typeface="Hanken Grotesk"/>
                <a:sym typeface="Hanken Grotesk"/>
              </a:rPr>
              <a:t>Stronger models</a:t>
            </a:r>
            <a:endParaRPr sz="1600" b="0" i="0" u="none" strike="noStrike" cap="none">
              <a:solidFill>
                <a:schemeClr val="dk1"/>
              </a:solidFill>
              <a:latin typeface="Calibri"/>
              <a:ea typeface="Calibri"/>
              <a:cs typeface="Calibri"/>
              <a:sym typeface="Calibri"/>
            </a:endParaRPr>
          </a:p>
        </p:txBody>
      </p:sp>
      <p:sp>
        <p:nvSpPr>
          <p:cNvPr id="614" name="Google Shape;614;p37"/>
          <p:cNvSpPr/>
          <p:nvPr/>
        </p:nvSpPr>
        <p:spPr>
          <a:xfrm>
            <a:off x="4762508" y="855965"/>
            <a:ext cx="3467105" cy="665485"/>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Benchmark ensemble and deep-learning forecasts against the current ARIMA and linear baselines.</a:t>
            </a:r>
            <a:endParaRPr sz="1300" b="0" i="0" u="none" strike="noStrike" cap="none">
              <a:solidFill>
                <a:schemeClr val="dk1"/>
              </a:solidFill>
              <a:latin typeface="Calibri"/>
              <a:ea typeface="Calibri"/>
              <a:cs typeface="Calibri"/>
              <a:sym typeface="Calibri"/>
            </a:endParaRPr>
          </a:p>
        </p:txBody>
      </p:sp>
      <p:sp>
        <p:nvSpPr>
          <p:cNvPr id="615" name="Google Shape;615;p37"/>
          <p:cNvSpPr/>
          <p:nvPr/>
        </p:nvSpPr>
        <p:spPr>
          <a:xfrm>
            <a:off x="4343407" y="1654820"/>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16" name="Google Shape;616;p37"/>
          <p:cNvSpPr/>
          <p:nvPr/>
        </p:nvSpPr>
        <p:spPr>
          <a:xfrm>
            <a:off x="4446248" y="1726258"/>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2</a:t>
            </a:r>
            <a:endParaRPr sz="1100" b="0" i="0" u="none" strike="noStrike" cap="none">
              <a:solidFill>
                <a:schemeClr val="dk1"/>
              </a:solidFill>
              <a:latin typeface="Calibri"/>
              <a:ea typeface="Calibri"/>
              <a:cs typeface="Calibri"/>
              <a:sym typeface="Calibri"/>
            </a:endParaRPr>
          </a:p>
        </p:txBody>
      </p:sp>
      <p:sp>
        <p:nvSpPr>
          <p:cNvPr id="617" name="Google Shape;617;p37"/>
          <p:cNvSpPr/>
          <p:nvPr/>
        </p:nvSpPr>
        <p:spPr>
          <a:xfrm>
            <a:off x="4762508" y="1664969"/>
            <a:ext cx="3467105" cy="22852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600"/>
              <a:buFont typeface="Hanken Grotesk"/>
              <a:buNone/>
            </a:pPr>
            <a:r>
              <a:rPr lang="en-US" sz="1600" b="1" i="0" u="none" strike="noStrike" cap="none">
                <a:solidFill>
                  <a:srgbClr val="16171D"/>
                </a:solidFill>
                <a:latin typeface="Hanken Grotesk"/>
                <a:ea typeface="Hanken Grotesk"/>
                <a:cs typeface="Hanken Grotesk"/>
                <a:sym typeface="Hanken Grotesk"/>
              </a:rPr>
              <a:t>Live data pipeline</a:t>
            </a:r>
            <a:endParaRPr sz="1600" b="0" i="0" u="none" strike="noStrike" cap="none">
              <a:solidFill>
                <a:schemeClr val="dk1"/>
              </a:solidFill>
              <a:latin typeface="Calibri"/>
              <a:ea typeface="Calibri"/>
              <a:cs typeface="Calibri"/>
              <a:sym typeface="Calibri"/>
            </a:endParaRPr>
          </a:p>
        </p:txBody>
      </p:sp>
      <p:sp>
        <p:nvSpPr>
          <p:cNvPr id="618" name="Google Shape;618;p37"/>
          <p:cNvSpPr/>
          <p:nvPr/>
        </p:nvSpPr>
        <p:spPr>
          <a:xfrm>
            <a:off x="4762508" y="1996435"/>
            <a:ext cx="3467105" cy="443656"/>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Automate daily market data ingestion, validation and retraining so signals stay current.</a:t>
            </a:r>
            <a:endParaRPr sz="1300" b="0" i="0" u="none" strike="noStrike" cap="none">
              <a:solidFill>
                <a:schemeClr val="dk1"/>
              </a:solidFill>
              <a:latin typeface="Calibri"/>
              <a:ea typeface="Calibri"/>
              <a:cs typeface="Calibri"/>
              <a:sym typeface="Calibri"/>
            </a:endParaRPr>
          </a:p>
        </p:txBody>
      </p:sp>
      <p:sp>
        <p:nvSpPr>
          <p:cNvPr id="619" name="Google Shape;619;p37"/>
          <p:cNvSpPr/>
          <p:nvPr/>
        </p:nvSpPr>
        <p:spPr>
          <a:xfrm>
            <a:off x="4343407" y="2705100"/>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0" name="Google Shape;620;p37"/>
          <p:cNvSpPr/>
          <p:nvPr/>
        </p:nvSpPr>
        <p:spPr>
          <a:xfrm>
            <a:off x="4446248" y="2776538"/>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3</a:t>
            </a:r>
            <a:endParaRPr sz="1100" b="0" i="0" u="none" strike="noStrike" cap="none">
              <a:solidFill>
                <a:schemeClr val="dk1"/>
              </a:solidFill>
              <a:latin typeface="Calibri"/>
              <a:ea typeface="Calibri"/>
              <a:cs typeface="Calibri"/>
              <a:sym typeface="Calibri"/>
            </a:endParaRPr>
          </a:p>
        </p:txBody>
      </p:sp>
      <p:sp>
        <p:nvSpPr>
          <p:cNvPr id="621" name="Google Shape;621;p37"/>
          <p:cNvSpPr/>
          <p:nvPr/>
        </p:nvSpPr>
        <p:spPr>
          <a:xfrm>
            <a:off x="4762508" y="2715248"/>
            <a:ext cx="3467105" cy="22852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600"/>
              <a:buFont typeface="Hanken Grotesk"/>
              <a:buNone/>
            </a:pPr>
            <a:r>
              <a:rPr lang="en-US" sz="1600" b="1" i="0" u="none" strike="noStrike" cap="none">
                <a:solidFill>
                  <a:srgbClr val="16171D"/>
                </a:solidFill>
                <a:latin typeface="Hanken Grotesk"/>
                <a:ea typeface="Hanken Grotesk"/>
                <a:cs typeface="Hanken Grotesk"/>
                <a:sym typeface="Hanken Grotesk"/>
              </a:rPr>
              <a:t>Evaluation and trust</a:t>
            </a:r>
            <a:endParaRPr sz="1600" b="0" i="0" u="none" strike="noStrike" cap="none">
              <a:solidFill>
                <a:schemeClr val="dk1"/>
              </a:solidFill>
              <a:latin typeface="Calibri"/>
              <a:ea typeface="Calibri"/>
              <a:cs typeface="Calibri"/>
              <a:sym typeface="Calibri"/>
            </a:endParaRPr>
          </a:p>
        </p:txBody>
      </p:sp>
      <p:sp>
        <p:nvSpPr>
          <p:cNvPr id="622" name="Google Shape;622;p37"/>
          <p:cNvSpPr/>
          <p:nvPr/>
        </p:nvSpPr>
        <p:spPr>
          <a:xfrm>
            <a:off x="4762508" y="3046715"/>
            <a:ext cx="3467105" cy="665485"/>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Add backtesting with transaction costs, drift monitoring and clear confidence ranges on every signal.</a:t>
            </a:r>
            <a:endParaRPr sz="1300" b="0" i="0" u="none" strike="noStrike" cap="none">
              <a:solidFill>
                <a:schemeClr val="dk1"/>
              </a:solidFill>
              <a:latin typeface="Calibri"/>
              <a:ea typeface="Calibri"/>
              <a:cs typeface="Calibri"/>
              <a:sym typeface="Calibri"/>
            </a:endParaRPr>
          </a:p>
        </p:txBody>
      </p:sp>
      <p:sp>
        <p:nvSpPr>
          <p:cNvPr id="623" name="Google Shape;623;p37"/>
          <p:cNvSpPr/>
          <p:nvPr/>
        </p:nvSpPr>
        <p:spPr>
          <a:xfrm>
            <a:off x="4343407" y="3845570"/>
            <a:ext cx="285750" cy="285750"/>
          </a:xfrm>
          <a:prstGeom prst="rect">
            <a:avLst/>
          </a:prstGeom>
          <a:solidFill>
            <a:srgbClr val="16171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4" name="Google Shape;624;p37"/>
          <p:cNvSpPr/>
          <p:nvPr/>
        </p:nvSpPr>
        <p:spPr>
          <a:xfrm>
            <a:off x="4446248" y="3917008"/>
            <a:ext cx="537270" cy="142875"/>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FFFFFF"/>
              </a:buClr>
              <a:buSzPts val="1100"/>
              <a:buFont typeface="Hanken Grotesk"/>
              <a:buNone/>
            </a:pPr>
            <a:r>
              <a:rPr lang="en-US" sz="1100" b="1" i="0" u="none" strike="noStrike" cap="none">
                <a:solidFill>
                  <a:srgbClr val="FFFFFF"/>
                </a:solidFill>
                <a:latin typeface="Hanken Grotesk"/>
                <a:ea typeface="Hanken Grotesk"/>
                <a:cs typeface="Hanken Grotesk"/>
                <a:sym typeface="Hanken Grotesk"/>
              </a:rPr>
              <a:t>4</a:t>
            </a:r>
            <a:endParaRPr sz="1100" b="0" i="0" u="none" strike="noStrike" cap="none">
              <a:solidFill>
                <a:schemeClr val="dk1"/>
              </a:solidFill>
              <a:latin typeface="Calibri"/>
              <a:ea typeface="Calibri"/>
              <a:cs typeface="Calibri"/>
              <a:sym typeface="Calibri"/>
            </a:endParaRPr>
          </a:p>
        </p:txBody>
      </p:sp>
      <p:sp>
        <p:nvSpPr>
          <p:cNvPr id="625" name="Google Shape;625;p37"/>
          <p:cNvSpPr/>
          <p:nvPr/>
        </p:nvSpPr>
        <p:spPr>
          <a:xfrm>
            <a:off x="4762508" y="3855719"/>
            <a:ext cx="3467105" cy="228526"/>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16171D"/>
              </a:buClr>
              <a:buSzPts val="1600"/>
              <a:buFont typeface="Hanken Grotesk"/>
              <a:buNone/>
            </a:pPr>
            <a:r>
              <a:rPr lang="en-US" sz="1600" b="1" i="0" u="none" strike="noStrike" cap="none">
                <a:solidFill>
                  <a:srgbClr val="16171D"/>
                </a:solidFill>
                <a:latin typeface="Hanken Grotesk"/>
                <a:ea typeface="Hanken Grotesk"/>
                <a:cs typeface="Hanken Grotesk"/>
                <a:sym typeface="Hanken Grotesk"/>
              </a:rPr>
              <a:t>User-ready dashboard</a:t>
            </a:r>
            <a:endParaRPr sz="1600" b="0" i="0" u="none" strike="noStrike" cap="none">
              <a:solidFill>
                <a:schemeClr val="dk1"/>
              </a:solidFill>
              <a:latin typeface="Calibri"/>
              <a:ea typeface="Calibri"/>
              <a:cs typeface="Calibri"/>
              <a:sym typeface="Calibri"/>
            </a:endParaRPr>
          </a:p>
        </p:txBody>
      </p:sp>
      <p:sp>
        <p:nvSpPr>
          <p:cNvPr id="626" name="Google Shape;626;p37"/>
          <p:cNvSpPr/>
          <p:nvPr/>
        </p:nvSpPr>
        <p:spPr>
          <a:xfrm>
            <a:off x="4762508" y="4187185"/>
            <a:ext cx="3467105" cy="443657"/>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6171D"/>
              </a:buClr>
              <a:buSzPts val="1300"/>
              <a:buFont typeface="Hanken Grotesk"/>
              <a:buNone/>
            </a:pPr>
            <a:r>
              <a:rPr lang="en-US" sz="1300" b="0" i="0" u="none" strike="noStrike" cap="none">
                <a:solidFill>
                  <a:srgbClr val="16171D"/>
                </a:solidFill>
                <a:latin typeface="Hanken Grotesk"/>
                <a:ea typeface="Hanken Grotesk"/>
                <a:cs typeface="Hanken Grotesk"/>
                <a:sym typeface="Hanken Grotesk"/>
              </a:rPr>
              <a:t>Extend the Streamlit + Plotly dashboard with alerts, portfolio views and exportable reports.</a:t>
            </a:r>
            <a:endParaRPr sz="1300" b="0" i="0" u="none" strike="noStrike" cap="none">
              <a:solidFill>
                <a:schemeClr val="dk1"/>
              </a:solidFill>
              <a:latin typeface="Calibri"/>
              <a:ea typeface="Calibri"/>
              <a:cs typeface="Calibri"/>
              <a:sym typeface="Calibri"/>
            </a:endParaRPr>
          </a:p>
        </p:txBody>
      </p:sp>
      <p:sp>
        <p:nvSpPr>
          <p:cNvPr id="627" name="Google Shape;627;p37"/>
          <p:cNvSpPr/>
          <p:nvPr/>
        </p:nvSpPr>
        <p:spPr>
          <a:xfrm>
            <a:off x="3886206" y="1516708"/>
            <a:ext cx="4800608" cy="9525"/>
          </a:xfrm>
          <a:prstGeom prst="rect">
            <a:avLst/>
          </a:prstGeom>
          <a:solidFill>
            <a:srgbClr val="FBFAF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8" name="Google Shape;628;p37"/>
          <p:cNvSpPr/>
          <p:nvPr/>
        </p:nvSpPr>
        <p:spPr>
          <a:xfrm>
            <a:off x="3886206" y="2566988"/>
            <a:ext cx="4800608" cy="9525"/>
          </a:xfrm>
          <a:prstGeom prst="rect">
            <a:avLst/>
          </a:prstGeom>
          <a:solidFill>
            <a:srgbClr val="FBFAF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9" name="Google Shape;629;p37"/>
          <p:cNvSpPr/>
          <p:nvPr/>
        </p:nvSpPr>
        <p:spPr>
          <a:xfrm>
            <a:off x="3886206" y="3707458"/>
            <a:ext cx="4800608" cy="9525"/>
          </a:xfrm>
          <a:prstGeom prst="rect">
            <a:avLst/>
          </a:prstGeom>
          <a:solidFill>
            <a:srgbClr val="FBFAF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38"/>
          <p:cNvSpPr/>
          <p:nvPr/>
        </p:nvSpPr>
        <p:spPr>
          <a:xfrm>
            <a:off x="457201" y="1884685"/>
            <a:ext cx="8686814" cy="15478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000"/>
              <a:buFont typeface="Red Hat Mono Medium"/>
              <a:buNone/>
            </a:pPr>
            <a:r>
              <a:rPr lang="en-US" sz="1000" b="0" i="0" u="none" strike="noStrike" cap="none">
                <a:solidFill>
                  <a:srgbClr val="000000"/>
                </a:solidFill>
                <a:latin typeface="Red Hat Mono Medium"/>
                <a:ea typeface="Red Hat Mono Medium"/>
                <a:cs typeface="Red Hat Mono Medium"/>
                <a:sym typeface="Red Hat Mono Medium"/>
              </a:rPr>
              <a:t>TECHNICAL APPENDIX · CLOSING</a:t>
            </a:r>
            <a:endParaRPr sz="1000" b="0" i="0" u="none" strike="noStrike" cap="none">
              <a:solidFill>
                <a:schemeClr val="dk1"/>
              </a:solidFill>
              <a:latin typeface="Calibri"/>
              <a:ea typeface="Calibri"/>
              <a:cs typeface="Calibri"/>
              <a:sym typeface="Calibri"/>
            </a:endParaRPr>
          </a:p>
        </p:txBody>
      </p:sp>
      <p:sp>
        <p:nvSpPr>
          <p:cNvPr id="636" name="Google Shape;636;p38"/>
          <p:cNvSpPr/>
          <p:nvPr/>
        </p:nvSpPr>
        <p:spPr>
          <a:xfrm>
            <a:off x="457201" y="2226974"/>
            <a:ext cx="8229614" cy="754335"/>
          </a:xfrm>
          <a:prstGeom prst="rect">
            <a:avLst/>
          </a:prstGeom>
          <a:noFill/>
          <a:ln>
            <a:noFill/>
          </a:ln>
        </p:spPr>
        <p:txBody>
          <a:bodyPr spcFirstLastPara="1" wrap="square" lIns="0" tIns="0" rIns="0" bIns="0" anchor="t" anchorCtr="0">
            <a:noAutofit/>
          </a:bodyPr>
          <a:lstStyle/>
          <a:p>
            <a:pPr marL="0" marR="0" lvl="0" indent="0" algn="l" rtl="0">
              <a:lnSpc>
                <a:spcPct val="75000"/>
              </a:lnSpc>
              <a:spcBef>
                <a:spcPts val="0"/>
              </a:spcBef>
              <a:spcAft>
                <a:spcPts val="0"/>
              </a:spcAft>
              <a:buClr>
                <a:srgbClr val="000000"/>
              </a:buClr>
              <a:buSzPts val="6600"/>
              <a:buFont typeface="Big Shoulders ExtraBold"/>
              <a:buNone/>
            </a:pPr>
            <a:r>
              <a:rPr lang="en-US" sz="6600" b="0" i="0" u="none" strike="noStrike" cap="none">
                <a:solidFill>
                  <a:srgbClr val="000000"/>
                </a:solidFill>
                <a:latin typeface="Big Shoulders ExtraBold"/>
                <a:ea typeface="Big Shoulders ExtraBold"/>
                <a:cs typeface="Big Shoulders ExtraBold"/>
                <a:sym typeface="Big Shoulders ExtraBold"/>
              </a:rPr>
              <a:t>THANK YOU</a:t>
            </a:r>
            <a:endParaRPr sz="6600" b="0" i="0" u="none" strike="noStrike" cap="none">
              <a:solidFill>
                <a:schemeClr val="dk1"/>
              </a:solidFill>
              <a:latin typeface="Calibri"/>
              <a:ea typeface="Calibri"/>
              <a:cs typeface="Calibri"/>
              <a:sym typeface="Calibri"/>
            </a:endParaRPr>
          </a:p>
        </p:txBody>
      </p:sp>
      <p:sp>
        <p:nvSpPr>
          <p:cNvPr id="637" name="Google Shape;637;p38"/>
          <p:cNvSpPr/>
          <p:nvPr/>
        </p:nvSpPr>
        <p:spPr>
          <a:xfrm>
            <a:off x="457201" y="3027284"/>
            <a:ext cx="8686814" cy="239985"/>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1400"/>
              <a:buFont typeface="Hanken Grotesk"/>
              <a:buNone/>
            </a:pPr>
            <a:r>
              <a:rPr lang="en-US" sz="1400" b="0" i="0" u="none" strike="noStrike" cap="none">
                <a:solidFill>
                  <a:srgbClr val="000000"/>
                </a:solidFill>
                <a:latin typeface="Hanken Grotesk"/>
                <a:ea typeface="Hanken Grotesk"/>
                <a:cs typeface="Hanken Grotesk"/>
                <a:sym typeface="Hanken Grotesk"/>
              </a:rPr>
              <a:t>Questions and discussion welcome.</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3938</Words>
  <Application>Microsoft Office PowerPoint</Application>
  <PresentationFormat>On-screen Show (16:9)</PresentationFormat>
  <Paragraphs>645</Paragraphs>
  <Slides>32</Slides>
  <Notes>32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Red Hat Mono Medium</vt:lpstr>
      <vt:lpstr>Big Shoulders ExtraBold</vt:lpstr>
      <vt:lpstr>Red Hat Mono</vt:lpstr>
      <vt:lpstr>Hanken Grotesk</vt:lpstr>
      <vt:lpstr>Arial</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Abhishek Malhotra</cp:lastModifiedBy>
  <cp:revision>1</cp:revision>
  <dcterms:modified xsi:type="dcterms:W3CDTF">2026-10-16T07:08:00Z</dcterms:modified>
</cp:coreProperties>
</file>